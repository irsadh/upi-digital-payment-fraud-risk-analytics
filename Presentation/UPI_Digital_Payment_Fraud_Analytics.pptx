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188d05c3154c3e" /><Relationship Type="http://schemas.openxmlformats.org/officeDocument/2006/relationships/extended-properties" Target="/docProps/app.xml" Id="Ra835bf31349845ec" /><Relationship Type="http://schemas.openxmlformats.org/officeDocument/2006/relationships/officeDocument" Target="/ppt/presentation.xml" Id="R6bb9e99e5f9d4362" /></Relationships>
</file>

<file path=ppt/presentation.xml><?xml version="1.0" encoding="utf-8"?>
<p:presentation xmlns:p="http://schemas.openxmlformats.org/presentationml/2006/main">
  <p:sldMasterIdLst>
    <p:sldMasterId xmlns:r="http://schemas.openxmlformats.org/officeDocument/2006/relationships" id="2147483648" r:id="R19030df13ce3485e"/>
  </p:sldMasterIdLst>
  <p:notesMasterIdLst>
    <p:notesMasterId xmlns:r="http://schemas.openxmlformats.org/officeDocument/2006/relationships" r:id="Rdba7d2dd37c441ba"/>
  </p:notesMasterIdLst>
  <p:sldIdLst>
    <p:sldId xmlns:r="http://schemas.openxmlformats.org/officeDocument/2006/relationships" id="256" r:id="Rca089e5e40334bc0"/>
    <p:sldId xmlns:r="http://schemas.openxmlformats.org/officeDocument/2006/relationships" id="257" r:id="R31d8f45321cc4148"/>
    <p:sldId xmlns:r="http://schemas.openxmlformats.org/officeDocument/2006/relationships" id="258" r:id="R0b2c662b8adc479c"/>
    <p:sldId xmlns:r="http://schemas.openxmlformats.org/officeDocument/2006/relationships" id="259" r:id="R9d18d34f2b4d4f5d"/>
    <p:sldId xmlns:r="http://schemas.openxmlformats.org/officeDocument/2006/relationships" id="260" r:id="R2c527581bb7e4464"/>
    <p:sldId xmlns:r="http://schemas.openxmlformats.org/officeDocument/2006/relationships" id="261" r:id="Rb5af01d7c3fe40b1"/>
    <p:sldId xmlns:r="http://schemas.openxmlformats.org/officeDocument/2006/relationships" id="262" r:id="R742ff93dd1924e13"/>
    <p:sldId xmlns:r="http://schemas.openxmlformats.org/officeDocument/2006/relationships" id="263" r:id="R16c4b1f24c9248c9"/>
    <p:sldId xmlns:r="http://schemas.openxmlformats.org/officeDocument/2006/relationships" id="264" r:id="R9d018982b47943c9"/>
    <p:sldId xmlns:r="http://schemas.openxmlformats.org/officeDocument/2006/relationships" id="265" r:id="R2fd71948b3c544bd"/>
    <p:sldId xmlns:r="http://schemas.openxmlformats.org/officeDocument/2006/relationships" id="266" r:id="R25713d3502d347eb"/>
    <p:sldId xmlns:r="http://schemas.openxmlformats.org/officeDocument/2006/relationships" id="267" r:id="R881d5464a9f34c68"/>
    <p:sldId xmlns:r="http://schemas.openxmlformats.org/officeDocument/2006/relationships" id="268" r:id="Rccf8f533426043bf"/>
    <p:sldId xmlns:r="http://schemas.openxmlformats.org/officeDocument/2006/relationships" id="269" r:id="Rb1b36f2f09f44e37"/>
    <p:sldId xmlns:r="http://schemas.openxmlformats.org/officeDocument/2006/relationships" id="270" r:id="Rbf106b7bd93d4095"/>
    <p:sldId xmlns:r="http://schemas.openxmlformats.org/officeDocument/2006/relationships" id="271" r:id="Rdeaa29e9912e453a"/>
    <p:sldId xmlns:r="http://schemas.openxmlformats.org/officeDocument/2006/relationships" id="272" r:id="R2b8583e5a7f04fa4"/>
    <p:sldId xmlns:r="http://schemas.openxmlformats.org/officeDocument/2006/relationships" id="273" r:id="Rf84293a3827a4f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4e7e5fa9cd4bb1" /><Relationship Type="http://schemas.openxmlformats.org/officeDocument/2006/relationships/slideMaster" Target="/ppt/slideMasters/slideMaster1.xml" Id="R19030df13ce3485e" /><Relationship Type="http://schemas.openxmlformats.org/officeDocument/2006/relationships/notesMaster" Target="/ppt/notesMasters/notesMaster1.xml" Id="Rdba7d2dd37c441ba" /><Relationship Type="http://schemas.openxmlformats.org/officeDocument/2006/relationships/presProps" Target="/ppt/presProps.xml" Id="Rbeb9b70d6dfe45b5" /><Relationship Type="http://schemas.openxmlformats.org/officeDocument/2006/relationships/tableStyles" Target="/ppt/tableStyles.xml" Id="R4a60e6efe1764354" /><Relationship Type="http://schemas.openxmlformats.org/officeDocument/2006/relationships/slide" Target="/ppt/slides/slide1.xml" Id="Rca089e5e40334bc0" /><Relationship Type="http://schemas.openxmlformats.org/officeDocument/2006/relationships/slide" Target="/ppt/slides/slide2.xml" Id="R31d8f45321cc4148" /><Relationship Type="http://schemas.openxmlformats.org/officeDocument/2006/relationships/slide" Target="/ppt/slides/slide3.xml" Id="R0b2c662b8adc479c" /><Relationship Type="http://schemas.openxmlformats.org/officeDocument/2006/relationships/slide" Target="/ppt/slides/slide4.xml" Id="R9d18d34f2b4d4f5d" /><Relationship Type="http://schemas.openxmlformats.org/officeDocument/2006/relationships/slide" Target="/ppt/slides/slide5.xml" Id="R2c527581bb7e4464" /><Relationship Type="http://schemas.openxmlformats.org/officeDocument/2006/relationships/slide" Target="/ppt/slides/slide6.xml" Id="Rb5af01d7c3fe40b1" /><Relationship Type="http://schemas.openxmlformats.org/officeDocument/2006/relationships/slide" Target="/ppt/slides/slide7.xml" Id="R742ff93dd1924e13" /><Relationship Type="http://schemas.openxmlformats.org/officeDocument/2006/relationships/slide" Target="/ppt/slides/slide8.xml" Id="R16c4b1f24c9248c9" /><Relationship Type="http://schemas.openxmlformats.org/officeDocument/2006/relationships/slide" Target="/ppt/slides/slide9.xml" Id="R9d018982b47943c9" /><Relationship Type="http://schemas.openxmlformats.org/officeDocument/2006/relationships/slide" Target="/ppt/slides/slide10.xml" Id="R2fd71948b3c544bd" /><Relationship Type="http://schemas.openxmlformats.org/officeDocument/2006/relationships/slide" Target="/ppt/slides/slide11.xml" Id="R25713d3502d347eb" /><Relationship Type="http://schemas.openxmlformats.org/officeDocument/2006/relationships/slide" Target="/ppt/slides/slide12.xml" Id="R881d5464a9f34c68" /><Relationship Type="http://schemas.openxmlformats.org/officeDocument/2006/relationships/slide" Target="/ppt/slides/slide13.xml" Id="Rccf8f533426043bf" /><Relationship Type="http://schemas.openxmlformats.org/officeDocument/2006/relationships/slide" Target="/ppt/slides/slide14.xml" Id="Rb1b36f2f09f44e37" /><Relationship Type="http://schemas.openxmlformats.org/officeDocument/2006/relationships/slide" Target="/ppt/slides/slide15.xml" Id="Rbf106b7bd93d4095" /><Relationship Type="http://schemas.openxmlformats.org/officeDocument/2006/relationships/slide" Target="/ppt/slides/slide16.xml" Id="Rdeaa29e9912e453a" /><Relationship Type="http://schemas.openxmlformats.org/officeDocument/2006/relationships/slide" Target="/ppt/slides/slide17.xml" Id="R2b8583e5a7f04fa4" /><Relationship Type="http://schemas.openxmlformats.org/officeDocument/2006/relationships/slide" Target="/ppt/slides/slide18.xml" Id="Rf84293a3827a4f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6dd84bb66a4a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846313ef61414b" /><Relationship Type="http://schemas.openxmlformats.org/officeDocument/2006/relationships/notesMaster" Target="/ppt/notesMasters/notesMaster1.xml" Id="Ra14750e6ddee48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927c7de9564652" /><Relationship Type="http://schemas.openxmlformats.org/officeDocument/2006/relationships/notesMaster" Target="/ppt/notesMasters/notesMaster1.xml" Id="R654a6111b38e43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8bfb5cf05e4f08" /><Relationship Type="http://schemas.openxmlformats.org/officeDocument/2006/relationships/notesMaster" Target="/ppt/notesMasters/notesMaster1.xml" Id="R4a83127c01a547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d8a531e0d84963" /><Relationship Type="http://schemas.openxmlformats.org/officeDocument/2006/relationships/notesMaster" Target="/ppt/notesMasters/notesMaster1.xml" Id="R41f69dacc4e649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9ff1f62e064725" /><Relationship Type="http://schemas.openxmlformats.org/officeDocument/2006/relationships/notesMaster" Target="/ppt/notesMasters/notesMaster1.xml" Id="Rb5a6e55b6d5f4c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e004176df741e0" /><Relationship Type="http://schemas.openxmlformats.org/officeDocument/2006/relationships/notesMaster" Target="/ppt/notesMasters/notesMaster1.xml" Id="R349e5f7ad9ed4d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26f63a48624ed1" /><Relationship Type="http://schemas.openxmlformats.org/officeDocument/2006/relationships/notesMaster" Target="/ppt/notesMasters/notesMaster1.xml" Id="R9cb0b1bf70af43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e327c579c141c3" /><Relationship Type="http://schemas.openxmlformats.org/officeDocument/2006/relationships/notesMaster" Target="/ppt/notesMasters/notesMaster1.xml" Id="R5ffb9d226b5347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fb632c9758467b" /><Relationship Type="http://schemas.openxmlformats.org/officeDocument/2006/relationships/notesMaster" Target="/ppt/notesMasters/notesMaster1.xml" Id="R130bd5a8f5a441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f06c0fc7df4422" /><Relationship Type="http://schemas.openxmlformats.org/officeDocument/2006/relationships/notesMaster" Target="/ppt/notesMasters/notesMaster1.xml" Id="R0a1e6854955f49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5387aa056014d83" /><Relationship Type="http://schemas.openxmlformats.org/officeDocument/2006/relationships/notesMaster" Target="/ppt/notesMasters/notesMaster1.xml" Id="R8eef9769195643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4a4e41d350d4e50" /><Relationship Type="http://schemas.openxmlformats.org/officeDocument/2006/relationships/notesMaster" Target="/ppt/notesMasters/notesMaster1.xml" Id="Ra8bf85e9e2a44a5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5afcd35f57d4316" /><Relationship Type="http://schemas.openxmlformats.org/officeDocument/2006/relationships/notesMaster" Target="/ppt/notesMasters/notesMaster1.xml" Id="R76d2685706e04bb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5106795830b4f36" /><Relationship Type="http://schemas.openxmlformats.org/officeDocument/2006/relationships/notesMaster" Target="/ppt/notesMasters/notesMaster1.xml" Id="R20f6925a00424c9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a9f88db72dd429e" /><Relationship Type="http://schemas.openxmlformats.org/officeDocument/2006/relationships/notesMaster" Target="/ppt/notesMasters/notesMaster1.xml" Id="Radd1a38d48104d6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eefc2bdaa524083" /><Relationship Type="http://schemas.openxmlformats.org/officeDocument/2006/relationships/notesMaster" Target="/ppt/notesMasters/notesMaster1.xml" Id="R405f5a62109e4c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cdbae07ab424f9a" /><Relationship Type="http://schemas.openxmlformats.org/officeDocument/2006/relationships/notesMaster" Target="/ppt/notesMasters/notesMaster1.xml" Id="Rd209a8e0bf8a431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650e8177b7d4a95" /><Relationship Type="http://schemas.openxmlformats.org/officeDocument/2006/relationships/notesMaster" Target="/ppt/notesMasters/notesMaster1.xml" Id="R19e4aea2f13e40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two-month Data Analytics course project at Anudip Foundation. Explain that it uses a transaction-level analytical dataset covering 2024 to explore transaction performance and flagged fraud patterns.</a:t>
            </a:r>
          </a:p>
          <a:p xmlns:a="http://schemas.openxmlformats.org/drawingml/2006/main">
            <a:r>
              <a:t/>
            </a:r>
          </a:p>
          <a:p xmlns:a="http://schemas.openxmlformats.org/drawingml/2006/main">
            <a:r>
              <a:t>Likely question: Is this official nationwide UPI data? Answer: No. It is an analytical dataset used to simulate a real-world digital payment analytics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project end to end: prepare the data, model it in Power BI, create measures, explore the overview and fraud pages, then translate patterns into recommendations. The 95.0% success rate and fraud counts are results from this dataset.</a:t>
            </a:r>
          </a:p>
          <a:p xmlns:a="http://schemas.openxmlformats.org/drawingml/2006/main">
            <a:r>
              <a:t/>
            </a:r>
          </a:p>
          <a:p xmlns:a="http://schemas.openxmlformats.org/drawingml/2006/main">
            <a:r>
              <a:t>Likely question: What is the deliverable? Answer: A two-page interactive Power BI dashboard supported by a documented analytics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challenge is to make transaction and risk patterns visible to a decision maker. The work analyzes historic records and supports discussion of monitoring priorities; it does not prevent fraud or operate in real time.</a:t>
            </a:r>
          </a:p>
          <a:p xmlns:a="http://schemas.openxmlformats.org/drawingml/2006/main">
            <a:r>
              <a:t/>
            </a:r>
          </a:p>
          <a:p xmlns:a="http://schemas.openxmlformats.org/drawingml/2006/main">
            <a:r>
              <a:t>Likely question: Does it predict or stop fraud? Answer: No. It summarizes existing fraud flags in the supplied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questions the project answers. The dashboard covers the full transaction landscape on one page and the flagged fraud breakdowns on another. The intent is descriptive analysis and business interpretation.</a:t>
            </a:r>
          </a:p>
          <a:p xmlns:a="http://schemas.openxmlformats.org/drawingml/2006/main">
            <a:r>
              <a:t/>
            </a:r>
          </a:p>
          <a:p xmlns:a="http://schemas.openxmlformats.org/drawingml/2006/main">
            <a:r>
              <a:t>Likely question: Why separate overview and risk? Answer: It keeps general transaction performance distinct from fraud-focused breakdowns.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context without quoting external market statistics. Explain that payment analytics is useful because transaction records contain dimensions such as amount, status, type, merchant category, state and device. Findings on these slides describe this dataset only.</a:t>
            </a:r>
          </a:p>
          <a:p xmlns:a="http://schemas.openxmlformats.org/drawingml/2006/main">
            <a:r>
              <a:t/>
            </a:r>
          </a:p>
          <a:p xmlns:a="http://schemas.openxmlformats.org/drawingml/2006/main">
            <a:r>
              <a:t>Likely question: Where did the market figures come from? Answer: No external market figures are used in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dataset contains 250,000 records covering dates from 1 January through 30 December 2024. It includes transaction status, amount, type, merchant category, sender state, device and network fields, along with a fraud flag. This is an analytical dataset used to simulate a real-world digital payment analytics environment.</a:t>
            </a:r>
          </a:p>
          <a:p xmlns:a="http://schemas.openxmlformats.org/drawingml/2006/main">
            <a:r>
              <a:t/>
            </a:r>
          </a:p>
          <a:p xmlns:a="http://schemas.openxmlformats.org/drawingml/2006/main">
            <a:r>
              <a:t>Likely question: Is it live? Answer: No, this is a transaction-level 2024 dataset for retrospective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Power Query checks: data types, missing or empty values, errors, unique transaction IDs, categories and numeric/date fields. The supplied validation result is 100% valid, with 0% errors and 0% empty values. The transaction ID has 250,000 distinct values. This supports reliable transaction-level analysis.</a:t>
            </a:r>
          </a:p>
          <a:p xmlns:a="http://schemas.openxmlformats.org/drawingml/2006/main">
            <a:r>
              <a:t/>
            </a:r>
          </a:p>
          <a:p xmlns:a="http://schemas.openxmlformats.org/drawingml/2006/main">
            <a:r>
              <a:t>Likely question: Why validate IDs? Answer: To confirm each row can be identified distinctly and to catch duplicate or malformed transaction 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ETL means Extract, Transform and Load. Extract is bringing the source into Power BI. Transform is cleaning and validating it in Power Query. Load is placing the prepared data in the model.</a:t>
            </a:r>
          </a:p>
          <a:p xmlns:a="http://schemas.openxmlformats.org/drawingml/2006/main">
            <a:r>
              <a:t/>
            </a:r>
          </a:p>
          <a:p xmlns:a="http://schemas.openxmlformats.org/drawingml/2006/main">
            <a:r>
              <a:t>Likely question: What did Power Query do? Answer: It handled data preparation and validation before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has a Fact_Transactions table and a dedicated Calendar table. Calendar dates run from the minimum to maximum transaction date. The active relationship is one-to-many, single direction, from Calendar[Date] to Fact_Transactions[transaction_date]. The Calendar table supports chronological month sorting, consistent date filtering and time intelligence.</a:t>
            </a:r>
          </a:p>
          <a:p xmlns:a="http://schemas.openxmlformats.org/drawingml/2006/main">
            <a:r>
              <a:t/>
            </a:r>
          </a:p>
          <a:p xmlns:a="http://schemas.openxmlformats.org/drawingml/2006/main">
            <a:r>
              <a:t>Likely question: Why use a separate Calendar table? Answer: It gives Power BI one reliable date dimension for sorting, filtering and time-based calculations.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DAX is Power BI’s formula language. A measure is a calculation evaluated in the current filter context, so selecting a month or state updates the displayed KPI. COUNTROWS counts records; DIVIDE safely calculates a rate. The project includes transaction, success and fraud measures.</a:t>
            </a:r>
          </a:p>
          <a:p xmlns:a="http://schemas.openxmlformats.org/drawingml/2006/main">
            <a:r>
              <a:t/>
            </a:r>
          </a:p>
          <a:p xmlns:a="http://schemas.openxmlformats.org/drawingml/2006/main">
            <a:r>
              <a:t>Likely question: Why use measures? Answer: Measures recalculate consistently when report filters or slicers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Page 1 as the transaction overview. It contains KPI cards for transaction count, value, average value and success rate. The visuals show monthly volume, transaction type and merchant category, with sender state, type and month slicers. The screenshot area is intentionally marked because no dashboard image was supplied.</a:t>
            </a:r>
          </a:p>
          <a:p xmlns:a="http://schemas.openxmlformats.org/drawingml/2006/main">
            <a:r>
              <a:t/>
            </a:r>
          </a:p>
          <a:p xmlns:a="http://schemas.openxmlformats.org/drawingml/2006/main">
            <a:r>
              <a:t>Likely question: Can you show the actual dashboard? Answer: Insert a screenshot from the completed Power BI report in the marked area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these as dataset-level results: 250,000 transactions, approximately INR 81.98 trillion total value, average amount of approximately INR 1,311.76 and 95.0% success rate. There are 237,624 successful and 12,376 failed transactions. The Power BI cards round counts to 238K and 12K.</a:t>
            </a:r>
          </a:p>
          <a:p xmlns:a="http://schemas.openxmlformats.org/drawingml/2006/main">
            <a:r>
              <a:t/>
            </a:r>
          </a:p>
          <a:p xmlns:a="http://schemas.openxmlformats.org/drawingml/2006/main">
            <a:r>
              <a:t>Likely question: What is the difference between total value and average value? Answer: Total value sums all transaction amounts; average value divides the total amount by transaction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Page 2 as the fraud and risk analysis page. It includes four fraud KPIs and visuals by transaction type, merchant category, sender state and device type. Slicers allow filtering by sender state, transaction type and device type. The placeholder must be replaced by an actual Power BI screenshot. Network type is intentionally not highlighted because the provided network chart contained only 35 of the 480 fraud records.</a:t>
            </a:r>
          </a:p>
          <a:p xmlns:a="http://schemas.openxmlformats.org/drawingml/2006/main">
            <a:r>
              <a:t/>
            </a:r>
          </a:p>
          <a:p xmlns:a="http://schemas.openxmlformats.org/drawingml/2006/main">
            <a:r>
              <a:t>Likely question: Why omit network type? Answer: The provided chart showed only 35 fraud records across network categories, so the brief says not to draw conclusions from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480 flagged fraud records, or 0.192% of all transactions. Their total value is approximately INR 720K, representing 0.219% of total transaction value. Average flagged transaction value is approximately INR 1.50K. P2P contributes 206 records (42.9%); P2P and P2M together contribute 373 records (about 77.7%). These are dataset results, not official UPI statistics.</a:t>
            </a:r>
          </a:p>
          <a:p xmlns:a="http://schemas.openxmlformats.org/drawingml/2006/main">
            <a:r>
              <a:t/>
            </a:r>
          </a:p>
          <a:p xmlns:a="http://schemas.openxmlformats.org/drawingml/2006/main">
            <a:r>
              <a:t>Likely question: What does fraud amount rate mean? Answer: The share of total transaction value represented by flagged fraud transactions.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Summarize patterns carefully. P2P is the largest flagged transaction type; P2P and P2M together are about 77.7%. Grocery has the largest merchant-category count. Maharashtra and Karnataka have the highest state counts. Android accounts for the largest device share. These counts show concentration, not causation or risk per transaction because segment volumes are not supplied here.</a:t>
            </a:r>
          </a:p>
          <a:p xmlns:a="http://schemas.openxmlformats.org/drawingml/2006/main">
            <a:r>
              <a:t/>
            </a:r>
          </a:p>
          <a:p xmlns:a="http://schemas.openxmlformats.org/drawingml/2006/main">
            <a:r>
              <a:t>Likely question: Does the Android result mean Android is unsafe? Answer: No. It is the largest share of flagged transactions in this dataset; no conclusion about device safety or per-transaction risk follows.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these as potential business recommendations, not implemented controls. Focus on P2P and P2M, monitor categories with high flagged counts, use device signals as one factor, and prefer risk-based review. Segment totals alone do not show per-transaction risk, so recommendations should be validated with more context.</a:t>
            </a:r>
          </a:p>
          <a:p xmlns:a="http://schemas.openxmlformats.org/drawingml/2006/main">
            <a:r>
              <a:t/>
            </a:r>
          </a:p>
          <a:p xmlns:a="http://schemas.openxmlformats.org/drawingml/2006/main">
            <a:r>
              <a:t>Likely question: Why not block Android? Answer: A high share of flagged records is not proof that Android transactions are riskier; additional signals and risk scoring are more appropriate.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Clearly separate future work from current implementation. This project is descriptive and uses the supplied fraud flags. Real-time monitoring, automated alerts, risk scoring, anomaly detection and machine learning would require additional engineering, validation and possibly more behavioral signals.</a:t>
            </a:r>
          </a:p>
          <a:p xmlns:a="http://schemas.openxmlformats.org/drawingml/2006/main">
            <a:r>
              <a:t/>
            </a:r>
          </a:p>
          <a:p xmlns:a="http://schemas.openxmlformats.org/drawingml/2006/main">
            <a:r>
              <a:t>Likely question: Did you build a predictive model? Answer: No. Machine learning fraud prediction is a proposed future enhancement.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summarizing the workflow: ETL and validation prepared the records; the Calendar table supported date analysis; DAX measures supplied the KPIs; and Power BI presented transaction and fraud patterns. Invite questions.</a:t>
            </a:r>
          </a:p>
          <a:p xmlns:a="http://schemas.openxmlformats.org/drawingml/2006/main">
            <a:r>
              <a:t/>
            </a:r>
          </a:p>
          <a:p xmlns:a="http://schemas.openxmlformats.org/drawingml/2006/main">
            <a:r>
              <a:t>Likely question: What is the main project takeaway? Answer: A clear data preparation and modeling workflow can turn transaction records into understandable performance and risk summaries.</a:t>
            </a:r>
          </a:p>
          <a:p xmlns:a="http://schemas.openxmlformats.org/drawingml/2006/main">
            <a:r>
              <a:t/>
            </a:r>
          </a:p>
          <a:p xmlns:a="http://schemas.openxmlformats.org/drawingml/2006/main">
            <a:r>
              <a:t>FINAL CHECKLIST</a:t>
            </a:r>
          </a:p>
          <a:p xmlns:a="http://schemas.openxmlformats.org/drawingml/2006/main">
            <a:r>
              <a:t>✓ All numbers match the supplied project information.</a:t>
            </a:r>
          </a:p>
          <a:p xmlns:a="http://schemas.openxmlformats.org/drawingml/2006/main">
            <a:r>
              <a:t>✓ No unsupported claims were added.</a:t>
            </a:r>
          </a:p>
          <a:p xmlns:a="http://schemas.openxmlformats.org/drawingml/2006/main">
            <a:r>
              <a:t>✓ No official UPI statistics were invented.</a:t>
            </a:r>
          </a:p>
          <a:p xmlns:a="http://schemas.openxmlformats.org/drawingml/2006/main">
            <a:r>
              <a:t>✓ Dataset findings are distinguished from real-world claims.</a:t>
            </a:r>
          </a:p>
          <a:p xmlns:a="http://schemas.openxmlformats.org/drawingml/2006/main">
            <a:r>
              <a:t>✓ Power BI, Power Query, DAX, ETL, data modeling and business analytics are demonstrated.</a:t>
            </a:r>
          </a:p>
          <a:p xmlns:a="http://schemas.openxmlformats.org/drawingml/2006/main">
            <a:r>
              <a:t>✓ The slide sequence follows a coherent project story.</a:t>
            </a:r>
          </a:p>
          <a:p xmlns:a="http://schemas.openxmlformats.org/drawingml/2006/main">
            <a:r>
              <a:t>✓ Speaker notes are included on every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402d5706b246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217f45510849fc" /><Relationship Type="http://schemas.openxmlformats.org/officeDocument/2006/relationships/slideLayout" Target="/ppt/slideLayouts/slideLayout1.xml" Id="R2cb99e4fa99c46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b99e4fa99c46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d5e9ebbbdf41e9" /><Relationship Type="http://schemas.openxmlformats.org/officeDocument/2006/relationships/notesSlide" Target="/ppt/notesSlides/notesSlide1.xml" Id="Re87b6bba31b645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ec02f780984a33" /><Relationship Type="http://schemas.openxmlformats.org/officeDocument/2006/relationships/notesSlide" Target="/ppt/notesSlides/notesSlide2.xml" Id="R47bd1e3bc2a845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bee294ea9904af5" /><Relationship Type="http://schemas.openxmlformats.org/officeDocument/2006/relationships/notesSlide" Target="/ppt/notesSlides/notesSlide3.xml" Id="Rc7f4c310cdc84c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64076a885444479" /><Relationship Type="http://schemas.openxmlformats.org/officeDocument/2006/relationships/notesSlide" Target="/ppt/notesSlides/notesSlide4.xml" Id="R5b60711a0ff848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d52fbe4326d4521" /><Relationship Type="http://schemas.openxmlformats.org/officeDocument/2006/relationships/notesSlide" Target="/ppt/notesSlides/notesSlide5.xml" Id="Rcf60d437d13a45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b7e0ad803444ee4" /><Relationship Type="http://schemas.openxmlformats.org/officeDocument/2006/relationships/notesSlide" Target="/ppt/notesSlides/notesSlide6.xml" Id="R39d06ab432bf49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e022102629e4ed9" /><Relationship Type="http://schemas.openxmlformats.org/officeDocument/2006/relationships/notesSlide" Target="/ppt/notesSlides/notesSlide7.xml" Id="R4063c238db264d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a6150d56a5b4007" /><Relationship Type="http://schemas.openxmlformats.org/officeDocument/2006/relationships/notesSlide" Target="/ppt/notesSlides/notesSlide8.xml" Id="R3f6c15d9be2548f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96dacfa5d7148e8" /><Relationship Type="http://schemas.openxmlformats.org/officeDocument/2006/relationships/notesSlide" Target="/ppt/notesSlides/notesSlide9.xml" Id="Rf9f830e1da1a4c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47dd02bb24c4b53" /><Relationship Type="http://schemas.openxmlformats.org/officeDocument/2006/relationships/notesSlide" Target="/ppt/notesSlides/notesSlide10.xml" Id="Ra2a3f0606c8249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d30e684c7d64d91" /><Relationship Type="http://schemas.openxmlformats.org/officeDocument/2006/relationships/notesSlide" Target="/ppt/notesSlides/notesSlide11.xml" Id="Rc70e03f0aa8340c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bd051cfc85444f3" /><Relationship Type="http://schemas.openxmlformats.org/officeDocument/2006/relationships/notesSlide" Target="/ppt/notesSlides/notesSlide12.xml" Id="R3e4f1ea3e86b471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0cfc619cf734539" /><Relationship Type="http://schemas.openxmlformats.org/officeDocument/2006/relationships/notesSlide" Target="/ppt/notesSlides/notesSlide13.xml" Id="R7c7abfa1973c4f9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5d8d7a3e6534614" /><Relationship Type="http://schemas.openxmlformats.org/officeDocument/2006/relationships/notesSlide" Target="/ppt/notesSlides/notesSlide14.xml" Id="Rcb920d0f4cb043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8c6ed1a10a643c2" /><Relationship Type="http://schemas.openxmlformats.org/officeDocument/2006/relationships/notesSlide" Target="/ppt/notesSlides/notesSlide15.xml" Id="R8f5056e3407c4b0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60d72d16ef7483f" /><Relationship Type="http://schemas.openxmlformats.org/officeDocument/2006/relationships/notesSlide" Target="/ppt/notesSlides/notesSlide16.xml" Id="Rf7fc5a57d66a42e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b29da4d6f704229" /><Relationship Type="http://schemas.openxmlformats.org/officeDocument/2006/relationships/notesSlide" Target="/ppt/notesSlides/notesSlide17.xml" Id="R3ee7dada73ee48a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22e374b559045cf" /><Relationship Type="http://schemas.openxmlformats.org/officeDocument/2006/relationships/notesSlide" Target="/ppt/notesSlides/notesSlide18.xml" Id="Rc9e30926574d4cbf" /></Relationships>
</file>

<file path=ppt/slides/slide1.xml><?xml version="1.0" encoding="utf-8"?>
<p:sld xmlns:p="http://schemas.openxmlformats.org/presentationml/2006/main">
  <p:cSld>
    <p:bg>
      <p:bgPr>
        <a:solidFill xmlns:a="http://schemas.openxmlformats.org/drawingml/2006/main">
          <a:srgbClr val="123B5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C8BC24-8E60-48E2-B1D2-1417AACC474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F60ACA-D0F7-4E23-88E4-BF2DC79824F1}"/>
              </a:ext>
            </a:extLst>
          </p:cNvPr>
          <p:cNvSpPr>
            <a:spLocks xmlns:a="http://schemas.openxmlformats.org/drawingml/2006/main" noGrp="1"/>
          </p:cNvSpPr>
          <p:nvPr/>
        </p:nvSpPr>
        <p:spPr>
          <a:xfrm xmlns:a="http://schemas.openxmlformats.org/drawingml/2006/main">
            <a:off x="685800" y="7620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A9DCE0"/>
                </a:solidFill>
                <a:latin typeface="Aptos"/>
                <a:ea typeface="Aptos"/>
                <a:cs typeface="Aptos"/>
              </a:defRPr>
            </a:pPr>
            <a:r>
              <a:rPr sz="1125" b="1">
                <a:solidFill>
                  <a:srgbClr val="A9DCE0"/>
                </a:solidFill>
                <a:latin typeface="Aptos"/>
                <a:ea typeface="Aptos"/>
                <a:cs typeface="Aptos"/>
              </a:rPr>
              <a:t>ANUDIP FOUNDATION  |  DATA ANALYTICS PROJECT</a:t>
            </a:r>
          </a:p>
        </p:txBody>
      </p:sp>
      <p:sp>
        <p:nvSpPr>
          <p:cNvPr id="3" name="">
            <a:extLst xmlns:a="http://schemas.openxmlformats.org/drawingml/2006/main">
              <a:ext uri="{FF2B5EF4-FFF2-40B4-BE49-F238E27FC236}">
                <a16:creationId xmlns:a16="http://schemas.microsoft.com/office/drawing/2014/main" id="{ADF8FB9A-B175-447F-B0C0-AA9033E84348}"/>
              </a:ext>
            </a:extLst>
          </p:cNvPr>
          <p:cNvSpPr>
            <a:spLocks xmlns:a="http://schemas.openxmlformats.org/drawingml/2006/main" noGrp="1"/>
          </p:cNvSpPr>
          <p:nvPr/>
        </p:nvSpPr>
        <p:spPr>
          <a:xfrm xmlns:a="http://schemas.openxmlformats.org/drawingml/2006/main">
            <a:off x="685800" y="1495425"/>
            <a:ext cx="9715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600" b="1">
                <a:solidFill>
                  <a:srgbClr val="FFFFFF"/>
                </a:solidFill>
                <a:latin typeface="Aptos"/>
                <a:ea typeface="Aptos"/>
                <a:cs typeface="Aptos"/>
              </a:defRPr>
            </a:pPr>
            <a:r>
              <a:rPr sz="3600" b="1">
                <a:solidFill>
                  <a:srgbClr val="FFFFFF"/>
                </a:solidFill>
                <a:latin typeface="Aptos"/>
                <a:ea typeface="Aptos"/>
                <a:cs typeface="Aptos"/>
              </a:rPr>
              <a:t>UPI Digital Payment</a:t>
            </a:r>
          </a:p>
          <a:p xmlns:a="http://schemas.openxmlformats.org/drawingml/2006/main">
            <a:pPr>
              <a:defRPr sz="3600" b="1">
                <a:solidFill>
                  <a:srgbClr val="FFFFFF"/>
                </a:solidFill>
                <a:latin typeface="Aptos"/>
                <a:ea typeface="Aptos"/>
                <a:cs typeface="Aptos"/>
              </a:defRPr>
            </a:pPr>
            <a:r>
              <a:rPr sz="3600" b="1">
                <a:solidFill>
                  <a:srgbClr val="FFFFFF"/>
                </a:solidFill>
                <a:latin typeface="Aptos"/>
                <a:ea typeface="Aptos"/>
                <a:cs typeface="Aptos"/>
              </a:rPr>
              <a:t>Fraud Detection &amp;</a:t>
            </a:r>
          </a:p>
          <a:p xmlns:a="http://schemas.openxmlformats.org/drawingml/2006/main">
            <a:pPr>
              <a:defRPr sz="3600" b="1">
                <a:solidFill>
                  <a:srgbClr val="FFFFFF"/>
                </a:solidFill>
                <a:latin typeface="Aptos"/>
                <a:ea typeface="Aptos"/>
                <a:cs typeface="Aptos"/>
              </a:defRPr>
            </a:pPr>
            <a:r>
              <a:rPr sz="3600" b="1">
                <a:solidFill>
                  <a:srgbClr val="FFFFFF"/>
                </a:solidFill>
                <a:latin typeface="Aptos"/>
                <a:ea typeface="Aptos"/>
                <a:cs typeface="Aptos"/>
              </a:rPr>
              <a:t>Transaction Risk Analytics</a:t>
            </a:r>
          </a:p>
        </p:txBody>
      </p:sp>
      <p:sp>
        <p:nvSpPr>
          <p:cNvPr id="4" name="">
            <a:extLst xmlns:a="http://schemas.openxmlformats.org/drawingml/2006/main">
              <a:ext uri="{FF2B5EF4-FFF2-40B4-BE49-F238E27FC236}">
                <a16:creationId xmlns:a16="http://schemas.microsoft.com/office/drawing/2014/main" id="{68A8908A-A19A-4D77-98FC-208B4CCFB2D3}"/>
              </a:ext>
            </a:extLst>
          </p:cNvPr>
          <p:cNvSpPr>
            <a:spLocks xmlns:a="http://schemas.openxmlformats.org/drawingml/2006/main" noGrp="1"/>
          </p:cNvSpPr>
          <p:nvPr/>
        </p:nvSpPr>
        <p:spPr>
          <a:xfrm xmlns:a="http://schemas.openxmlformats.org/drawingml/2006/main">
            <a:off x="704850" y="4143375"/>
            <a:ext cx="762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0">
                <a:solidFill>
                  <a:srgbClr val="D9E7ED"/>
                </a:solidFill>
                <a:latin typeface="Aptos"/>
                <a:ea typeface="Aptos"/>
                <a:cs typeface="Aptos"/>
              </a:defRPr>
            </a:pPr>
            <a:r>
              <a:rPr sz="1800" b="0">
                <a:solidFill>
                  <a:srgbClr val="D9E7ED"/>
                </a:solidFill>
                <a:latin typeface="Aptos"/>
                <a:ea typeface="Aptos"/>
                <a:cs typeface="Aptos"/>
              </a:rPr>
              <a:t>Power BI project presentation</a:t>
            </a:r>
          </a:p>
        </p:txBody>
      </p:sp>
      <p:sp>
        <p:nvSpPr>
          <p:cNvPr id="5" name="">
            <a:extLst xmlns:a="http://schemas.openxmlformats.org/drawingml/2006/main">
              <a:ext uri="{FF2B5EF4-FFF2-40B4-BE49-F238E27FC236}">
                <a16:creationId xmlns:a16="http://schemas.microsoft.com/office/drawing/2014/main" id="{828B4D95-9234-454B-BBF5-0D1F646F7612}"/>
              </a:ext>
            </a:extLst>
          </p:cNvPr>
          <p:cNvSpPr>
            <a:spLocks xmlns:a="http://schemas.openxmlformats.org/drawingml/2006/main" noGrp="1"/>
          </p:cNvSpPr>
          <p:nvPr/>
        </p:nvSpPr>
        <p:spPr>
          <a:xfrm xmlns:a="http://schemas.openxmlformats.org/drawingml/2006/main">
            <a:off x="704850" y="4886325"/>
            <a:ext cx="1047750" cy="47625"/>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1BCFD54-F8AB-4FFE-96F4-30D3ED813240}"/>
              </a:ext>
            </a:extLst>
          </p:cNvPr>
          <p:cNvSpPr>
            <a:spLocks xmlns:a="http://schemas.openxmlformats.org/drawingml/2006/main" noGrp="1"/>
          </p:cNvSpPr>
          <p:nvPr/>
        </p:nvSpPr>
        <p:spPr>
          <a:xfrm xmlns:a="http://schemas.openxmlformats.org/drawingml/2006/main">
            <a:off x="704850" y="51435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FFFFF"/>
                </a:solidFill>
                <a:latin typeface="Aptos"/>
                <a:ea typeface="Aptos"/>
                <a:cs typeface="Aptos"/>
              </a:defRPr>
            </a:pPr>
            <a:r>
              <a:rPr sz="1425" b="0">
                <a:solidFill>
                  <a:srgbClr val="FFFFFF"/>
                </a:solidFill>
                <a:latin typeface="Aptos"/>
                <a:ea typeface="Aptos"/>
                <a:cs typeface="Aptos"/>
              </a:rPr>
              <a:t>A transaction-level analytical study using 2024 data</a:t>
            </a:r>
          </a:p>
        </p:txBody>
      </p:sp>
      <p:sp>
        <p:nvSpPr>
          <p:cNvPr id="7" name="">
            <a:extLst xmlns:a="http://schemas.openxmlformats.org/drawingml/2006/main">
              <a:ext uri="{FF2B5EF4-FFF2-40B4-BE49-F238E27FC236}">
                <a16:creationId xmlns:a16="http://schemas.microsoft.com/office/drawing/2014/main" id="{51955401-B301-4406-AE0C-3F135B404755}"/>
              </a:ext>
            </a:extLst>
          </p:cNvPr>
          <p:cNvSpPr>
            <a:spLocks xmlns:a="http://schemas.openxmlformats.org/drawingml/2006/main" noGrp="1"/>
          </p:cNvSpPr>
          <p:nvPr/>
        </p:nvSpPr>
        <p:spPr>
          <a:xfrm xmlns:a="http://schemas.openxmlformats.org/drawingml/2006/main">
            <a:off x="704850" y="611505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0">
                <a:solidFill>
                  <a:srgbClr val="C7D7DF"/>
                </a:solidFill>
                <a:latin typeface="Aptos"/>
                <a:ea typeface="Aptos"/>
                <a:cs typeface="Aptos"/>
              </a:defRPr>
            </a:pPr>
            <a:r>
              <a:rPr sz="1050" b="0">
                <a:solidFill>
                  <a:srgbClr val="C7D7DF"/>
                </a:solidFill>
                <a:latin typeface="Aptos"/>
                <a:ea typeface="Aptos"/>
                <a:cs typeface="Aptos"/>
              </a:rPr>
              <a:t>Prepared for project review and portfolio discussion</a:t>
            </a:r>
          </a:p>
        </p:txBody>
      </p:sp>
    </p:spTree>
    <p:extLst>
      <p:ext uri="{BB962C8B-B14F-4D97-AF65-F5344CB8AC3E}">
        <p14:creationId xmlns:p14="http://schemas.microsoft.com/office/powerpoint/2010/main" val="1794869348"/>
      </p:ext>
    </p:extLst>
  </p:cSld>
</p:sld>
</file>

<file path=ppt/slides/slide2.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1E68CFB0-74B1-468E-BCD8-3058130B60A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1D14A8-8776-4081-B34B-D21D48961963}"/>
              </a:ext>
            </a:extLst>
          </p:cNvPr>
          <p:cNvSpPr>
            <a:spLocks xmlns:a="http://schemas.openxmlformats.org/drawingml/2006/main" noGrp="1"/>
          </p:cNvSpPr>
          <p:nvPr/>
        </p:nvSpPr>
        <p:spPr>
          <a:xfrm xmlns:a="http://schemas.openxmlformats.org/drawingml/2006/main">
            <a:off x="590550" y="266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01  |  CONTEXT</a:t>
            </a:r>
          </a:p>
        </p:txBody>
      </p:sp>
      <p:sp>
        <p:nvSpPr>
          <p:cNvPr id="3" name="">
            <a:extLst xmlns:a="http://schemas.openxmlformats.org/drawingml/2006/main">
              <a:ext uri="{FF2B5EF4-FFF2-40B4-BE49-F238E27FC236}">
                <a16:creationId xmlns:a16="http://schemas.microsoft.com/office/drawing/2014/main" id="{F38F670C-ADB9-45BB-8615-9A1E0F0D5169}"/>
              </a:ext>
            </a:extLst>
          </p:cNvPr>
          <p:cNvSpPr>
            <a:spLocks xmlns:a="http://schemas.openxmlformats.org/drawingml/2006/main" noGrp="1"/>
          </p:cNvSpPr>
          <p:nvPr/>
        </p:nvSpPr>
        <p:spPr>
          <a:xfrm xmlns:a="http://schemas.openxmlformats.org/drawingml/2006/main">
            <a:off x="590550" y="600075"/>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23B5D"/>
                </a:solidFill>
                <a:latin typeface="Aptos"/>
                <a:ea typeface="Aptos"/>
                <a:cs typeface="Aptos"/>
              </a:defRPr>
            </a:pPr>
            <a:r>
              <a:rPr sz="2550" b="1">
                <a:solidFill>
                  <a:srgbClr val="123B5D"/>
                </a:solidFill>
                <a:latin typeface="Aptos"/>
                <a:ea typeface="Aptos"/>
                <a:cs typeface="Aptos"/>
              </a:rPr>
              <a:t>Project overview</a:t>
            </a:r>
          </a:p>
        </p:txBody>
      </p:sp>
      <p:sp>
        <p:nvSpPr>
          <p:cNvPr id="4" name="">
            <a:extLst xmlns:a="http://schemas.openxmlformats.org/drawingml/2006/main">
              <a:ext uri="{FF2B5EF4-FFF2-40B4-BE49-F238E27FC236}">
                <a16:creationId xmlns:a16="http://schemas.microsoft.com/office/drawing/2014/main" id="{23947325-9E41-4FBE-A1EB-0B9315FB6806}"/>
              </a:ext>
            </a:extLst>
          </p:cNvPr>
          <p:cNvSpPr>
            <a:spLocks xmlns:a="http://schemas.openxmlformats.org/drawingml/2006/main" noGrp="1"/>
          </p:cNvSpPr>
          <p:nvPr/>
        </p:nvSpPr>
        <p:spPr>
          <a:xfrm xmlns:a="http://schemas.openxmlformats.org/drawingml/2006/main">
            <a:off x="609600" y="11334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1727E"/>
                </a:solidFill>
                <a:latin typeface="Aptos"/>
                <a:ea typeface="Aptos"/>
                <a:cs typeface="Aptos"/>
              </a:defRPr>
            </a:pPr>
            <a:r>
              <a:rPr sz="1275" b="0">
                <a:solidFill>
                  <a:srgbClr val="61727E"/>
                </a:solidFill>
                <a:latin typeface="Aptos"/>
                <a:ea typeface="Aptos"/>
                <a:cs typeface="Aptos"/>
              </a:rPr>
              <a:t>A practical analytics workflow focused on transactions, performance and risk patterns</a:t>
            </a:r>
          </a:p>
        </p:txBody>
      </p:sp>
      <p:sp>
        <p:nvSpPr>
          <p:cNvPr id="5" name="">
            <a:extLst xmlns:a="http://schemas.openxmlformats.org/drawingml/2006/main">
              <a:ext uri="{FF2B5EF4-FFF2-40B4-BE49-F238E27FC236}">
                <a16:creationId xmlns:a16="http://schemas.microsoft.com/office/drawing/2014/main" id="{52D5BEF8-84C1-4B84-A0E3-8842AB95C877}"/>
              </a:ext>
            </a:extLst>
          </p:cNvPr>
          <p:cNvSpPr>
            <a:spLocks xmlns:a="http://schemas.openxmlformats.org/drawingml/2006/main" noGrp="1"/>
          </p:cNvSpPr>
          <p:nvPr/>
        </p:nvSpPr>
        <p:spPr>
          <a:xfrm xmlns:a="http://schemas.openxmlformats.org/drawingml/2006/main">
            <a:off x="590550" y="6419850"/>
            <a:ext cx="10991850" cy="9525"/>
          </a:xfrm>
          <a:prstGeom xmlns:a="http://schemas.openxmlformats.org/drawingml/2006/main" prst="rect">
            <a:avLst/>
          </a:prstGeom>
          <a:solidFill xmlns:a="http://schemas.openxmlformats.org/drawingml/2006/main">
            <a:srgbClr val="DCE5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07F30CB-7344-498E-86A6-5F756E021F99}"/>
              </a:ext>
            </a:extLst>
          </p:cNvPr>
          <p:cNvSpPr>
            <a:spLocks xmlns:a="http://schemas.openxmlformats.org/drawingml/2006/main" noGrp="1"/>
          </p:cNvSpPr>
          <p:nvPr/>
        </p:nvSpPr>
        <p:spPr>
          <a:xfrm xmlns:a="http://schemas.openxmlformats.org/drawingml/2006/main">
            <a:off x="59055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ANUDIP FOUNDATION  •  DATA ANALYTICS PROJECT</a:t>
            </a:r>
          </a:p>
        </p:txBody>
      </p:sp>
      <p:sp>
        <p:nvSpPr>
          <p:cNvPr id="7" name="">
            <a:extLst xmlns:a="http://schemas.openxmlformats.org/drawingml/2006/main">
              <a:ext uri="{FF2B5EF4-FFF2-40B4-BE49-F238E27FC236}">
                <a16:creationId xmlns:a16="http://schemas.microsoft.com/office/drawing/2014/main" id="{957DD8D3-79E4-459D-ACB0-9B5EE73FEC60}"/>
              </a:ext>
            </a:extLst>
          </p:cNvPr>
          <p:cNvSpPr>
            <a:spLocks xmlns:a="http://schemas.openxmlformats.org/drawingml/2006/main" noGrp="1"/>
          </p:cNvSpPr>
          <p:nvPr/>
        </p:nvSpPr>
        <p:spPr>
          <a:xfrm xmlns:a="http://schemas.openxmlformats.org/drawingml/2006/main">
            <a:off x="112014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1">
                <a:solidFill>
                  <a:srgbClr val="61727E"/>
                </a:solidFill>
                <a:latin typeface="Aptos"/>
                <a:ea typeface="Aptos"/>
                <a:cs typeface="Aptos"/>
              </a:defRPr>
            </a:pPr>
            <a:r>
              <a:rPr sz="900" b="1">
                <a:solidFill>
                  <a:srgbClr val="61727E"/>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98D104EB-F10F-4F14-9610-8A88E1DE7254}"/>
              </a:ext>
            </a:extLst>
          </p:cNvPr>
          <p:cNvSpPr>
            <a:spLocks xmlns:a="http://schemas.openxmlformats.org/drawingml/2006/main" noGrp="1"/>
          </p:cNvSpPr>
          <p:nvPr/>
        </p:nvSpPr>
        <p:spPr>
          <a:xfrm xmlns:a="http://schemas.openxmlformats.org/drawingml/2006/main">
            <a:off x="609600" y="1714500"/>
            <a:ext cx="2381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9" name="">
            <a:extLst xmlns:a="http://schemas.openxmlformats.org/drawingml/2006/main">
              <a:ext uri="{FF2B5EF4-FFF2-40B4-BE49-F238E27FC236}">
                <a16:creationId xmlns:a16="http://schemas.microsoft.com/office/drawing/2014/main" id="{41F7C418-C289-4385-AF8B-C9CF0C37B0FB}"/>
              </a:ext>
            </a:extLst>
          </p:cNvPr>
          <p:cNvSpPr>
            <a:spLocks xmlns:a="http://schemas.openxmlformats.org/drawingml/2006/main" noGrp="1"/>
          </p:cNvSpPr>
          <p:nvPr/>
        </p:nvSpPr>
        <p:spPr>
          <a:xfrm xmlns:a="http://schemas.openxmlformats.org/drawingml/2006/main">
            <a:off x="609600" y="1714500"/>
            <a:ext cx="47625" cy="1028700"/>
          </a:xfrm>
          <a:prstGeom xmlns:a="http://schemas.openxmlformats.org/drawingml/2006/main" prst="rect">
            <a:avLst/>
          </a:prstGeom>
          <a:solidFill xmlns:a="http://schemas.openxmlformats.org/drawingml/2006/main">
            <a:srgbClr val="123B5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0208C4A-A562-432D-8A47-031FB1B5B909}"/>
              </a:ext>
            </a:extLst>
          </p:cNvPr>
          <p:cNvSpPr>
            <a:spLocks xmlns:a="http://schemas.openxmlformats.org/drawingml/2006/main" noGrp="1"/>
          </p:cNvSpPr>
          <p:nvPr/>
        </p:nvSpPr>
        <p:spPr>
          <a:xfrm xmlns:a="http://schemas.openxmlformats.org/drawingml/2006/main">
            <a:off x="800100" y="1847850"/>
            <a:ext cx="2019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123B5D"/>
                </a:solidFill>
                <a:latin typeface="Aptos"/>
                <a:ea typeface="Aptos"/>
                <a:cs typeface="Aptos"/>
              </a:defRPr>
            </a:pPr>
            <a:r>
              <a:rPr sz="2175" b="1">
                <a:solidFill>
                  <a:srgbClr val="123B5D"/>
                </a:solidFill>
                <a:latin typeface="Aptos"/>
                <a:ea typeface="Aptos"/>
                <a:cs typeface="Aptos"/>
              </a:rPr>
              <a:t>250,000</a:t>
            </a:r>
          </a:p>
        </p:txBody>
      </p:sp>
      <p:sp>
        <p:nvSpPr>
          <p:cNvPr id="11" name="">
            <a:extLst xmlns:a="http://schemas.openxmlformats.org/drawingml/2006/main">
              <a:ext uri="{FF2B5EF4-FFF2-40B4-BE49-F238E27FC236}">
                <a16:creationId xmlns:a16="http://schemas.microsoft.com/office/drawing/2014/main" id="{DA992D9B-2649-47F9-AE36-67F4D9B5A1DA}"/>
              </a:ext>
            </a:extLst>
          </p:cNvPr>
          <p:cNvSpPr>
            <a:spLocks xmlns:a="http://schemas.openxmlformats.org/drawingml/2006/main" noGrp="1"/>
          </p:cNvSpPr>
          <p:nvPr/>
        </p:nvSpPr>
        <p:spPr>
          <a:xfrm xmlns:a="http://schemas.openxmlformats.org/drawingml/2006/main">
            <a:off x="800100" y="2266950"/>
            <a:ext cx="2019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transaction records</a:t>
            </a:r>
          </a:p>
        </p:txBody>
      </p:sp>
      <p:sp>
        <p:nvSpPr>
          <p:cNvPr id="12" name="">
            <a:extLst xmlns:a="http://schemas.openxmlformats.org/drawingml/2006/main">
              <a:ext uri="{FF2B5EF4-FFF2-40B4-BE49-F238E27FC236}">
                <a16:creationId xmlns:a16="http://schemas.microsoft.com/office/drawing/2014/main" id="{E75C0244-754E-4BC1-AE0C-8E09DBA821DA}"/>
              </a:ext>
            </a:extLst>
          </p:cNvPr>
          <p:cNvSpPr>
            <a:spLocks xmlns:a="http://schemas.openxmlformats.org/drawingml/2006/main" noGrp="1"/>
          </p:cNvSpPr>
          <p:nvPr/>
        </p:nvSpPr>
        <p:spPr>
          <a:xfrm xmlns:a="http://schemas.openxmlformats.org/drawingml/2006/main">
            <a:off x="800100" y="2514600"/>
            <a:ext cx="2019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2024 dataset</a:t>
            </a:r>
          </a:p>
        </p:txBody>
      </p:sp>
      <p:sp>
        <p:nvSpPr>
          <p:cNvPr id="13" name="">
            <a:extLst xmlns:a="http://schemas.openxmlformats.org/drawingml/2006/main">
              <a:ext uri="{FF2B5EF4-FFF2-40B4-BE49-F238E27FC236}">
                <a16:creationId xmlns:a16="http://schemas.microsoft.com/office/drawing/2014/main" id="{A16B7825-DDFC-4790-B0E9-1253EDD09029}"/>
              </a:ext>
            </a:extLst>
          </p:cNvPr>
          <p:cNvSpPr>
            <a:spLocks xmlns:a="http://schemas.openxmlformats.org/drawingml/2006/main" noGrp="1"/>
          </p:cNvSpPr>
          <p:nvPr/>
        </p:nvSpPr>
        <p:spPr>
          <a:xfrm xmlns:a="http://schemas.openxmlformats.org/drawingml/2006/main">
            <a:off x="3162300" y="1714500"/>
            <a:ext cx="2381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14" name="">
            <a:extLst xmlns:a="http://schemas.openxmlformats.org/drawingml/2006/main">
              <a:ext uri="{FF2B5EF4-FFF2-40B4-BE49-F238E27FC236}">
                <a16:creationId xmlns:a16="http://schemas.microsoft.com/office/drawing/2014/main" id="{02D35892-0A50-4767-A221-42D504D4D9BB}"/>
              </a:ext>
            </a:extLst>
          </p:cNvPr>
          <p:cNvSpPr>
            <a:spLocks xmlns:a="http://schemas.openxmlformats.org/drawingml/2006/main" noGrp="1"/>
          </p:cNvSpPr>
          <p:nvPr/>
        </p:nvSpPr>
        <p:spPr>
          <a:xfrm xmlns:a="http://schemas.openxmlformats.org/drawingml/2006/main">
            <a:off x="3162300" y="1714500"/>
            <a:ext cx="47625" cy="1028700"/>
          </a:xfrm>
          <a:prstGeom xmlns:a="http://schemas.openxmlformats.org/drawingml/2006/main" prst="rect">
            <a:avLst/>
          </a:prstGeom>
          <a:solidFill xmlns:a="http://schemas.openxmlformats.org/drawingml/2006/main">
            <a:srgbClr val="2E8B5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BAD0735-0501-4527-A6CC-C16FC0C004B6}"/>
              </a:ext>
            </a:extLst>
          </p:cNvPr>
          <p:cNvSpPr>
            <a:spLocks xmlns:a="http://schemas.openxmlformats.org/drawingml/2006/main" noGrp="1"/>
          </p:cNvSpPr>
          <p:nvPr/>
        </p:nvSpPr>
        <p:spPr>
          <a:xfrm xmlns:a="http://schemas.openxmlformats.org/drawingml/2006/main">
            <a:off x="3352800" y="1847850"/>
            <a:ext cx="2019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2E8B57"/>
                </a:solidFill>
                <a:latin typeface="Aptos"/>
                <a:ea typeface="Aptos"/>
                <a:cs typeface="Aptos"/>
              </a:defRPr>
            </a:pPr>
            <a:r>
              <a:rPr sz="2175" b="1">
                <a:solidFill>
                  <a:srgbClr val="2E8B57"/>
                </a:solidFill>
                <a:latin typeface="Aptos"/>
                <a:ea typeface="Aptos"/>
                <a:cs typeface="Aptos"/>
              </a:rPr>
              <a:t>95.0%</a:t>
            </a:r>
          </a:p>
        </p:txBody>
      </p:sp>
      <p:sp>
        <p:nvSpPr>
          <p:cNvPr id="16" name="">
            <a:extLst xmlns:a="http://schemas.openxmlformats.org/drawingml/2006/main">
              <a:ext uri="{FF2B5EF4-FFF2-40B4-BE49-F238E27FC236}">
                <a16:creationId xmlns:a16="http://schemas.microsoft.com/office/drawing/2014/main" id="{D6336E29-25F8-4E10-B028-A2C80B47DF53}"/>
              </a:ext>
            </a:extLst>
          </p:cNvPr>
          <p:cNvSpPr>
            <a:spLocks xmlns:a="http://schemas.openxmlformats.org/drawingml/2006/main" noGrp="1"/>
          </p:cNvSpPr>
          <p:nvPr/>
        </p:nvSpPr>
        <p:spPr>
          <a:xfrm xmlns:a="http://schemas.openxmlformats.org/drawingml/2006/main">
            <a:off x="3352800" y="2266950"/>
            <a:ext cx="2019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success rate</a:t>
            </a:r>
          </a:p>
        </p:txBody>
      </p:sp>
      <p:sp>
        <p:nvSpPr>
          <p:cNvPr id="17" name="">
            <a:extLst xmlns:a="http://schemas.openxmlformats.org/drawingml/2006/main">
              <a:ext uri="{FF2B5EF4-FFF2-40B4-BE49-F238E27FC236}">
                <a16:creationId xmlns:a16="http://schemas.microsoft.com/office/drawing/2014/main" id="{99708D45-D3D5-4ED2-B180-79482766E2DA}"/>
              </a:ext>
            </a:extLst>
          </p:cNvPr>
          <p:cNvSpPr>
            <a:spLocks xmlns:a="http://schemas.openxmlformats.org/drawingml/2006/main" noGrp="1"/>
          </p:cNvSpPr>
          <p:nvPr/>
        </p:nvSpPr>
        <p:spPr>
          <a:xfrm xmlns:a="http://schemas.openxmlformats.org/drawingml/2006/main">
            <a:off x="3352800" y="2514600"/>
            <a:ext cx="2019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dataset result</a:t>
            </a:r>
          </a:p>
        </p:txBody>
      </p:sp>
      <p:sp>
        <p:nvSpPr>
          <p:cNvPr id="18" name="">
            <a:extLst xmlns:a="http://schemas.openxmlformats.org/drawingml/2006/main">
              <a:ext uri="{FF2B5EF4-FFF2-40B4-BE49-F238E27FC236}">
                <a16:creationId xmlns:a16="http://schemas.microsoft.com/office/drawing/2014/main" id="{3B59EE8D-CCD8-4583-9313-C4EC9F546D62}"/>
              </a:ext>
            </a:extLst>
          </p:cNvPr>
          <p:cNvSpPr>
            <a:spLocks xmlns:a="http://schemas.openxmlformats.org/drawingml/2006/main" noGrp="1"/>
          </p:cNvSpPr>
          <p:nvPr/>
        </p:nvSpPr>
        <p:spPr>
          <a:xfrm xmlns:a="http://schemas.openxmlformats.org/drawingml/2006/main">
            <a:off x="5715000" y="1714500"/>
            <a:ext cx="2381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19" name="">
            <a:extLst xmlns:a="http://schemas.openxmlformats.org/drawingml/2006/main">
              <a:ext uri="{FF2B5EF4-FFF2-40B4-BE49-F238E27FC236}">
                <a16:creationId xmlns:a16="http://schemas.microsoft.com/office/drawing/2014/main" id="{A8A614E3-67CE-40FC-9C35-496B2E46199C}"/>
              </a:ext>
            </a:extLst>
          </p:cNvPr>
          <p:cNvSpPr>
            <a:spLocks xmlns:a="http://schemas.openxmlformats.org/drawingml/2006/main" noGrp="1"/>
          </p:cNvSpPr>
          <p:nvPr/>
        </p:nvSpPr>
        <p:spPr>
          <a:xfrm xmlns:a="http://schemas.openxmlformats.org/drawingml/2006/main">
            <a:off x="5715000" y="1714500"/>
            <a:ext cx="47625" cy="1028700"/>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D99BD2F-B1F7-41C7-8CE1-CD69DE9A416E}"/>
              </a:ext>
            </a:extLst>
          </p:cNvPr>
          <p:cNvSpPr>
            <a:spLocks xmlns:a="http://schemas.openxmlformats.org/drawingml/2006/main" noGrp="1"/>
          </p:cNvSpPr>
          <p:nvPr/>
        </p:nvSpPr>
        <p:spPr>
          <a:xfrm xmlns:a="http://schemas.openxmlformats.org/drawingml/2006/main">
            <a:off x="5905500" y="1847850"/>
            <a:ext cx="2019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D64545"/>
                </a:solidFill>
                <a:latin typeface="Aptos"/>
                <a:ea typeface="Aptos"/>
                <a:cs typeface="Aptos"/>
              </a:defRPr>
            </a:pPr>
            <a:r>
              <a:rPr sz="2175" b="1">
                <a:solidFill>
                  <a:srgbClr val="D64545"/>
                </a:solidFill>
                <a:latin typeface="Aptos"/>
                <a:ea typeface="Aptos"/>
                <a:cs typeface="Aptos"/>
              </a:rPr>
              <a:t>480</a:t>
            </a:r>
          </a:p>
        </p:txBody>
      </p:sp>
      <p:sp>
        <p:nvSpPr>
          <p:cNvPr id="21" name="">
            <a:extLst xmlns:a="http://schemas.openxmlformats.org/drawingml/2006/main">
              <a:ext uri="{FF2B5EF4-FFF2-40B4-BE49-F238E27FC236}">
                <a16:creationId xmlns:a16="http://schemas.microsoft.com/office/drawing/2014/main" id="{2E52F896-A995-435F-8AAC-FBA10021C462}"/>
              </a:ext>
            </a:extLst>
          </p:cNvPr>
          <p:cNvSpPr>
            <a:spLocks xmlns:a="http://schemas.openxmlformats.org/drawingml/2006/main" noGrp="1"/>
          </p:cNvSpPr>
          <p:nvPr/>
        </p:nvSpPr>
        <p:spPr>
          <a:xfrm xmlns:a="http://schemas.openxmlformats.org/drawingml/2006/main">
            <a:off x="5905500" y="2266950"/>
            <a:ext cx="2019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flagged fraud records</a:t>
            </a:r>
          </a:p>
        </p:txBody>
      </p:sp>
      <p:sp>
        <p:nvSpPr>
          <p:cNvPr id="22" name="">
            <a:extLst xmlns:a="http://schemas.openxmlformats.org/drawingml/2006/main">
              <a:ext uri="{FF2B5EF4-FFF2-40B4-BE49-F238E27FC236}">
                <a16:creationId xmlns:a16="http://schemas.microsoft.com/office/drawing/2014/main" id="{90D50B85-4D3C-4490-ACD2-4BCE814A8A3C}"/>
              </a:ext>
            </a:extLst>
          </p:cNvPr>
          <p:cNvSpPr>
            <a:spLocks xmlns:a="http://schemas.openxmlformats.org/drawingml/2006/main" noGrp="1"/>
          </p:cNvSpPr>
          <p:nvPr/>
        </p:nvSpPr>
        <p:spPr>
          <a:xfrm xmlns:a="http://schemas.openxmlformats.org/drawingml/2006/main">
            <a:off x="5905500" y="2514600"/>
            <a:ext cx="2019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0.192% of transactions</a:t>
            </a:r>
          </a:p>
        </p:txBody>
      </p:sp>
      <p:sp>
        <p:nvSpPr>
          <p:cNvPr id="23" name="">
            <a:extLst xmlns:a="http://schemas.openxmlformats.org/drawingml/2006/main">
              <a:ext uri="{FF2B5EF4-FFF2-40B4-BE49-F238E27FC236}">
                <a16:creationId xmlns:a16="http://schemas.microsoft.com/office/drawing/2014/main" id="{9F005D29-C459-4C26-88D2-B88E2059646B}"/>
              </a:ext>
            </a:extLst>
          </p:cNvPr>
          <p:cNvSpPr>
            <a:spLocks xmlns:a="http://schemas.openxmlformats.org/drawingml/2006/main" noGrp="1"/>
          </p:cNvSpPr>
          <p:nvPr/>
        </p:nvSpPr>
        <p:spPr>
          <a:xfrm xmlns:a="http://schemas.openxmlformats.org/drawingml/2006/main">
            <a:off x="8267700" y="1714500"/>
            <a:ext cx="2381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24" name="">
            <a:extLst xmlns:a="http://schemas.openxmlformats.org/drawingml/2006/main">
              <a:ext uri="{FF2B5EF4-FFF2-40B4-BE49-F238E27FC236}">
                <a16:creationId xmlns:a16="http://schemas.microsoft.com/office/drawing/2014/main" id="{E671530E-F3F6-4237-B828-87A1ED8FE2C9}"/>
              </a:ext>
            </a:extLst>
          </p:cNvPr>
          <p:cNvSpPr>
            <a:spLocks xmlns:a="http://schemas.openxmlformats.org/drawingml/2006/main" noGrp="1"/>
          </p:cNvSpPr>
          <p:nvPr/>
        </p:nvSpPr>
        <p:spPr>
          <a:xfrm xmlns:a="http://schemas.openxmlformats.org/drawingml/2006/main">
            <a:off x="8267700" y="1714500"/>
            <a:ext cx="47625" cy="10287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81CCCBB-6F82-4DDF-BF4F-9C4017F1C8F2}"/>
              </a:ext>
            </a:extLst>
          </p:cNvPr>
          <p:cNvSpPr>
            <a:spLocks xmlns:a="http://schemas.openxmlformats.org/drawingml/2006/main" noGrp="1"/>
          </p:cNvSpPr>
          <p:nvPr/>
        </p:nvSpPr>
        <p:spPr>
          <a:xfrm xmlns:a="http://schemas.openxmlformats.org/drawingml/2006/main">
            <a:off x="8458200" y="1847850"/>
            <a:ext cx="2019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00A6A6"/>
                </a:solidFill>
                <a:latin typeface="Aptos"/>
                <a:ea typeface="Aptos"/>
                <a:cs typeface="Aptos"/>
              </a:defRPr>
            </a:pPr>
            <a:r>
              <a:rPr sz="2175" b="1">
                <a:solidFill>
                  <a:srgbClr val="00A6A6"/>
                </a:solidFill>
                <a:latin typeface="Aptos"/>
                <a:ea typeface="Aptos"/>
                <a:cs typeface="Aptos"/>
              </a:rPr>
              <a:t>Power BI</a:t>
            </a:r>
          </a:p>
        </p:txBody>
      </p:sp>
      <p:sp>
        <p:nvSpPr>
          <p:cNvPr id="26" name="">
            <a:extLst xmlns:a="http://schemas.openxmlformats.org/drawingml/2006/main">
              <a:ext uri="{FF2B5EF4-FFF2-40B4-BE49-F238E27FC236}">
                <a16:creationId xmlns:a16="http://schemas.microsoft.com/office/drawing/2014/main" id="{F190C1FB-4E40-40F9-9DA5-2BFBBBDC63B0}"/>
              </a:ext>
            </a:extLst>
          </p:cNvPr>
          <p:cNvSpPr>
            <a:spLocks xmlns:a="http://schemas.openxmlformats.org/drawingml/2006/main" noGrp="1"/>
          </p:cNvSpPr>
          <p:nvPr/>
        </p:nvSpPr>
        <p:spPr>
          <a:xfrm xmlns:a="http://schemas.openxmlformats.org/drawingml/2006/main">
            <a:off x="8458200" y="2266950"/>
            <a:ext cx="2019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analysis platform</a:t>
            </a:r>
          </a:p>
        </p:txBody>
      </p:sp>
      <p:sp>
        <p:nvSpPr>
          <p:cNvPr id="27" name="">
            <a:extLst xmlns:a="http://schemas.openxmlformats.org/drawingml/2006/main">
              <a:ext uri="{FF2B5EF4-FFF2-40B4-BE49-F238E27FC236}">
                <a16:creationId xmlns:a16="http://schemas.microsoft.com/office/drawing/2014/main" id="{0E03C256-3FDA-486E-A871-BBA276690597}"/>
              </a:ext>
            </a:extLst>
          </p:cNvPr>
          <p:cNvSpPr>
            <a:spLocks xmlns:a="http://schemas.openxmlformats.org/drawingml/2006/main" noGrp="1"/>
          </p:cNvSpPr>
          <p:nvPr/>
        </p:nvSpPr>
        <p:spPr>
          <a:xfrm xmlns:a="http://schemas.openxmlformats.org/drawingml/2006/main">
            <a:off x="8458200" y="2514600"/>
            <a:ext cx="2019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Power Query + DAX</a:t>
            </a:r>
          </a:p>
        </p:txBody>
      </p:sp>
      <p:sp>
        <p:nvSpPr>
          <p:cNvPr id="28" name="">
            <a:extLst xmlns:a="http://schemas.openxmlformats.org/drawingml/2006/main">
              <a:ext uri="{FF2B5EF4-FFF2-40B4-BE49-F238E27FC236}">
                <a16:creationId xmlns:a16="http://schemas.microsoft.com/office/drawing/2014/main" id="{75A25511-DF90-4FFF-AC97-03B74DA3B5D3}"/>
              </a:ext>
            </a:extLst>
          </p:cNvPr>
          <p:cNvSpPr>
            <a:spLocks xmlns:a="http://schemas.openxmlformats.org/drawingml/2006/main" noGrp="1"/>
          </p:cNvSpPr>
          <p:nvPr/>
        </p:nvSpPr>
        <p:spPr>
          <a:xfrm xmlns:a="http://schemas.openxmlformats.org/drawingml/2006/main">
            <a:off x="628650" y="32385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123B5D"/>
                </a:solidFill>
                <a:latin typeface="Aptos"/>
                <a:ea typeface="Aptos"/>
                <a:cs typeface="Aptos"/>
              </a:defRPr>
            </a:pPr>
            <a:r>
              <a:rPr sz="1125" b="1">
                <a:solidFill>
                  <a:srgbClr val="123B5D"/>
                </a:solidFill>
                <a:latin typeface="Aptos"/>
                <a:ea typeface="Aptos"/>
                <a:cs typeface="Aptos"/>
              </a:rPr>
              <a:t>Project flow</a:t>
            </a:r>
          </a:p>
        </p:txBody>
      </p:sp>
      <p:sp>
        <p:nvSpPr>
          <p:cNvPr id="29" name="">
            <a:extLst xmlns:a="http://schemas.openxmlformats.org/drawingml/2006/main">
              <a:ext uri="{FF2B5EF4-FFF2-40B4-BE49-F238E27FC236}">
                <a16:creationId xmlns:a16="http://schemas.microsoft.com/office/drawing/2014/main" id="{E65DF454-2A6B-424E-A3D1-33DC38C443F3}"/>
              </a:ext>
            </a:extLst>
          </p:cNvPr>
          <p:cNvSpPr>
            <a:spLocks xmlns:a="http://schemas.openxmlformats.org/drawingml/2006/main" noGrp="1"/>
          </p:cNvSpPr>
          <p:nvPr/>
        </p:nvSpPr>
        <p:spPr>
          <a:xfrm xmlns:a="http://schemas.openxmlformats.org/drawingml/2006/main">
            <a:off x="609600" y="3714750"/>
            <a:ext cx="18859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CE5EA"/>
            </a:solidFill>
          </a:ln>
        </p:spPr>
      </p:sp>
      <p:sp>
        <p:nvSpPr>
          <p:cNvPr id="30" name="">
            <a:extLst xmlns:a="http://schemas.openxmlformats.org/drawingml/2006/main">
              <a:ext uri="{FF2B5EF4-FFF2-40B4-BE49-F238E27FC236}">
                <a16:creationId xmlns:a16="http://schemas.microsoft.com/office/drawing/2014/main" id="{01B59A61-2647-4DF8-B086-96C4C413EACF}"/>
              </a:ext>
            </a:extLst>
          </p:cNvPr>
          <p:cNvSpPr>
            <a:spLocks xmlns:a="http://schemas.openxmlformats.org/drawingml/2006/main" noGrp="1"/>
          </p:cNvSpPr>
          <p:nvPr/>
        </p:nvSpPr>
        <p:spPr>
          <a:xfrm xmlns:a="http://schemas.openxmlformats.org/drawingml/2006/main">
            <a:off x="685800" y="3762375"/>
            <a:ext cx="1733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0A6A6"/>
                </a:solidFill>
                <a:latin typeface="Aptos"/>
                <a:ea typeface="Aptos"/>
                <a:cs typeface="Aptos"/>
              </a:defRPr>
            </a:pPr>
            <a:r>
              <a:rPr sz="1200" b="1">
                <a:solidFill>
                  <a:srgbClr val="00A6A6"/>
                </a:solidFill>
                <a:latin typeface="Aptos"/>
                <a:ea typeface="Aptos"/>
                <a:cs typeface="Aptos"/>
              </a:rPr>
              <a:t>Business question</a:t>
            </a:r>
          </a:p>
        </p:txBody>
      </p:sp>
      <p:sp>
        <p:nvSpPr>
          <p:cNvPr id="31" name="">
            <a:extLst xmlns:a="http://schemas.openxmlformats.org/drawingml/2006/main">
              <a:ext uri="{FF2B5EF4-FFF2-40B4-BE49-F238E27FC236}">
                <a16:creationId xmlns:a16="http://schemas.microsoft.com/office/drawing/2014/main" id="{F62B8B7A-589D-453E-A47F-B50A995CC049}"/>
              </a:ext>
            </a:extLst>
          </p:cNvPr>
          <p:cNvSpPr>
            <a:spLocks xmlns:a="http://schemas.openxmlformats.org/drawingml/2006/main" noGrp="1"/>
          </p:cNvSpPr>
          <p:nvPr/>
        </p:nvSpPr>
        <p:spPr>
          <a:xfrm xmlns:a="http://schemas.openxmlformats.org/drawingml/2006/main">
            <a:off x="2543175" y="3771900"/>
            <a:ext cx="209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4672"/>
          </a:bodyPr>
          <a:lstStyle xmlns:a="http://schemas.openxmlformats.org/drawingml/2006/main"/>
          <a:p xmlns:a="http://schemas.openxmlformats.org/drawingml/2006/main">
            <a:pPr algn="ctr">
              <a:defRPr sz="1725" b="1">
                <a:solidFill>
                  <a:srgbClr val="61727E"/>
                </a:solidFill>
                <a:latin typeface="Aptos"/>
                <a:ea typeface="Aptos"/>
                <a:cs typeface="Aptos"/>
              </a:defRPr>
            </a:pPr>
            <a:r>
              <a:rPr sz="1725" b="1">
                <a:solidFill>
                  <a:srgbClr val="61727E"/>
                </a:solidFill>
                <a:latin typeface="Aptos"/>
                <a:ea typeface="Aptos"/>
                <a:cs typeface="Aptos"/>
              </a:rPr>
              <a:t>›</a:t>
            </a:r>
          </a:p>
        </p:txBody>
      </p:sp>
      <p:sp>
        <p:nvSpPr>
          <p:cNvPr id="32" name="">
            <a:extLst xmlns:a="http://schemas.openxmlformats.org/drawingml/2006/main">
              <a:ext uri="{FF2B5EF4-FFF2-40B4-BE49-F238E27FC236}">
                <a16:creationId xmlns:a16="http://schemas.microsoft.com/office/drawing/2014/main" id="{86E86C75-0839-46C5-B4DB-52D8A687C52F}"/>
              </a:ext>
            </a:extLst>
          </p:cNvPr>
          <p:cNvSpPr>
            <a:spLocks xmlns:a="http://schemas.openxmlformats.org/drawingml/2006/main" noGrp="1"/>
          </p:cNvSpPr>
          <p:nvPr/>
        </p:nvSpPr>
        <p:spPr>
          <a:xfrm xmlns:a="http://schemas.openxmlformats.org/drawingml/2006/main">
            <a:off x="2819400" y="3714750"/>
            <a:ext cx="18859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CE5EA"/>
            </a:solidFill>
          </a:ln>
        </p:spPr>
      </p:sp>
      <p:sp>
        <p:nvSpPr>
          <p:cNvPr id="33" name="">
            <a:extLst xmlns:a="http://schemas.openxmlformats.org/drawingml/2006/main">
              <a:ext uri="{FF2B5EF4-FFF2-40B4-BE49-F238E27FC236}">
                <a16:creationId xmlns:a16="http://schemas.microsoft.com/office/drawing/2014/main" id="{2B83ADD2-E8BC-4BB2-896B-28999BBDDB93}"/>
              </a:ext>
            </a:extLst>
          </p:cNvPr>
          <p:cNvSpPr>
            <a:spLocks xmlns:a="http://schemas.openxmlformats.org/drawingml/2006/main" noGrp="1"/>
          </p:cNvSpPr>
          <p:nvPr/>
        </p:nvSpPr>
        <p:spPr>
          <a:xfrm xmlns:a="http://schemas.openxmlformats.org/drawingml/2006/main">
            <a:off x="2895600" y="3762375"/>
            <a:ext cx="1733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0A6A6"/>
                </a:solidFill>
                <a:latin typeface="Aptos"/>
                <a:ea typeface="Aptos"/>
                <a:cs typeface="Aptos"/>
              </a:defRPr>
            </a:pPr>
            <a:r>
              <a:rPr sz="1200" b="1">
                <a:solidFill>
                  <a:srgbClr val="00A6A6"/>
                </a:solidFill>
                <a:latin typeface="Aptos"/>
                <a:ea typeface="Aptos"/>
                <a:cs typeface="Aptos"/>
              </a:rPr>
              <a:t>Prepare data</a:t>
            </a:r>
          </a:p>
        </p:txBody>
      </p:sp>
      <p:sp>
        <p:nvSpPr>
          <p:cNvPr id="34" name="">
            <a:extLst xmlns:a="http://schemas.openxmlformats.org/drawingml/2006/main">
              <a:ext uri="{FF2B5EF4-FFF2-40B4-BE49-F238E27FC236}">
                <a16:creationId xmlns:a16="http://schemas.microsoft.com/office/drawing/2014/main" id="{A083A116-79D1-46A0-953A-A19A2C84FF3C}"/>
              </a:ext>
            </a:extLst>
          </p:cNvPr>
          <p:cNvSpPr>
            <a:spLocks xmlns:a="http://schemas.openxmlformats.org/drawingml/2006/main" noGrp="1"/>
          </p:cNvSpPr>
          <p:nvPr/>
        </p:nvSpPr>
        <p:spPr>
          <a:xfrm xmlns:a="http://schemas.openxmlformats.org/drawingml/2006/main">
            <a:off x="4752975" y="3771900"/>
            <a:ext cx="209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4672"/>
          </a:bodyPr>
          <a:lstStyle xmlns:a="http://schemas.openxmlformats.org/drawingml/2006/main"/>
          <a:p xmlns:a="http://schemas.openxmlformats.org/drawingml/2006/main">
            <a:pPr algn="ctr">
              <a:defRPr sz="1725" b="1">
                <a:solidFill>
                  <a:srgbClr val="61727E"/>
                </a:solidFill>
                <a:latin typeface="Aptos"/>
                <a:ea typeface="Aptos"/>
                <a:cs typeface="Aptos"/>
              </a:defRPr>
            </a:pPr>
            <a:r>
              <a:rPr sz="1725" b="1">
                <a:solidFill>
                  <a:srgbClr val="61727E"/>
                </a:solidFill>
                <a:latin typeface="Aptos"/>
                <a:ea typeface="Aptos"/>
                <a:cs typeface="Aptos"/>
              </a:rPr>
              <a:t>›</a:t>
            </a:r>
          </a:p>
        </p:txBody>
      </p:sp>
      <p:sp>
        <p:nvSpPr>
          <p:cNvPr id="35" name="">
            <a:extLst xmlns:a="http://schemas.openxmlformats.org/drawingml/2006/main">
              <a:ext uri="{FF2B5EF4-FFF2-40B4-BE49-F238E27FC236}">
                <a16:creationId xmlns:a16="http://schemas.microsoft.com/office/drawing/2014/main" id="{EF7E3409-4AE4-46FD-9CBF-E9FF23FA3B2C}"/>
              </a:ext>
            </a:extLst>
          </p:cNvPr>
          <p:cNvSpPr>
            <a:spLocks xmlns:a="http://schemas.openxmlformats.org/drawingml/2006/main" noGrp="1"/>
          </p:cNvSpPr>
          <p:nvPr/>
        </p:nvSpPr>
        <p:spPr>
          <a:xfrm xmlns:a="http://schemas.openxmlformats.org/drawingml/2006/main">
            <a:off x="5029200" y="3714750"/>
            <a:ext cx="18859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CE5EA"/>
            </a:solidFill>
          </a:ln>
        </p:spPr>
      </p:sp>
      <p:sp>
        <p:nvSpPr>
          <p:cNvPr id="36" name="">
            <a:extLst xmlns:a="http://schemas.openxmlformats.org/drawingml/2006/main">
              <a:ext uri="{FF2B5EF4-FFF2-40B4-BE49-F238E27FC236}">
                <a16:creationId xmlns:a16="http://schemas.microsoft.com/office/drawing/2014/main" id="{CDF0A533-E103-4FE4-AF23-E86B91979CED}"/>
              </a:ext>
            </a:extLst>
          </p:cNvPr>
          <p:cNvSpPr>
            <a:spLocks xmlns:a="http://schemas.openxmlformats.org/drawingml/2006/main" noGrp="1"/>
          </p:cNvSpPr>
          <p:nvPr/>
        </p:nvSpPr>
        <p:spPr>
          <a:xfrm xmlns:a="http://schemas.openxmlformats.org/drawingml/2006/main">
            <a:off x="5105400" y="3762375"/>
            <a:ext cx="1733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0A6A6"/>
                </a:solidFill>
                <a:latin typeface="Aptos"/>
                <a:ea typeface="Aptos"/>
                <a:cs typeface="Aptos"/>
              </a:defRPr>
            </a:pPr>
            <a:r>
              <a:rPr sz="1200" b="1">
                <a:solidFill>
                  <a:srgbClr val="00A6A6"/>
                </a:solidFill>
                <a:latin typeface="Aptos"/>
                <a:ea typeface="Aptos"/>
                <a:cs typeface="Aptos"/>
              </a:rPr>
              <a:t>Model &amp; measure</a:t>
            </a:r>
          </a:p>
        </p:txBody>
      </p:sp>
      <p:sp>
        <p:nvSpPr>
          <p:cNvPr id="37" name="">
            <a:extLst xmlns:a="http://schemas.openxmlformats.org/drawingml/2006/main">
              <a:ext uri="{FF2B5EF4-FFF2-40B4-BE49-F238E27FC236}">
                <a16:creationId xmlns:a16="http://schemas.microsoft.com/office/drawing/2014/main" id="{C03CDE19-D744-458F-B2C5-2CE86F62FD5E}"/>
              </a:ext>
            </a:extLst>
          </p:cNvPr>
          <p:cNvSpPr>
            <a:spLocks xmlns:a="http://schemas.openxmlformats.org/drawingml/2006/main" noGrp="1"/>
          </p:cNvSpPr>
          <p:nvPr/>
        </p:nvSpPr>
        <p:spPr>
          <a:xfrm xmlns:a="http://schemas.openxmlformats.org/drawingml/2006/main">
            <a:off x="6962775" y="3771900"/>
            <a:ext cx="209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4672"/>
          </a:bodyPr>
          <a:lstStyle xmlns:a="http://schemas.openxmlformats.org/drawingml/2006/main"/>
          <a:p xmlns:a="http://schemas.openxmlformats.org/drawingml/2006/main">
            <a:pPr algn="ctr">
              <a:defRPr sz="1725" b="1">
                <a:solidFill>
                  <a:srgbClr val="61727E"/>
                </a:solidFill>
                <a:latin typeface="Aptos"/>
                <a:ea typeface="Aptos"/>
                <a:cs typeface="Aptos"/>
              </a:defRPr>
            </a:pPr>
            <a:r>
              <a:rPr sz="1725" b="1">
                <a:solidFill>
                  <a:srgbClr val="61727E"/>
                </a:solidFill>
                <a:latin typeface="Aptos"/>
                <a:ea typeface="Aptos"/>
                <a:cs typeface="Aptos"/>
              </a:rPr>
              <a:t>›</a:t>
            </a:r>
          </a:p>
        </p:txBody>
      </p:sp>
      <p:sp>
        <p:nvSpPr>
          <p:cNvPr id="38" name="">
            <a:extLst xmlns:a="http://schemas.openxmlformats.org/drawingml/2006/main">
              <a:ext uri="{FF2B5EF4-FFF2-40B4-BE49-F238E27FC236}">
                <a16:creationId xmlns:a16="http://schemas.microsoft.com/office/drawing/2014/main" id="{E742ACD9-3303-4AA8-999E-CDDA50D61C48}"/>
              </a:ext>
            </a:extLst>
          </p:cNvPr>
          <p:cNvSpPr>
            <a:spLocks xmlns:a="http://schemas.openxmlformats.org/drawingml/2006/main" noGrp="1"/>
          </p:cNvSpPr>
          <p:nvPr/>
        </p:nvSpPr>
        <p:spPr>
          <a:xfrm xmlns:a="http://schemas.openxmlformats.org/drawingml/2006/main">
            <a:off x="7239000" y="3714750"/>
            <a:ext cx="18859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CE5EA"/>
            </a:solidFill>
          </a:ln>
        </p:spPr>
      </p:sp>
      <p:sp>
        <p:nvSpPr>
          <p:cNvPr id="39" name="">
            <a:extLst xmlns:a="http://schemas.openxmlformats.org/drawingml/2006/main">
              <a:ext uri="{FF2B5EF4-FFF2-40B4-BE49-F238E27FC236}">
                <a16:creationId xmlns:a16="http://schemas.microsoft.com/office/drawing/2014/main" id="{86E41C3B-F3D0-40AB-B393-7834FA40FD5D}"/>
              </a:ext>
            </a:extLst>
          </p:cNvPr>
          <p:cNvSpPr>
            <a:spLocks xmlns:a="http://schemas.openxmlformats.org/drawingml/2006/main" noGrp="1"/>
          </p:cNvSpPr>
          <p:nvPr/>
        </p:nvSpPr>
        <p:spPr>
          <a:xfrm xmlns:a="http://schemas.openxmlformats.org/drawingml/2006/main">
            <a:off x="7315200" y="3762375"/>
            <a:ext cx="1733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0A6A6"/>
                </a:solidFill>
                <a:latin typeface="Aptos"/>
                <a:ea typeface="Aptos"/>
                <a:cs typeface="Aptos"/>
              </a:defRPr>
            </a:pPr>
            <a:r>
              <a:rPr sz="1200" b="1">
                <a:solidFill>
                  <a:srgbClr val="00A6A6"/>
                </a:solidFill>
                <a:latin typeface="Aptos"/>
                <a:ea typeface="Aptos"/>
                <a:cs typeface="Aptos"/>
              </a:rPr>
              <a:t>Explore patterns</a:t>
            </a:r>
          </a:p>
        </p:txBody>
      </p:sp>
      <p:sp>
        <p:nvSpPr>
          <p:cNvPr id="40" name="">
            <a:extLst xmlns:a="http://schemas.openxmlformats.org/drawingml/2006/main">
              <a:ext uri="{FF2B5EF4-FFF2-40B4-BE49-F238E27FC236}">
                <a16:creationId xmlns:a16="http://schemas.microsoft.com/office/drawing/2014/main" id="{3B905B7C-F6C2-4AB9-AC3C-12D95AC58638}"/>
              </a:ext>
            </a:extLst>
          </p:cNvPr>
          <p:cNvSpPr>
            <a:spLocks xmlns:a="http://schemas.openxmlformats.org/drawingml/2006/main" noGrp="1"/>
          </p:cNvSpPr>
          <p:nvPr/>
        </p:nvSpPr>
        <p:spPr>
          <a:xfrm xmlns:a="http://schemas.openxmlformats.org/drawingml/2006/main">
            <a:off x="9172575" y="3771900"/>
            <a:ext cx="209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4672"/>
          </a:bodyPr>
          <a:lstStyle xmlns:a="http://schemas.openxmlformats.org/drawingml/2006/main"/>
          <a:p xmlns:a="http://schemas.openxmlformats.org/drawingml/2006/main">
            <a:pPr algn="ctr">
              <a:defRPr sz="1725" b="1">
                <a:solidFill>
                  <a:srgbClr val="61727E"/>
                </a:solidFill>
                <a:latin typeface="Aptos"/>
                <a:ea typeface="Aptos"/>
                <a:cs typeface="Aptos"/>
              </a:defRPr>
            </a:pPr>
            <a:r>
              <a:rPr sz="1725" b="1">
                <a:solidFill>
                  <a:srgbClr val="61727E"/>
                </a:solidFill>
                <a:latin typeface="Aptos"/>
                <a:ea typeface="Aptos"/>
                <a:cs typeface="Aptos"/>
              </a:rPr>
              <a:t>›</a:t>
            </a:r>
          </a:p>
        </p:txBody>
      </p:sp>
      <p:sp>
        <p:nvSpPr>
          <p:cNvPr id="41" name="">
            <a:extLst xmlns:a="http://schemas.openxmlformats.org/drawingml/2006/main">
              <a:ext uri="{FF2B5EF4-FFF2-40B4-BE49-F238E27FC236}">
                <a16:creationId xmlns:a16="http://schemas.microsoft.com/office/drawing/2014/main" id="{9DCDF649-0C01-43E7-B4FA-FF0573B0D9F9}"/>
              </a:ext>
            </a:extLst>
          </p:cNvPr>
          <p:cNvSpPr>
            <a:spLocks xmlns:a="http://schemas.openxmlformats.org/drawingml/2006/main" noGrp="1"/>
          </p:cNvSpPr>
          <p:nvPr/>
        </p:nvSpPr>
        <p:spPr>
          <a:xfrm xmlns:a="http://schemas.openxmlformats.org/drawingml/2006/main">
            <a:off x="9448800" y="3714750"/>
            <a:ext cx="1885950" cy="514350"/>
          </a:xfrm>
          <a:prstGeom xmlns:a="http://schemas.openxmlformats.org/drawingml/2006/main" prst="roundRect">
            <a:avLst>
              <a:gd name="adj" fmla="val 14815"/>
            </a:avLst>
          </a:prstGeom>
          <a:solidFill xmlns:a="http://schemas.openxmlformats.org/drawingml/2006/main">
            <a:srgbClr val="EAF2F6"/>
          </a:solidFill>
          <a:ln xmlns:a="http://schemas.openxmlformats.org/drawingml/2006/main" w="9525">
            <a:solidFill>
              <a:srgbClr val="DCE5EA"/>
            </a:solidFill>
          </a:ln>
        </p:spPr>
      </p:sp>
      <p:sp>
        <p:nvSpPr>
          <p:cNvPr id="42" name="">
            <a:extLst xmlns:a="http://schemas.openxmlformats.org/drawingml/2006/main">
              <a:ext uri="{FF2B5EF4-FFF2-40B4-BE49-F238E27FC236}">
                <a16:creationId xmlns:a16="http://schemas.microsoft.com/office/drawing/2014/main" id="{0815E19E-41FC-4551-8E37-43DA6DDB0BC2}"/>
              </a:ext>
            </a:extLst>
          </p:cNvPr>
          <p:cNvSpPr>
            <a:spLocks xmlns:a="http://schemas.openxmlformats.org/drawingml/2006/main" noGrp="1"/>
          </p:cNvSpPr>
          <p:nvPr/>
        </p:nvSpPr>
        <p:spPr>
          <a:xfrm xmlns:a="http://schemas.openxmlformats.org/drawingml/2006/main">
            <a:off x="9525000" y="3762375"/>
            <a:ext cx="1733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23B5D"/>
                </a:solidFill>
                <a:latin typeface="Aptos"/>
                <a:ea typeface="Aptos"/>
                <a:cs typeface="Aptos"/>
              </a:defRPr>
            </a:pPr>
            <a:r>
              <a:rPr sz="1200" b="1">
                <a:solidFill>
                  <a:srgbClr val="123B5D"/>
                </a:solidFill>
                <a:latin typeface="Aptos"/>
                <a:ea typeface="Aptos"/>
                <a:cs typeface="Aptos"/>
              </a:rPr>
              <a:t>Recommend actions</a:t>
            </a:r>
          </a:p>
        </p:txBody>
      </p:sp>
      <p:sp>
        <p:nvSpPr>
          <p:cNvPr id="43" name="">
            <a:extLst xmlns:a="http://schemas.openxmlformats.org/drawingml/2006/main">
              <a:ext uri="{FF2B5EF4-FFF2-40B4-BE49-F238E27FC236}">
                <a16:creationId xmlns:a16="http://schemas.microsoft.com/office/drawing/2014/main" id="{18122C75-944C-4333-80C9-9A9688008F34}"/>
              </a:ext>
            </a:extLst>
          </p:cNvPr>
          <p:cNvSpPr>
            <a:spLocks xmlns:a="http://schemas.openxmlformats.org/drawingml/2006/main" noGrp="1"/>
          </p:cNvSpPr>
          <p:nvPr/>
        </p:nvSpPr>
        <p:spPr>
          <a:xfrm xmlns:a="http://schemas.openxmlformats.org/drawingml/2006/main">
            <a:off x="685800" y="46672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263238"/>
                </a:solidFill>
                <a:latin typeface="Aptos"/>
                <a:ea typeface="Aptos"/>
                <a:cs typeface="Aptos"/>
              </a:defRPr>
            </a:pPr>
            <a:r>
              <a:rPr sz="1575" b="1">
                <a:solidFill>
                  <a:srgbClr val="263238"/>
                </a:solidFill>
                <a:latin typeface="Aptos"/>
                <a:ea typeface="Aptos"/>
                <a:cs typeface="Aptos"/>
              </a:rPr>
              <a:t>The goal is to turn transaction-level records into clear dataset findings and practical monitoring recommendations.</a:t>
            </a:r>
          </a:p>
        </p:txBody>
      </p:sp>
    </p:spTree>
    <p:extLst>
      <p:ext uri="{BB962C8B-B14F-4D97-AF65-F5344CB8AC3E}">
        <p14:creationId xmlns:p14="http://schemas.microsoft.com/office/powerpoint/2010/main" val="256363492"/>
      </p:ext>
    </p:extLst>
  </p:cSld>
</p:sld>
</file>

<file path=ppt/slides/slide3.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9ACB91E-D7BF-4CB9-8291-86156AA6EC1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EA22ED-9DF2-418D-9540-39687BC996D2}"/>
              </a:ext>
            </a:extLst>
          </p:cNvPr>
          <p:cNvSpPr>
            <a:spLocks xmlns:a="http://schemas.openxmlformats.org/drawingml/2006/main" noGrp="1"/>
          </p:cNvSpPr>
          <p:nvPr/>
        </p:nvSpPr>
        <p:spPr>
          <a:xfrm xmlns:a="http://schemas.openxmlformats.org/drawingml/2006/main">
            <a:off x="590550" y="266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01  |  CONTEXT</a:t>
            </a:r>
          </a:p>
        </p:txBody>
      </p:sp>
      <p:sp>
        <p:nvSpPr>
          <p:cNvPr id="3" name="">
            <a:extLst xmlns:a="http://schemas.openxmlformats.org/drawingml/2006/main">
              <a:ext uri="{FF2B5EF4-FFF2-40B4-BE49-F238E27FC236}">
                <a16:creationId xmlns:a16="http://schemas.microsoft.com/office/drawing/2014/main" id="{9099C39D-92B6-4ADE-A348-6348DBE22E41}"/>
              </a:ext>
            </a:extLst>
          </p:cNvPr>
          <p:cNvSpPr>
            <a:spLocks xmlns:a="http://schemas.openxmlformats.org/drawingml/2006/main" noGrp="1"/>
          </p:cNvSpPr>
          <p:nvPr/>
        </p:nvSpPr>
        <p:spPr>
          <a:xfrm xmlns:a="http://schemas.openxmlformats.org/drawingml/2006/main">
            <a:off x="590550" y="600075"/>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23B5D"/>
                </a:solidFill>
                <a:latin typeface="Aptos"/>
                <a:ea typeface="Aptos"/>
                <a:cs typeface="Aptos"/>
              </a:defRPr>
            </a:pPr>
            <a:r>
              <a:rPr sz="2550" b="1">
                <a:solidFill>
                  <a:srgbClr val="123B5D"/>
                </a:solidFill>
                <a:latin typeface="Aptos"/>
                <a:ea typeface="Aptos"/>
                <a:cs typeface="Aptos"/>
              </a:rPr>
              <a:t>Problem statement</a:t>
            </a:r>
          </a:p>
        </p:txBody>
      </p:sp>
      <p:sp>
        <p:nvSpPr>
          <p:cNvPr id="4" name="">
            <a:extLst xmlns:a="http://schemas.openxmlformats.org/drawingml/2006/main">
              <a:ext uri="{FF2B5EF4-FFF2-40B4-BE49-F238E27FC236}">
                <a16:creationId xmlns:a16="http://schemas.microsoft.com/office/drawing/2014/main" id="{108D361E-B16A-4088-BBAC-90322A14246B}"/>
              </a:ext>
            </a:extLst>
          </p:cNvPr>
          <p:cNvSpPr>
            <a:spLocks xmlns:a="http://schemas.openxmlformats.org/drawingml/2006/main" noGrp="1"/>
          </p:cNvSpPr>
          <p:nvPr/>
        </p:nvSpPr>
        <p:spPr>
          <a:xfrm xmlns:a="http://schemas.openxmlformats.org/drawingml/2006/main">
            <a:off x="590550" y="6419850"/>
            <a:ext cx="10991850" cy="9525"/>
          </a:xfrm>
          <a:prstGeom xmlns:a="http://schemas.openxmlformats.org/drawingml/2006/main" prst="rect">
            <a:avLst/>
          </a:prstGeom>
          <a:solidFill xmlns:a="http://schemas.openxmlformats.org/drawingml/2006/main">
            <a:srgbClr val="DC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CC3392C-6CF1-4D9F-A1CC-C42C05DE20C3}"/>
              </a:ext>
            </a:extLst>
          </p:cNvPr>
          <p:cNvSpPr>
            <a:spLocks xmlns:a="http://schemas.openxmlformats.org/drawingml/2006/main" noGrp="1"/>
          </p:cNvSpPr>
          <p:nvPr/>
        </p:nvSpPr>
        <p:spPr>
          <a:xfrm xmlns:a="http://schemas.openxmlformats.org/drawingml/2006/main">
            <a:off x="59055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ANUDIP FOUNDATION  •  DATA ANALYTICS PROJECT</a:t>
            </a:r>
          </a:p>
        </p:txBody>
      </p:sp>
      <p:sp>
        <p:nvSpPr>
          <p:cNvPr id="6" name="">
            <a:extLst xmlns:a="http://schemas.openxmlformats.org/drawingml/2006/main">
              <a:ext uri="{FF2B5EF4-FFF2-40B4-BE49-F238E27FC236}">
                <a16:creationId xmlns:a16="http://schemas.microsoft.com/office/drawing/2014/main" id="{A3351C94-5FB1-4EDC-85BC-9789819E682F}"/>
              </a:ext>
            </a:extLst>
          </p:cNvPr>
          <p:cNvSpPr>
            <a:spLocks xmlns:a="http://schemas.openxmlformats.org/drawingml/2006/main" noGrp="1"/>
          </p:cNvSpPr>
          <p:nvPr/>
        </p:nvSpPr>
        <p:spPr>
          <a:xfrm xmlns:a="http://schemas.openxmlformats.org/drawingml/2006/main">
            <a:off x="112014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1">
                <a:solidFill>
                  <a:srgbClr val="61727E"/>
                </a:solidFill>
                <a:latin typeface="Aptos"/>
                <a:ea typeface="Aptos"/>
                <a:cs typeface="Aptos"/>
              </a:defRPr>
            </a:pPr>
            <a:r>
              <a:rPr sz="900" b="1">
                <a:solidFill>
                  <a:srgbClr val="61727E"/>
                </a:solidFill>
                <a:latin typeface="Aptos"/>
                <a:ea typeface="Aptos"/>
                <a:cs typeface="Aptos"/>
              </a:rPr>
              <a:t>03</a:t>
            </a:r>
          </a:p>
        </p:txBody>
      </p:sp>
      <p:sp>
        <p:nvSpPr>
          <p:cNvPr id="7" name="">
            <a:extLst xmlns:a="http://schemas.openxmlformats.org/drawingml/2006/main">
              <a:ext uri="{FF2B5EF4-FFF2-40B4-BE49-F238E27FC236}">
                <a16:creationId xmlns:a16="http://schemas.microsoft.com/office/drawing/2014/main" id="{3AA45C78-0889-433F-9D8C-408A30D6180D}"/>
              </a:ext>
            </a:extLst>
          </p:cNvPr>
          <p:cNvSpPr>
            <a:spLocks xmlns:a="http://schemas.openxmlformats.org/drawingml/2006/main" noGrp="1"/>
          </p:cNvSpPr>
          <p:nvPr/>
        </p:nvSpPr>
        <p:spPr>
          <a:xfrm xmlns:a="http://schemas.openxmlformats.org/drawingml/2006/main">
            <a:off x="647700" y="16383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123B5D"/>
                </a:solidFill>
                <a:latin typeface="Aptos"/>
                <a:ea typeface="Aptos"/>
                <a:cs typeface="Aptos"/>
              </a:defRPr>
            </a:pPr>
            <a:r>
              <a:rPr sz="1125" b="1">
                <a:solidFill>
                  <a:srgbClr val="123B5D"/>
                </a:solidFill>
                <a:latin typeface="Aptos"/>
                <a:ea typeface="Aptos"/>
                <a:cs typeface="Aptos"/>
              </a:rPr>
              <a:t>Analytical challenge</a:t>
            </a:r>
          </a:p>
        </p:txBody>
      </p:sp>
      <p:sp>
        <p:nvSpPr>
          <p:cNvPr id="8" name="">
            <a:extLst xmlns:a="http://schemas.openxmlformats.org/drawingml/2006/main">
              <a:ext uri="{FF2B5EF4-FFF2-40B4-BE49-F238E27FC236}">
                <a16:creationId xmlns:a16="http://schemas.microsoft.com/office/drawing/2014/main" id="{3D735130-989F-4791-B89B-F84FC5861C9C}"/>
              </a:ext>
            </a:extLst>
          </p:cNvPr>
          <p:cNvSpPr>
            <a:spLocks xmlns:a="http://schemas.openxmlformats.org/drawingml/2006/main" noGrp="1"/>
          </p:cNvSpPr>
          <p:nvPr/>
        </p:nvSpPr>
        <p:spPr>
          <a:xfrm xmlns:a="http://schemas.openxmlformats.org/drawingml/2006/main">
            <a:off x="647700" y="2000250"/>
            <a:ext cx="6000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75"/>
          </a:bodyPr>
          <a:lstStyle xmlns:a="http://schemas.openxmlformats.org/drawingml/2006/main"/>
          <a:p xmlns:a="http://schemas.openxmlformats.org/drawingml/2006/main">
            <a:pPr>
              <a:defRPr sz="2250" b="1">
                <a:solidFill>
                  <a:srgbClr val="123B5D"/>
                </a:solidFill>
                <a:latin typeface="Aptos"/>
                <a:ea typeface="Aptos"/>
                <a:cs typeface="Aptos"/>
              </a:defRPr>
            </a:pPr>
            <a:r>
              <a:rPr sz="2250" b="1">
                <a:solidFill>
                  <a:srgbClr val="123B5D"/>
                </a:solidFill>
                <a:latin typeface="Aptos"/>
                <a:ea typeface="Aptos"/>
                <a:cs typeface="Aptos"/>
              </a:rPr>
              <a:t>Transaction records are detailed, but risk patterns are difficult to see without structured analysis.</a:t>
            </a:r>
          </a:p>
        </p:txBody>
      </p:sp>
      <p:sp>
        <p:nvSpPr>
          <p:cNvPr id="9" name="">
            <a:extLst xmlns:a="http://schemas.openxmlformats.org/drawingml/2006/main">
              <a:ext uri="{FF2B5EF4-FFF2-40B4-BE49-F238E27FC236}">
                <a16:creationId xmlns:a16="http://schemas.microsoft.com/office/drawing/2014/main" id="{A3DE9A02-27B6-4ECD-B190-12ED7F868229}"/>
              </a:ext>
            </a:extLst>
          </p:cNvPr>
          <p:cNvSpPr>
            <a:spLocks xmlns:a="http://schemas.openxmlformats.org/drawingml/2006/main" noGrp="1"/>
          </p:cNvSpPr>
          <p:nvPr/>
        </p:nvSpPr>
        <p:spPr>
          <a:xfrm xmlns:a="http://schemas.openxmlformats.org/drawingml/2006/main">
            <a:off x="7315200" y="1638300"/>
            <a:ext cx="4171950" cy="3276600"/>
          </a:xfrm>
          <a:prstGeom xmlns:a="http://schemas.openxmlformats.org/drawingml/2006/main" prst="roundRect">
            <a:avLst>
              <a:gd name="adj" fmla="val 2326"/>
            </a:avLst>
          </a:prstGeom>
          <a:solidFill xmlns:a="http://schemas.openxmlformats.org/drawingml/2006/main">
            <a:srgbClr val="FFFFFF"/>
          </a:solidFill>
          <a:ln xmlns:a="http://schemas.openxmlformats.org/drawingml/2006/main" w="9525">
            <a:solidFill>
              <a:srgbClr val="DCE5EA"/>
            </a:solidFill>
          </a:ln>
        </p:spPr>
      </p:sp>
      <p:sp>
        <p:nvSpPr>
          <p:cNvPr id="10" name="">
            <a:extLst xmlns:a="http://schemas.openxmlformats.org/drawingml/2006/main">
              <a:ext uri="{FF2B5EF4-FFF2-40B4-BE49-F238E27FC236}">
                <a16:creationId xmlns:a16="http://schemas.microsoft.com/office/drawing/2014/main" id="{1E0DBC44-E2F6-4A56-A142-23805B72BF5A}"/>
              </a:ext>
            </a:extLst>
          </p:cNvPr>
          <p:cNvSpPr>
            <a:spLocks xmlns:a="http://schemas.openxmlformats.org/drawingml/2006/main" noGrp="1"/>
          </p:cNvSpPr>
          <p:nvPr/>
        </p:nvSpPr>
        <p:spPr>
          <a:xfrm xmlns:a="http://schemas.openxmlformats.org/drawingml/2006/main">
            <a:off x="7620000" y="19050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123B5D"/>
                </a:solidFill>
                <a:latin typeface="Aptos"/>
                <a:ea typeface="Aptos"/>
                <a:cs typeface="Aptos"/>
              </a:defRPr>
            </a:pPr>
            <a:r>
              <a:rPr sz="1125" b="1">
                <a:solidFill>
                  <a:srgbClr val="123B5D"/>
                </a:solidFill>
                <a:latin typeface="Aptos"/>
                <a:ea typeface="Aptos"/>
                <a:cs typeface="Aptos"/>
              </a:rPr>
              <a:t>Questions this project explores</a:t>
            </a:r>
          </a:p>
        </p:txBody>
      </p:sp>
      <p:sp>
        <p:nvSpPr>
          <p:cNvPr id="11" name="">
            <a:extLst xmlns:a="http://schemas.openxmlformats.org/drawingml/2006/main">
              <a:ext uri="{FF2B5EF4-FFF2-40B4-BE49-F238E27FC236}">
                <a16:creationId xmlns:a16="http://schemas.microsoft.com/office/drawing/2014/main" id="{697A64E3-4E25-49A2-84B1-CF20A97CDBCB}"/>
              </a:ext>
            </a:extLst>
          </p:cNvPr>
          <p:cNvSpPr>
            <a:spLocks xmlns:a="http://schemas.openxmlformats.org/drawingml/2006/main" noGrp="1"/>
          </p:cNvSpPr>
          <p:nvPr/>
        </p:nvSpPr>
        <p:spPr>
          <a:xfrm xmlns:a="http://schemas.openxmlformats.org/drawingml/2006/main">
            <a:off x="7658100" y="2466975"/>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F4DB11C-F79F-4E85-8B16-F835E20367F4}"/>
              </a:ext>
            </a:extLst>
          </p:cNvPr>
          <p:cNvSpPr>
            <a:spLocks xmlns:a="http://schemas.openxmlformats.org/drawingml/2006/main" noGrp="1"/>
          </p:cNvSpPr>
          <p:nvPr/>
        </p:nvSpPr>
        <p:spPr>
          <a:xfrm xmlns:a="http://schemas.openxmlformats.org/drawingml/2006/main">
            <a:off x="7867650" y="2381250"/>
            <a:ext cx="321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263238"/>
                </a:solidFill>
                <a:latin typeface="Aptos"/>
                <a:ea typeface="Aptos"/>
                <a:cs typeface="Aptos"/>
              </a:defRPr>
            </a:pPr>
            <a:r>
              <a:rPr sz="1275" b="0">
                <a:solidFill>
                  <a:srgbClr val="263238"/>
                </a:solidFill>
                <a:latin typeface="Aptos"/>
                <a:ea typeface="Aptos"/>
                <a:cs typeface="Aptos"/>
              </a:rPr>
              <a:t>How many transactions succeed or fail?</a:t>
            </a:r>
          </a:p>
        </p:txBody>
      </p:sp>
      <p:sp>
        <p:nvSpPr>
          <p:cNvPr id="13" name="">
            <a:extLst xmlns:a="http://schemas.openxmlformats.org/drawingml/2006/main">
              <a:ext uri="{FF2B5EF4-FFF2-40B4-BE49-F238E27FC236}">
                <a16:creationId xmlns:a16="http://schemas.microsoft.com/office/drawing/2014/main" id="{0C8537AE-D8F7-4436-9300-5E7BF85C31B1}"/>
              </a:ext>
            </a:extLst>
          </p:cNvPr>
          <p:cNvSpPr>
            <a:spLocks xmlns:a="http://schemas.openxmlformats.org/drawingml/2006/main" noGrp="1"/>
          </p:cNvSpPr>
          <p:nvPr/>
        </p:nvSpPr>
        <p:spPr>
          <a:xfrm xmlns:a="http://schemas.openxmlformats.org/drawingml/2006/main">
            <a:off x="7658100" y="3019425"/>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EDA0460-3304-4818-B4D7-63C2A28BEAFF}"/>
              </a:ext>
            </a:extLst>
          </p:cNvPr>
          <p:cNvSpPr>
            <a:spLocks xmlns:a="http://schemas.openxmlformats.org/drawingml/2006/main" noGrp="1"/>
          </p:cNvSpPr>
          <p:nvPr/>
        </p:nvSpPr>
        <p:spPr>
          <a:xfrm xmlns:a="http://schemas.openxmlformats.org/drawingml/2006/main">
            <a:off x="7867650" y="2933700"/>
            <a:ext cx="321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263238"/>
                </a:solidFill>
                <a:latin typeface="Aptos"/>
                <a:ea typeface="Aptos"/>
                <a:cs typeface="Aptos"/>
              </a:defRPr>
            </a:pPr>
            <a:r>
              <a:rPr sz="1275" b="0">
                <a:solidFill>
                  <a:srgbClr val="263238"/>
                </a:solidFill>
                <a:latin typeface="Aptos"/>
                <a:ea typeface="Aptos"/>
                <a:cs typeface="Aptos"/>
              </a:rPr>
              <a:t>How is transaction value distributed?</a:t>
            </a:r>
          </a:p>
        </p:txBody>
      </p:sp>
      <p:sp>
        <p:nvSpPr>
          <p:cNvPr id="15" name="">
            <a:extLst xmlns:a="http://schemas.openxmlformats.org/drawingml/2006/main">
              <a:ext uri="{FF2B5EF4-FFF2-40B4-BE49-F238E27FC236}">
                <a16:creationId xmlns:a16="http://schemas.microsoft.com/office/drawing/2014/main" id="{13D6A85F-B02A-40ED-9AE5-6B4EFC1E5ADA}"/>
              </a:ext>
            </a:extLst>
          </p:cNvPr>
          <p:cNvSpPr>
            <a:spLocks xmlns:a="http://schemas.openxmlformats.org/drawingml/2006/main" noGrp="1"/>
          </p:cNvSpPr>
          <p:nvPr/>
        </p:nvSpPr>
        <p:spPr>
          <a:xfrm xmlns:a="http://schemas.openxmlformats.org/drawingml/2006/main">
            <a:off x="7658100" y="3571875"/>
            <a:ext cx="76200" cy="7620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CAB603D-4FBA-45A8-AA8C-0F0BBC7BF555}"/>
              </a:ext>
            </a:extLst>
          </p:cNvPr>
          <p:cNvSpPr>
            <a:spLocks xmlns:a="http://schemas.openxmlformats.org/drawingml/2006/main" noGrp="1"/>
          </p:cNvSpPr>
          <p:nvPr/>
        </p:nvSpPr>
        <p:spPr>
          <a:xfrm xmlns:a="http://schemas.openxmlformats.org/drawingml/2006/main">
            <a:off x="7867650" y="3486150"/>
            <a:ext cx="321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491"/>
          </a:bodyPr>
          <a:lstStyle xmlns:a="http://schemas.openxmlformats.org/drawingml/2006/main"/>
          <a:p xmlns:a="http://schemas.openxmlformats.org/drawingml/2006/main">
            <a:pPr>
              <a:defRPr sz="1275" b="0">
                <a:solidFill>
                  <a:srgbClr val="D64545"/>
                </a:solidFill>
                <a:latin typeface="Aptos"/>
                <a:ea typeface="Aptos"/>
                <a:cs typeface="Aptos"/>
              </a:defRPr>
            </a:pPr>
            <a:r>
              <a:rPr sz="1275" b="0">
                <a:solidFill>
                  <a:srgbClr val="D64545"/>
                </a:solidFill>
                <a:latin typeface="Aptos"/>
                <a:ea typeface="Aptos"/>
                <a:cs typeface="Aptos"/>
              </a:rPr>
              <a:t>Where are flagged fraud records concentrated?</a:t>
            </a:r>
          </a:p>
        </p:txBody>
      </p:sp>
      <p:sp>
        <p:nvSpPr>
          <p:cNvPr id="17" name="">
            <a:extLst xmlns:a="http://schemas.openxmlformats.org/drawingml/2006/main">
              <a:ext uri="{FF2B5EF4-FFF2-40B4-BE49-F238E27FC236}">
                <a16:creationId xmlns:a16="http://schemas.microsoft.com/office/drawing/2014/main" id="{AD90CDBD-A820-4203-8F94-85FA3A89DB20}"/>
              </a:ext>
            </a:extLst>
          </p:cNvPr>
          <p:cNvSpPr>
            <a:spLocks xmlns:a="http://schemas.openxmlformats.org/drawingml/2006/main" noGrp="1"/>
          </p:cNvSpPr>
          <p:nvPr/>
        </p:nvSpPr>
        <p:spPr>
          <a:xfrm xmlns:a="http://schemas.openxmlformats.org/drawingml/2006/main">
            <a:off x="7658100" y="4124325"/>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5729444-A817-4CAF-B939-90CC0793CFD1}"/>
              </a:ext>
            </a:extLst>
          </p:cNvPr>
          <p:cNvSpPr>
            <a:spLocks xmlns:a="http://schemas.openxmlformats.org/drawingml/2006/main" noGrp="1"/>
          </p:cNvSpPr>
          <p:nvPr/>
        </p:nvSpPr>
        <p:spPr>
          <a:xfrm xmlns:a="http://schemas.openxmlformats.org/drawingml/2006/main">
            <a:off x="7867650" y="4038600"/>
            <a:ext cx="321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979"/>
          </a:bodyPr>
          <a:lstStyle xmlns:a="http://schemas.openxmlformats.org/drawingml/2006/main"/>
          <a:p xmlns:a="http://schemas.openxmlformats.org/drawingml/2006/main">
            <a:pPr>
              <a:defRPr sz="1275" b="0">
                <a:solidFill>
                  <a:srgbClr val="263238"/>
                </a:solidFill>
                <a:latin typeface="Aptos"/>
                <a:ea typeface="Aptos"/>
                <a:cs typeface="Aptos"/>
              </a:defRPr>
            </a:pPr>
            <a:r>
              <a:rPr sz="1275" b="0">
                <a:solidFill>
                  <a:srgbClr val="263238"/>
                </a:solidFill>
                <a:latin typeface="Aptos"/>
                <a:ea typeface="Aptos"/>
                <a:cs typeface="Aptos"/>
              </a:rPr>
              <a:t>Which dimensions should monitoring teams examine?</a:t>
            </a:r>
          </a:p>
        </p:txBody>
      </p:sp>
      <p:sp>
        <p:nvSpPr>
          <p:cNvPr id="19" name="">
            <a:extLst xmlns:a="http://schemas.openxmlformats.org/drawingml/2006/main">
              <a:ext uri="{FF2B5EF4-FFF2-40B4-BE49-F238E27FC236}">
                <a16:creationId xmlns:a16="http://schemas.microsoft.com/office/drawing/2014/main" id="{54BCA5ED-1C14-4F4F-BFF0-A61AC6751B0E}"/>
              </a:ext>
            </a:extLst>
          </p:cNvPr>
          <p:cNvSpPr>
            <a:spLocks xmlns:a="http://schemas.openxmlformats.org/drawingml/2006/main" noGrp="1"/>
          </p:cNvSpPr>
          <p:nvPr/>
        </p:nvSpPr>
        <p:spPr>
          <a:xfrm xmlns:a="http://schemas.openxmlformats.org/drawingml/2006/main">
            <a:off x="666750" y="38385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D64545"/>
                </a:solidFill>
                <a:latin typeface="Aptos"/>
                <a:ea typeface="Aptos"/>
                <a:cs typeface="Aptos"/>
              </a:defRPr>
            </a:pPr>
            <a:r>
              <a:rPr sz="1275" b="1">
                <a:solidFill>
                  <a:srgbClr val="D64545"/>
                </a:solidFill>
                <a:latin typeface="Aptos"/>
                <a:ea typeface="Aptos"/>
                <a:cs typeface="Aptos"/>
              </a:rPr>
              <a:t>Scope boundary</a:t>
            </a:r>
          </a:p>
        </p:txBody>
      </p:sp>
      <p:sp>
        <p:nvSpPr>
          <p:cNvPr id="20" name="">
            <a:extLst xmlns:a="http://schemas.openxmlformats.org/drawingml/2006/main">
              <a:ext uri="{FF2B5EF4-FFF2-40B4-BE49-F238E27FC236}">
                <a16:creationId xmlns:a16="http://schemas.microsoft.com/office/drawing/2014/main" id="{49655812-2A31-4514-9189-1D6F8574D017}"/>
              </a:ext>
            </a:extLst>
          </p:cNvPr>
          <p:cNvSpPr>
            <a:spLocks xmlns:a="http://schemas.openxmlformats.org/drawingml/2006/main" noGrp="1"/>
          </p:cNvSpPr>
          <p:nvPr/>
        </p:nvSpPr>
        <p:spPr>
          <a:xfrm xmlns:a="http://schemas.openxmlformats.org/drawingml/2006/main">
            <a:off x="666750" y="4181475"/>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263238"/>
                </a:solidFill>
                <a:latin typeface="Aptos"/>
                <a:ea typeface="Aptos"/>
                <a:cs typeface="Aptos"/>
              </a:defRPr>
            </a:pPr>
            <a:r>
              <a:rPr sz="1425" b="0">
                <a:solidFill>
                  <a:srgbClr val="263238"/>
                </a:solidFill>
                <a:latin typeface="Aptos"/>
                <a:ea typeface="Aptos"/>
                <a:cs typeface="Aptos"/>
              </a:rPr>
              <a:t>This is retrospective analysis of a 2024 dataset. It does not represent a live fraud detection service.</a:t>
            </a:r>
          </a:p>
        </p:txBody>
      </p:sp>
    </p:spTree>
    <p:extLst>
      <p:ext uri="{BB962C8B-B14F-4D97-AF65-F5344CB8AC3E}">
        <p14:creationId xmlns:p14="http://schemas.microsoft.com/office/powerpoint/2010/main" val="739467667"/>
      </p:ext>
    </p:extLst>
  </p:cSld>
</p:sld>
</file>

<file path=ppt/slides/slide4.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999B54E-45DD-41AB-BECF-261944D388F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B6C729-FB92-4F09-B242-E76956FAD854}"/>
              </a:ext>
            </a:extLst>
          </p:cNvPr>
          <p:cNvSpPr>
            <a:spLocks xmlns:a="http://schemas.openxmlformats.org/drawingml/2006/main" noGrp="1"/>
          </p:cNvSpPr>
          <p:nvPr/>
        </p:nvSpPr>
        <p:spPr>
          <a:xfrm xmlns:a="http://schemas.openxmlformats.org/drawingml/2006/main">
            <a:off x="590550" y="266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01  |  CONTEXT</a:t>
            </a:r>
          </a:p>
        </p:txBody>
      </p:sp>
      <p:sp>
        <p:nvSpPr>
          <p:cNvPr id="3" name="">
            <a:extLst xmlns:a="http://schemas.openxmlformats.org/drawingml/2006/main">
              <a:ext uri="{FF2B5EF4-FFF2-40B4-BE49-F238E27FC236}">
                <a16:creationId xmlns:a16="http://schemas.microsoft.com/office/drawing/2014/main" id="{968C438F-7F28-4444-B81A-0F6260DE77F3}"/>
              </a:ext>
            </a:extLst>
          </p:cNvPr>
          <p:cNvSpPr>
            <a:spLocks xmlns:a="http://schemas.openxmlformats.org/drawingml/2006/main" noGrp="1"/>
          </p:cNvSpPr>
          <p:nvPr/>
        </p:nvSpPr>
        <p:spPr>
          <a:xfrm xmlns:a="http://schemas.openxmlformats.org/drawingml/2006/main">
            <a:off x="590550" y="600075"/>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23B5D"/>
                </a:solidFill>
                <a:latin typeface="Aptos"/>
                <a:ea typeface="Aptos"/>
                <a:cs typeface="Aptos"/>
              </a:defRPr>
            </a:pPr>
            <a:r>
              <a:rPr sz="2550" b="1">
                <a:solidFill>
                  <a:srgbClr val="123B5D"/>
                </a:solidFill>
                <a:latin typeface="Aptos"/>
                <a:ea typeface="Aptos"/>
                <a:cs typeface="Aptos"/>
              </a:rPr>
              <a:t>Project objectives</a:t>
            </a:r>
          </a:p>
        </p:txBody>
      </p:sp>
      <p:sp>
        <p:nvSpPr>
          <p:cNvPr id="4" name="">
            <a:extLst xmlns:a="http://schemas.openxmlformats.org/drawingml/2006/main">
              <a:ext uri="{FF2B5EF4-FFF2-40B4-BE49-F238E27FC236}">
                <a16:creationId xmlns:a16="http://schemas.microsoft.com/office/drawing/2014/main" id="{B8077FCB-8EE6-4A44-B5C3-10B13D05684D}"/>
              </a:ext>
            </a:extLst>
          </p:cNvPr>
          <p:cNvSpPr>
            <a:spLocks xmlns:a="http://schemas.openxmlformats.org/drawingml/2006/main" noGrp="1"/>
          </p:cNvSpPr>
          <p:nvPr/>
        </p:nvSpPr>
        <p:spPr>
          <a:xfrm xmlns:a="http://schemas.openxmlformats.org/drawingml/2006/main">
            <a:off x="590550" y="6419850"/>
            <a:ext cx="10991850" cy="9525"/>
          </a:xfrm>
          <a:prstGeom xmlns:a="http://schemas.openxmlformats.org/drawingml/2006/main" prst="rect">
            <a:avLst/>
          </a:prstGeom>
          <a:solidFill xmlns:a="http://schemas.openxmlformats.org/drawingml/2006/main">
            <a:srgbClr val="DC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1FDC792-D079-4481-BAE3-CF65F35B4C7D}"/>
              </a:ext>
            </a:extLst>
          </p:cNvPr>
          <p:cNvSpPr>
            <a:spLocks xmlns:a="http://schemas.openxmlformats.org/drawingml/2006/main" noGrp="1"/>
          </p:cNvSpPr>
          <p:nvPr/>
        </p:nvSpPr>
        <p:spPr>
          <a:xfrm xmlns:a="http://schemas.openxmlformats.org/drawingml/2006/main">
            <a:off x="59055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ANUDIP FOUNDATION  •  DATA ANALYTICS PROJECT</a:t>
            </a:r>
          </a:p>
        </p:txBody>
      </p:sp>
      <p:sp>
        <p:nvSpPr>
          <p:cNvPr id="6" name="">
            <a:extLst xmlns:a="http://schemas.openxmlformats.org/drawingml/2006/main">
              <a:ext uri="{FF2B5EF4-FFF2-40B4-BE49-F238E27FC236}">
                <a16:creationId xmlns:a16="http://schemas.microsoft.com/office/drawing/2014/main" id="{25CFD589-12FF-4254-B312-496C50B01461}"/>
              </a:ext>
            </a:extLst>
          </p:cNvPr>
          <p:cNvSpPr>
            <a:spLocks xmlns:a="http://schemas.openxmlformats.org/drawingml/2006/main" noGrp="1"/>
          </p:cNvSpPr>
          <p:nvPr/>
        </p:nvSpPr>
        <p:spPr>
          <a:xfrm xmlns:a="http://schemas.openxmlformats.org/drawingml/2006/main">
            <a:off x="112014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1">
                <a:solidFill>
                  <a:srgbClr val="61727E"/>
                </a:solidFill>
                <a:latin typeface="Aptos"/>
                <a:ea typeface="Aptos"/>
                <a:cs typeface="Aptos"/>
              </a:defRPr>
            </a:pPr>
            <a:r>
              <a:rPr sz="900" b="1">
                <a:solidFill>
                  <a:srgbClr val="61727E"/>
                </a:solidFill>
                <a:latin typeface="Aptos"/>
                <a:ea typeface="Aptos"/>
                <a:cs typeface="Aptos"/>
              </a:rPr>
              <a:t>04</a:t>
            </a:r>
          </a:p>
        </p:txBody>
      </p:sp>
      <p:sp>
        <p:nvSpPr>
          <p:cNvPr id="7" name="">
            <a:extLst xmlns:a="http://schemas.openxmlformats.org/drawingml/2006/main">
              <a:ext uri="{FF2B5EF4-FFF2-40B4-BE49-F238E27FC236}">
                <a16:creationId xmlns:a16="http://schemas.microsoft.com/office/drawing/2014/main" id="{F794668F-8DB2-4076-A54F-5ACF55FAEB9A}"/>
              </a:ext>
            </a:extLst>
          </p:cNvPr>
          <p:cNvSpPr>
            <a:spLocks xmlns:a="http://schemas.openxmlformats.org/drawingml/2006/main" noGrp="1"/>
          </p:cNvSpPr>
          <p:nvPr/>
        </p:nvSpPr>
        <p:spPr>
          <a:xfrm xmlns:a="http://schemas.openxmlformats.org/drawingml/2006/main">
            <a:off x="666750" y="16002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123B5D"/>
                </a:solidFill>
                <a:latin typeface="Aptos"/>
                <a:ea typeface="Aptos"/>
                <a:cs typeface="Aptos"/>
              </a:defRPr>
            </a:pPr>
            <a:r>
              <a:rPr sz="1125" b="1">
                <a:solidFill>
                  <a:srgbClr val="123B5D"/>
                </a:solidFill>
                <a:latin typeface="Aptos"/>
                <a:ea typeface="Aptos"/>
                <a:cs typeface="Aptos"/>
              </a:rPr>
              <a:t>Analysis objectives</a:t>
            </a:r>
          </a:p>
        </p:txBody>
      </p:sp>
      <p:sp>
        <p:nvSpPr>
          <p:cNvPr id="8" name="">
            <a:extLst xmlns:a="http://schemas.openxmlformats.org/drawingml/2006/main">
              <a:ext uri="{FF2B5EF4-FFF2-40B4-BE49-F238E27FC236}">
                <a16:creationId xmlns:a16="http://schemas.microsoft.com/office/drawing/2014/main" id="{9269F140-9680-4F4E-9DA1-8C518633995B}"/>
              </a:ext>
            </a:extLst>
          </p:cNvPr>
          <p:cNvSpPr>
            <a:spLocks xmlns:a="http://schemas.openxmlformats.org/drawingml/2006/main" noGrp="1"/>
          </p:cNvSpPr>
          <p:nvPr/>
        </p:nvSpPr>
        <p:spPr>
          <a:xfrm xmlns:a="http://schemas.openxmlformats.org/drawingml/2006/main">
            <a:off x="723900" y="2085975"/>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8CA70EB-A3D8-42F2-A05C-1C648B8F1327}"/>
              </a:ext>
            </a:extLst>
          </p:cNvPr>
          <p:cNvSpPr>
            <a:spLocks xmlns:a="http://schemas.openxmlformats.org/drawingml/2006/main" noGrp="1"/>
          </p:cNvSpPr>
          <p:nvPr/>
        </p:nvSpPr>
        <p:spPr>
          <a:xfrm xmlns:a="http://schemas.openxmlformats.org/drawingml/2006/main">
            <a:off x="933450" y="2000250"/>
            <a:ext cx="4743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263238"/>
                </a:solidFill>
                <a:latin typeface="Aptos"/>
                <a:ea typeface="Aptos"/>
                <a:cs typeface="Aptos"/>
              </a:defRPr>
            </a:pPr>
            <a:r>
              <a:rPr sz="1425" b="0">
                <a:solidFill>
                  <a:srgbClr val="263238"/>
                </a:solidFill>
                <a:latin typeface="Aptos"/>
                <a:ea typeface="Aptos"/>
                <a:cs typeface="Aptos"/>
              </a:rPr>
              <a:t>Measure transaction volume and value</a:t>
            </a:r>
          </a:p>
        </p:txBody>
      </p:sp>
      <p:sp>
        <p:nvSpPr>
          <p:cNvPr id="10" name="">
            <a:extLst xmlns:a="http://schemas.openxmlformats.org/drawingml/2006/main">
              <a:ext uri="{FF2B5EF4-FFF2-40B4-BE49-F238E27FC236}">
                <a16:creationId xmlns:a16="http://schemas.microsoft.com/office/drawing/2014/main" id="{BA329A24-7065-4B96-A8B3-B2E7668704E4}"/>
              </a:ext>
            </a:extLst>
          </p:cNvPr>
          <p:cNvSpPr>
            <a:spLocks xmlns:a="http://schemas.openxmlformats.org/drawingml/2006/main" noGrp="1"/>
          </p:cNvSpPr>
          <p:nvPr/>
        </p:nvSpPr>
        <p:spPr>
          <a:xfrm xmlns:a="http://schemas.openxmlformats.org/drawingml/2006/main">
            <a:off x="723900" y="2828925"/>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463D035-95F6-4476-9BD9-E4E0F08FDA96}"/>
              </a:ext>
            </a:extLst>
          </p:cNvPr>
          <p:cNvSpPr>
            <a:spLocks xmlns:a="http://schemas.openxmlformats.org/drawingml/2006/main" noGrp="1"/>
          </p:cNvSpPr>
          <p:nvPr/>
        </p:nvSpPr>
        <p:spPr>
          <a:xfrm xmlns:a="http://schemas.openxmlformats.org/drawingml/2006/main">
            <a:off x="933450" y="2743200"/>
            <a:ext cx="4743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263238"/>
                </a:solidFill>
                <a:latin typeface="Aptos"/>
                <a:ea typeface="Aptos"/>
                <a:cs typeface="Aptos"/>
              </a:defRPr>
            </a:pPr>
            <a:r>
              <a:rPr sz="1425" b="0">
                <a:solidFill>
                  <a:srgbClr val="263238"/>
                </a:solidFill>
                <a:latin typeface="Aptos"/>
                <a:ea typeface="Aptos"/>
                <a:cs typeface="Aptos"/>
              </a:rPr>
              <a:t>Compare successful and failed transactions</a:t>
            </a:r>
          </a:p>
        </p:txBody>
      </p:sp>
      <p:sp>
        <p:nvSpPr>
          <p:cNvPr id="12" name="">
            <a:extLst xmlns:a="http://schemas.openxmlformats.org/drawingml/2006/main">
              <a:ext uri="{FF2B5EF4-FFF2-40B4-BE49-F238E27FC236}">
                <a16:creationId xmlns:a16="http://schemas.microsoft.com/office/drawing/2014/main" id="{58BA5E4E-4373-4AA7-9F3B-3DF8302D6258}"/>
              </a:ext>
            </a:extLst>
          </p:cNvPr>
          <p:cNvSpPr>
            <a:spLocks xmlns:a="http://schemas.openxmlformats.org/drawingml/2006/main" noGrp="1"/>
          </p:cNvSpPr>
          <p:nvPr/>
        </p:nvSpPr>
        <p:spPr>
          <a:xfrm xmlns:a="http://schemas.openxmlformats.org/drawingml/2006/main">
            <a:off x="723900" y="3571875"/>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591BA3F-91F6-4E44-B90A-6F43C31FDC50}"/>
              </a:ext>
            </a:extLst>
          </p:cNvPr>
          <p:cNvSpPr>
            <a:spLocks xmlns:a="http://schemas.openxmlformats.org/drawingml/2006/main" noGrp="1"/>
          </p:cNvSpPr>
          <p:nvPr/>
        </p:nvSpPr>
        <p:spPr>
          <a:xfrm xmlns:a="http://schemas.openxmlformats.org/drawingml/2006/main">
            <a:off x="933450" y="3486150"/>
            <a:ext cx="4743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263238"/>
                </a:solidFill>
                <a:latin typeface="Aptos"/>
                <a:ea typeface="Aptos"/>
                <a:cs typeface="Aptos"/>
              </a:defRPr>
            </a:pPr>
            <a:r>
              <a:rPr sz="1425" b="0">
                <a:solidFill>
                  <a:srgbClr val="263238"/>
                </a:solidFill>
                <a:latin typeface="Aptos"/>
                <a:ea typeface="Aptos"/>
                <a:cs typeface="Aptos"/>
              </a:rPr>
              <a:t>Summarize fraud count, value and rates</a:t>
            </a:r>
          </a:p>
        </p:txBody>
      </p:sp>
      <p:sp>
        <p:nvSpPr>
          <p:cNvPr id="14" name="">
            <a:extLst xmlns:a="http://schemas.openxmlformats.org/drawingml/2006/main">
              <a:ext uri="{FF2B5EF4-FFF2-40B4-BE49-F238E27FC236}">
                <a16:creationId xmlns:a16="http://schemas.microsoft.com/office/drawing/2014/main" id="{F6CC53DA-07BB-4D81-928D-6228FBDB54E3}"/>
              </a:ext>
            </a:extLst>
          </p:cNvPr>
          <p:cNvSpPr>
            <a:spLocks xmlns:a="http://schemas.openxmlformats.org/drawingml/2006/main" noGrp="1"/>
          </p:cNvSpPr>
          <p:nvPr/>
        </p:nvSpPr>
        <p:spPr>
          <a:xfrm xmlns:a="http://schemas.openxmlformats.org/drawingml/2006/main">
            <a:off x="723900" y="4314825"/>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FCA75BA-2813-4C1F-BB92-0BED27E75675}"/>
              </a:ext>
            </a:extLst>
          </p:cNvPr>
          <p:cNvSpPr>
            <a:spLocks xmlns:a="http://schemas.openxmlformats.org/drawingml/2006/main" noGrp="1"/>
          </p:cNvSpPr>
          <p:nvPr/>
        </p:nvSpPr>
        <p:spPr>
          <a:xfrm xmlns:a="http://schemas.openxmlformats.org/drawingml/2006/main">
            <a:off x="933450" y="4229100"/>
            <a:ext cx="4743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263238"/>
                </a:solidFill>
                <a:latin typeface="Aptos"/>
                <a:ea typeface="Aptos"/>
                <a:cs typeface="Aptos"/>
              </a:defRPr>
            </a:pPr>
            <a:r>
              <a:rPr sz="1425" b="0">
                <a:solidFill>
                  <a:srgbClr val="263238"/>
                </a:solidFill>
                <a:latin typeface="Aptos"/>
                <a:ea typeface="Aptos"/>
                <a:cs typeface="Aptos"/>
              </a:rPr>
              <a:t>Break down flagged records by type and category</a:t>
            </a:r>
          </a:p>
        </p:txBody>
      </p:sp>
      <p:sp>
        <p:nvSpPr>
          <p:cNvPr id="16" name="">
            <a:extLst xmlns:a="http://schemas.openxmlformats.org/drawingml/2006/main">
              <a:ext uri="{FF2B5EF4-FFF2-40B4-BE49-F238E27FC236}">
                <a16:creationId xmlns:a16="http://schemas.microsoft.com/office/drawing/2014/main" id="{A5DC130F-0DDE-4115-A167-C11B1986B59E}"/>
              </a:ext>
            </a:extLst>
          </p:cNvPr>
          <p:cNvSpPr>
            <a:spLocks xmlns:a="http://schemas.openxmlformats.org/drawingml/2006/main" noGrp="1"/>
          </p:cNvSpPr>
          <p:nvPr/>
        </p:nvSpPr>
        <p:spPr>
          <a:xfrm xmlns:a="http://schemas.openxmlformats.org/drawingml/2006/main">
            <a:off x="6248400" y="2085975"/>
            <a:ext cx="76200" cy="7620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2A80D15-73ED-46EB-9696-9EFA27CFCDA7}"/>
              </a:ext>
            </a:extLst>
          </p:cNvPr>
          <p:cNvSpPr>
            <a:spLocks xmlns:a="http://schemas.openxmlformats.org/drawingml/2006/main" noGrp="1"/>
          </p:cNvSpPr>
          <p:nvPr/>
        </p:nvSpPr>
        <p:spPr>
          <a:xfrm xmlns:a="http://schemas.openxmlformats.org/drawingml/2006/main">
            <a:off x="6457950" y="2000250"/>
            <a:ext cx="4933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D64545"/>
                </a:solidFill>
                <a:latin typeface="Aptos"/>
                <a:ea typeface="Aptos"/>
                <a:cs typeface="Aptos"/>
              </a:defRPr>
            </a:pPr>
            <a:r>
              <a:rPr sz="1425" b="0">
                <a:solidFill>
                  <a:srgbClr val="D64545"/>
                </a:solidFill>
                <a:latin typeface="Aptos"/>
                <a:ea typeface="Aptos"/>
                <a:cs typeface="Aptos"/>
              </a:rPr>
              <a:t>Compare flagged records by sender state and device</a:t>
            </a:r>
          </a:p>
        </p:txBody>
      </p:sp>
      <p:sp>
        <p:nvSpPr>
          <p:cNvPr id="18" name="">
            <a:extLst xmlns:a="http://schemas.openxmlformats.org/drawingml/2006/main">
              <a:ext uri="{FF2B5EF4-FFF2-40B4-BE49-F238E27FC236}">
                <a16:creationId xmlns:a16="http://schemas.microsoft.com/office/drawing/2014/main" id="{AD5E49F8-91F3-4651-BA95-2C99C2B14D87}"/>
              </a:ext>
            </a:extLst>
          </p:cNvPr>
          <p:cNvSpPr>
            <a:spLocks xmlns:a="http://schemas.openxmlformats.org/drawingml/2006/main" noGrp="1"/>
          </p:cNvSpPr>
          <p:nvPr/>
        </p:nvSpPr>
        <p:spPr>
          <a:xfrm xmlns:a="http://schemas.openxmlformats.org/drawingml/2006/main">
            <a:off x="6248400" y="2828925"/>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A5F6B7E-924A-41C6-A6BF-0BB09DEF1E4F}"/>
              </a:ext>
            </a:extLst>
          </p:cNvPr>
          <p:cNvSpPr>
            <a:spLocks xmlns:a="http://schemas.openxmlformats.org/drawingml/2006/main" noGrp="1"/>
          </p:cNvSpPr>
          <p:nvPr/>
        </p:nvSpPr>
        <p:spPr>
          <a:xfrm xmlns:a="http://schemas.openxmlformats.org/drawingml/2006/main">
            <a:off x="6457950" y="2743200"/>
            <a:ext cx="4933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263238"/>
                </a:solidFill>
                <a:latin typeface="Aptos"/>
                <a:ea typeface="Aptos"/>
                <a:cs typeface="Aptos"/>
              </a:defRPr>
            </a:pPr>
            <a:r>
              <a:rPr sz="1425" b="0">
                <a:solidFill>
                  <a:srgbClr val="263238"/>
                </a:solidFill>
                <a:latin typeface="Aptos"/>
                <a:ea typeface="Aptos"/>
                <a:cs typeface="Aptos"/>
              </a:rPr>
              <a:t>Build consistent date filtering with a Calendar table</a:t>
            </a:r>
          </a:p>
        </p:txBody>
      </p:sp>
      <p:sp>
        <p:nvSpPr>
          <p:cNvPr id="20" name="">
            <a:extLst xmlns:a="http://schemas.openxmlformats.org/drawingml/2006/main">
              <a:ext uri="{FF2B5EF4-FFF2-40B4-BE49-F238E27FC236}">
                <a16:creationId xmlns:a16="http://schemas.microsoft.com/office/drawing/2014/main" id="{E8ECD66C-6836-4C1D-9D03-37249782C69F}"/>
              </a:ext>
            </a:extLst>
          </p:cNvPr>
          <p:cNvSpPr>
            <a:spLocks xmlns:a="http://schemas.openxmlformats.org/drawingml/2006/main" noGrp="1"/>
          </p:cNvSpPr>
          <p:nvPr/>
        </p:nvSpPr>
        <p:spPr>
          <a:xfrm xmlns:a="http://schemas.openxmlformats.org/drawingml/2006/main">
            <a:off x="6248400" y="3571875"/>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783C1F1-054C-4A72-9AA1-CFAF90659A3C}"/>
              </a:ext>
            </a:extLst>
          </p:cNvPr>
          <p:cNvSpPr>
            <a:spLocks xmlns:a="http://schemas.openxmlformats.org/drawingml/2006/main" noGrp="1"/>
          </p:cNvSpPr>
          <p:nvPr/>
        </p:nvSpPr>
        <p:spPr>
          <a:xfrm xmlns:a="http://schemas.openxmlformats.org/drawingml/2006/main">
            <a:off x="6457950" y="3486150"/>
            <a:ext cx="4933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263238"/>
                </a:solidFill>
                <a:latin typeface="Aptos"/>
                <a:ea typeface="Aptos"/>
                <a:cs typeface="Aptos"/>
              </a:defRPr>
            </a:pPr>
            <a:r>
              <a:rPr sz="1425" b="0">
                <a:solidFill>
                  <a:srgbClr val="263238"/>
                </a:solidFill>
                <a:latin typeface="Aptos"/>
                <a:ea typeface="Aptos"/>
                <a:cs typeface="Aptos"/>
              </a:rPr>
              <a:t>Present findings in interactive Power BI pages</a:t>
            </a:r>
          </a:p>
        </p:txBody>
      </p:sp>
      <p:sp>
        <p:nvSpPr>
          <p:cNvPr id="22" name="">
            <a:extLst xmlns:a="http://schemas.openxmlformats.org/drawingml/2006/main">
              <a:ext uri="{FF2B5EF4-FFF2-40B4-BE49-F238E27FC236}">
                <a16:creationId xmlns:a16="http://schemas.microsoft.com/office/drawing/2014/main" id="{D033F4D8-FE32-45E1-911E-F17818B23005}"/>
              </a:ext>
            </a:extLst>
          </p:cNvPr>
          <p:cNvSpPr>
            <a:spLocks xmlns:a="http://schemas.openxmlformats.org/drawingml/2006/main" noGrp="1"/>
          </p:cNvSpPr>
          <p:nvPr/>
        </p:nvSpPr>
        <p:spPr>
          <a:xfrm xmlns:a="http://schemas.openxmlformats.org/drawingml/2006/main">
            <a:off x="6248400" y="4314825"/>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51B0D3D-E2BB-4948-B09A-B75F5E6A4D02}"/>
              </a:ext>
            </a:extLst>
          </p:cNvPr>
          <p:cNvSpPr>
            <a:spLocks xmlns:a="http://schemas.openxmlformats.org/drawingml/2006/main" noGrp="1"/>
          </p:cNvSpPr>
          <p:nvPr/>
        </p:nvSpPr>
        <p:spPr>
          <a:xfrm xmlns:a="http://schemas.openxmlformats.org/drawingml/2006/main">
            <a:off x="6457950" y="4229100"/>
            <a:ext cx="4933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263238"/>
                </a:solidFill>
                <a:latin typeface="Aptos"/>
                <a:ea typeface="Aptos"/>
                <a:cs typeface="Aptos"/>
              </a:defRPr>
            </a:pPr>
            <a:r>
              <a:rPr sz="1425" b="0">
                <a:solidFill>
                  <a:srgbClr val="263238"/>
                </a:solidFill>
                <a:latin typeface="Aptos"/>
                <a:ea typeface="Aptos"/>
                <a:cs typeface="Aptos"/>
              </a:rPr>
              <a:t>Turn findings into realistic recommendations</a:t>
            </a:r>
          </a:p>
        </p:txBody>
      </p:sp>
    </p:spTree>
    <p:extLst>
      <p:ext uri="{BB962C8B-B14F-4D97-AF65-F5344CB8AC3E}">
        <p14:creationId xmlns:p14="http://schemas.microsoft.com/office/powerpoint/2010/main" val="856947488"/>
      </p:ext>
    </p:extLst>
  </p:cSld>
</p:sld>
</file>

<file path=ppt/slides/slide5.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5B2A2A2-FEE9-4446-99E5-6739F8FAA37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A0BC83-8957-4D25-9876-C702942510E2}"/>
              </a:ext>
            </a:extLst>
          </p:cNvPr>
          <p:cNvSpPr>
            <a:spLocks xmlns:a="http://schemas.openxmlformats.org/drawingml/2006/main" noGrp="1"/>
          </p:cNvSpPr>
          <p:nvPr/>
        </p:nvSpPr>
        <p:spPr>
          <a:xfrm xmlns:a="http://schemas.openxmlformats.org/drawingml/2006/main">
            <a:off x="590550" y="266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01  |  CONTEXT</a:t>
            </a:r>
          </a:p>
        </p:txBody>
      </p:sp>
      <p:sp>
        <p:nvSpPr>
          <p:cNvPr id="3" name="">
            <a:extLst xmlns:a="http://schemas.openxmlformats.org/drawingml/2006/main">
              <a:ext uri="{FF2B5EF4-FFF2-40B4-BE49-F238E27FC236}">
                <a16:creationId xmlns:a16="http://schemas.microsoft.com/office/drawing/2014/main" id="{0AFFFA0E-E0F1-4132-B311-3E4CB86A2DB8}"/>
              </a:ext>
            </a:extLst>
          </p:cNvPr>
          <p:cNvSpPr>
            <a:spLocks xmlns:a="http://schemas.openxmlformats.org/drawingml/2006/main" noGrp="1"/>
          </p:cNvSpPr>
          <p:nvPr/>
        </p:nvSpPr>
        <p:spPr>
          <a:xfrm xmlns:a="http://schemas.openxmlformats.org/drawingml/2006/main">
            <a:off x="590550" y="600075"/>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23B5D"/>
                </a:solidFill>
                <a:latin typeface="Aptos"/>
                <a:ea typeface="Aptos"/>
                <a:cs typeface="Aptos"/>
              </a:defRPr>
            </a:pPr>
            <a:r>
              <a:rPr sz="2550" b="1">
                <a:solidFill>
                  <a:srgbClr val="123B5D"/>
                </a:solidFill>
                <a:latin typeface="Aptos"/>
                <a:ea typeface="Aptos"/>
                <a:cs typeface="Aptos"/>
              </a:rPr>
              <a:t>Digital payment analytics context</a:t>
            </a:r>
          </a:p>
        </p:txBody>
      </p:sp>
      <p:sp>
        <p:nvSpPr>
          <p:cNvPr id="4" name="">
            <a:extLst xmlns:a="http://schemas.openxmlformats.org/drawingml/2006/main">
              <a:ext uri="{FF2B5EF4-FFF2-40B4-BE49-F238E27FC236}">
                <a16:creationId xmlns:a16="http://schemas.microsoft.com/office/drawing/2014/main" id="{3CE32B4F-E7F5-437A-B930-B0F8B16965EC}"/>
              </a:ext>
            </a:extLst>
          </p:cNvPr>
          <p:cNvSpPr>
            <a:spLocks xmlns:a="http://schemas.openxmlformats.org/drawingml/2006/main" noGrp="1"/>
          </p:cNvSpPr>
          <p:nvPr/>
        </p:nvSpPr>
        <p:spPr>
          <a:xfrm xmlns:a="http://schemas.openxmlformats.org/drawingml/2006/main">
            <a:off x="609600" y="11334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1727E"/>
                </a:solidFill>
                <a:latin typeface="Aptos"/>
                <a:ea typeface="Aptos"/>
                <a:cs typeface="Aptos"/>
              </a:defRPr>
            </a:pPr>
            <a:r>
              <a:rPr sz="1275" b="0">
                <a:solidFill>
                  <a:srgbClr val="61727E"/>
                </a:solidFill>
                <a:latin typeface="Aptos"/>
                <a:ea typeface="Aptos"/>
                <a:cs typeface="Aptos"/>
              </a:rPr>
              <a:t>The project focuses on a familiar business need without introducing unsupported market statistics</a:t>
            </a:r>
          </a:p>
        </p:txBody>
      </p:sp>
      <p:sp>
        <p:nvSpPr>
          <p:cNvPr id="5" name="">
            <a:extLst xmlns:a="http://schemas.openxmlformats.org/drawingml/2006/main">
              <a:ext uri="{FF2B5EF4-FFF2-40B4-BE49-F238E27FC236}">
                <a16:creationId xmlns:a16="http://schemas.microsoft.com/office/drawing/2014/main" id="{A9061197-5CB6-4788-A4A5-49F4EF1B2807}"/>
              </a:ext>
            </a:extLst>
          </p:cNvPr>
          <p:cNvSpPr>
            <a:spLocks xmlns:a="http://schemas.openxmlformats.org/drawingml/2006/main" noGrp="1"/>
          </p:cNvSpPr>
          <p:nvPr/>
        </p:nvSpPr>
        <p:spPr>
          <a:xfrm xmlns:a="http://schemas.openxmlformats.org/drawingml/2006/main">
            <a:off x="590550" y="6419850"/>
            <a:ext cx="10991850" cy="9525"/>
          </a:xfrm>
          <a:prstGeom xmlns:a="http://schemas.openxmlformats.org/drawingml/2006/main" prst="rect">
            <a:avLst/>
          </a:prstGeom>
          <a:solidFill xmlns:a="http://schemas.openxmlformats.org/drawingml/2006/main">
            <a:srgbClr val="DCE5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7189D3F-7043-4E8C-8B5A-9089C4FE0F1D}"/>
              </a:ext>
            </a:extLst>
          </p:cNvPr>
          <p:cNvSpPr>
            <a:spLocks xmlns:a="http://schemas.openxmlformats.org/drawingml/2006/main" noGrp="1"/>
          </p:cNvSpPr>
          <p:nvPr/>
        </p:nvSpPr>
        <p:spPr>
          <a:xfrm xmlns:a="http://schemas.openxmlformats.org/drawingml/2006/main">
            <a:off x="59055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ANUDIP FOUNDATION  •  DATA ANALYTICS PROJECT</a:t>
            </a:r>
          </a:p>
        </p:txBody>
      </p:sp>
      <p:sp>
        <p:nvSpPr>
          <p:cNvPr id="7" name="">
            <a:extLst xmlns:a="http://schemas.openxmlformats.org/drawingml/2006/main">
              <a:ext uri="{FF2B5EF4-FFF2-40B4-BE49-F238E27FC236}">
                <a16:creationId xmlns:a16="http://schemas.microsoft.com/office/drawing/2014/main" id="{C0EE86E3-B1D0-418C-A4D4-274F51CA42B5}"/>
              </a:ext>
            </a:extLst>
          </p:cNvPr>
          <p:cNvSpPr>
            <a:spLocks xmlns:a="http://schemas.openxmlformats.org/drawingml/2006/main" noGrp="1"/>
          </p:cNvSpPr>
          <p:nvPr/>
        </p:nvSpPr>
        <p:spPr>
          <a:xfrm xmlns:a="http://schemas.openxmlformats.org/drawingml/2006/main">
            <a:off x="112014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1">
                <a:solidFill>
                  <a:srgbClr val="61727E"/>
                </a:solidFill>
                <a:latin typeface="Aptos"/>
                <a:ea typeface="Aptos"/>
                <a:cs typeface="Aptos"/>
              </a:defRPr>
            </a:pPr>
            <a:r>
              <a:rPr sz="900" b="1">
                <a:solidFill>
                  <a:srgbClr val="61727E"/>
                </a:solidFill>
                <a:latin typeface="Aptos"/>
                <a:ea typeface="Aptos"/>
                <a:cs typeface="Aptos"/>
              </a:rPr>
              <a:t>05</a:t>
            </a:r>
          </a:p>
        </p:txBody>
      </p:sp>
      <p:sp>
        <p:nvSpPr>
          <p:cNvPr id="8" name="">
            <a:extLst xmlns:a="http://schemas.openxmlformats.org/drawingml/2006/main">
              <a:ext uri="{FF2B5EF4-FFF2-40B4-BE49-F238E27FC236}">
                <a16:creationId xmlns:a16="http://schemas.microsoft.com/office/drawing/2014/main" id="{1F7241FF-84AF-42D6-B7A1-668406D6F92B}"/>
              </a:ext>
            </a:extLst>
          </p:cNvPr>
          <p:cNvSpPr>
            <a:spLocks xmlns:a="http://schemas.openxmlformats.org/drawingml/2006/main" noGrp="1"/>
          </p:cNvSpPr>
          <p:nvPr/>
        </p:nvSpPr>
        <p:spPr>
          <a:xfrm xmlns:a="http://schemas.openxmlformats.org/drawingml/2006/main">
            <a:off x="647700" y="1666875"/>
            <a:ext cx="4972050" cy="3524250"/>
          </a:xfrm>
          <a:prstGeom xmlns:a="http://schemas.openxmlformats.org/drawingml/2006/main" prst="roundRect">
            <a:avLst>
              <a:gd name="adj" fmla="val 2162"/>
            </a:avLst>
          </a:prstGeom>
          <a:solidFill xmlns:a="http://schemas.openxmlformats.org/drawingml/2006/main">
            <a:srgbClr val="FFFFFF"/>
          </a:solidFill>
          <a:ln xmlns:a="http://schemas.openxmlformats.org/drawingml/2006/main" w="9525">
            <a:solidFill>
              <a:srgbClr val="DCE5EA"/>
            </a:solidFill>
          </a:ln>
        </p:spPr>
      </p:sp>
      <p:sp>
        <p:nvSpPr>
          <p:cNvPr id="9" name="">
            <a:extLst xmlns:a="http://schemas.openxmlformats.org/drawingml/2006/main">
              <a:ext uri="{FF2B5EF4-FFF2-40B4-BE49-F238E27FC236}">
                <a16:creationId xmlns:a16="http://schemas.microsoft.com/office/drawing/2014/main" id="{85D0553E-4FA4-4D5A-A736-0450DF54DDC5}"/>
              </a:ext>
            </a:extLst>
          </p:cNvPr>
          <p:cNvSpPr>
            <a:spLocks xmlns:a="http://schemas.openxmlformats.org/drawingml/2006/main" noGrp="1"/>
          </p:cNvSpPr>
          <p:nvPr/>
        </p:nvSpPr>
        <p:spPr>
          <a:xfrm xmlns:a="http://schemas.openxmlformats.org/drawingml/2006/main">
            <a:off x="933450" y="19240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123B5D"/>
                </a:solidFill>
                <a:latin typeface="Aptos"/>
                <a:ea typeface="Aptos"/>
                <a:cs typeface="Aptos"/>
              </a:defRPr>
            </a:pPr>
            <a:r>
              <a:rPr sz="1125" b="1">
                <a:solidFill>
                  <a:srgbClr val="123B5D"/>
                </a:solidFill>
                <a:latin typeface="Aptos"/>
                <a:ea typeface="Aptos"/>
                <a:cs typeface="Aptos"/>
              </a:rPr>
              <a:t>Why analyze payment transactions?</a:t>
            </a:r>
          </a:p>
        </p:txBody>
      </p:sp>
      <p:sp>
        <p:nvSpPr>
          <p:cNvPr id="10" name="">
            <a:extLst xmlns:a="http://schemas.openxmlformats.org/drawingml/2006/main">
              <a:ext uri="{FF2B5EF4-FFF2-40B4-BE49-F238E27FC236}">
                <a16:creationId xmlns:a16="http://schemas.microsoft.com/office/drawing/2014/main" id="{FC83A261-52C6-4AF2-8052-BAC6C7149138}"/>
              </a:ext>
            </a:extLst>
          </p:cNvPr>
          <p:cNvSpPr>
            <a:spLocks xmlns:a="http://schemas.openxmlformats.org/drawingml/2006/main" noGrp="1"/>
          </p:cNvSpPr>
          <p:nvPr/>
        </p:nvSpPr>
        <p:spPr>
          <a:xfrm xmlns:a="http://schemas.openxmlformats.org/drawingml/2006/main">
            <a:off x="971550" y="2495550"/>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DB9783F-304F-4D9E-B60E-EF738AA56817}"/>
              </a:ext>
            </a:extLst>
          </p:cNvPr>
          <p:cNvSpPr>
            <a:spLocks xmlns:a="http://schemas.openxmlformats.org/drawingml/2006/main" noGrp="1"/>
          </p:cNvSpPr>
          <p:nvPr/>
        </p:nvSpPr>
        <p:spPr>
          <a:xfrm xmlns:a="http://schemas.openxmlformats.org/drawingml/2006/main">
            <a:off x="1181100" y="2409825"/>
            <a:ext cx="3933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263238"/>
                </a:solidFill>
                <a:latin typeface="Aptos"/>
                <a:ea typeface="Aptos"/>
                <a:cs typeface="Aptos"/>
              </a:defRPr>
            </a:pPr>
            <a:r>
              <a:rPr sz="1425" b="0">
                <a:solidFill>
                  <a:srgbClr val="263238"/>
                </a:solidFill>
                <a:latin typeface="Aptos"/>
                <a:ea typeface="Aptos"/>
                <a:cs typeface="Aptos"/>
              </a:rPr>
              <a:t>High transaction volumes can hide useful patterns.</a:t>
            </a:r>
          </a:p>
        </p:txBody>
      </p:sp>
      <p:sp>
        <p:nvSpPr>
          <p:cNvPr id="12" name="">
            <a:extLst xmlns:a="http://schemas.openxmlformats.org/drawingml/2006/main">
              <a:ext uri="{FF2B5EF4-FFF2-40B4-BE49-F238E27FC236}">
                <a16:creationId xmlns:a16="http://schemas.microsoft.com/office/drawing/2014/main" id="{492437C6-100F-448C-A736-AA9379093EBD}"/>
              </a:ext>
            </a:extLst>
          </p:cNvPr>
          <p:cNvSpPr>
            <a:spLocks xmlns:a="http://schemas.openxmlformats.org/drawingml/2006/main" noGrp="1"/>
          </p:cNvSpPr>
          <p:nvPr/>
        </p:nvSpPr>
        <p:spPr>
          <a:xfrm xmlns:a="http://schemas.openxmlformats.org/drawingml/2006/main">
            <a:off x="971550" y="3171825"/>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97F72D1-9E84-4BA0-93DA-F3F03D82609E}"/>
              </a:ext>
            </a:extLst>
          </p:cNvPr>
          <p:cNvSpPr>
            <a:spLocks xmlns:a="http://schemas.openxmlformats.org/drawingml/2006/main" noGrp="1"/>
          </p:cNvSpPr>
          <p:nvPr/>
        </p:nvSpPr>
        <p:spPr>
          <a:xfrm xmlns:a="http://schemas.openxmlformats.org/drawingml/2006/main">
            <a:off x="1181100" y="3086100"/>
            <a:ext cx="3933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845"/>
          </a:bodyPr>
          <a:lstStyle xmlns:a="http://schemas.openxmlformats.org/drawingml/2006/main"/>
          <a:p xmlns:a="http://schemas.openxmlformats.org/drawingml/2006/main">
            <a:pPr>
              <a:defRPr sz="1425" b="0">
                <a:solidFill>
                  <a:srgbClr val="263238"/>
                </a:solidFill>
                <a:latin typeface="Aptos"/>
                <a:ea typeface="Aptos"/>
                <a:cs typeface="Aptos"/>
              </a:defRPr>
            </a:pPr>
            <a:r>
              <a:rPr sz="1425" b="0">
                <a:solidFill>
                  <a:srgbClr val="263238"/>
                </a:solidFill>
                <a:latin typeface="Aptos"/>
                <a:ea typeface="Aptos"/>
                <a:cs typeface="Aptos"/>
              </a:rPr>
              <a:t>Success, failure and amount provide operational context.</a:t>
            </a:r>
          </a:p>
        </p:txBody>
      </p:sp>
      <p:sp>
        <p:nvSpPr>
          <p:cNvPr id="14" name="">
            <a:extLst xmlns:a="http://schemas.openxmlformats.org/drawingml/2006/main">
              <a:ext uri="{FF2B5EF4-FFF2-40B4-BE49-F238E27FC236}">
                <a16:creationId xmlns:a16="http://schemas.microsoft.com/office/drawing/2014/main" id="{FB2E1B6A-F720-4610-8375-EF12AC15DF51}"/>
              </a:ext>
            </a:extLst>
          </p:cNvPr>
          <p:cNvSpPr>
            <a:spLocks xmlns:a="http://schemas.openxmlformats.org/drawingml/2006/main" noGrp="1"/>
          </p:cNvSpPr>
          <p:nvPr/>
        </p:nvSpPr>
        <p:spPr>
          <a:xfrm xmlns:a="http://schemas.openxmlformats.org/drawingml/2006/main">
            <a:off x="971550" y="3848100"/>
            <a:ext cx="76200" cy="7620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5CE3D47-2AD6-489B-A2A2-DBE3E8278424}"/>
              </a:ext>
            </a:extLst>
          </p:cNvPr>
          <p:cNvSpPr>
            <a:spLocks xmlns:a="http://schemas.openxmlformats.org/drawingml/2006/main" noGrp="1"/>
          </p:cNvSpPr>
          <p:nvPr/>
        </p:nvSpPr>
        <p:spPr>
          <a:xfrm xmlns:a="http://schemas.openxmlformats.org/drawingml/2006/main">
            <a:off x="1181100" y="3762375"/>
            <a:ext cx="3933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187"/>
          </a:bodyPr>
          <a:lstStyle xmlns:a="http://schemas.openxmlformats.org/drawingml/2006/main"/>
          <a:p xmlns:a="http://schemas.openxmlformats.org/drawingml/2006/main">
            <a:pPr>
              <a:defRPr sz="1425" b="0">
                <a:solidFill>
                  <a:srgbClr val="263238"/>
                </a:solidFill>
                <a:latin typeface="Aptos"/>
                <a:ea typeface="Aptos"/>
                <a:cs typeface="Aptos"/>
              </a:defRPr>
            </a:pPr>
            <a:r>
              <a:rPr sz="1425" b="0">
                <a:solidFill>
                  <a:srgbClr val="263238"/>
                </a:solidFill>
                <a:latin typeface="Aptos"/>
                <a:ea typeface="Aptos"/>
                <a:cs typeface="Aptos"/>
              </a:rPr>
              <a:t>Fraud flags can be explored across transaction dimensions.</a:t>
            </a:r>
          </a:p>
        </p:txBody>
      </p:sp>
      <p:sp>
        <p:nvSpPr>
          <p:cNvPr id="16" name="">
            <a:extLst xmlns:a="http://schemas.openxmlformats.org/drawingml/2006/main">
              <a:ext uri="{FF2B5EF4-FFF2-40B4-BE49-F238E27FC236}">
                <a16:creationId xmlns:a16="http://schemas.microsoft.com/office/drawing/2014/main" id="{31781734-A729-4B75-9EFB-018A2758E85E}"/>
              </a:ext>
            </a:extLst>
          </p:cNvPr>
          <p:cNvSpPr>
            <a:spLocks xmlns:a="http://schemas.openxmlformats.org/drawingml/2006/main" noGrp="1"/>
          </p:cNvSpPr>
          <p:nvPr/>
        </p:nvSpPr>
        <p:spPr>
          <a:xfrm xmlns:a="http://schemas.openxmlformats.org/drawingml/2006/main">
            <a:off x="6038850" y="1666875"/>
            <a:ext cx="5467350" cy="3524250"/>
          </a:xfrm>
          <a:prstGeom xmlns:a="http://schemas.openxmlformats.org/drawingml/2006/main" prst="roundRect">
            <a:avLst>
              <a:gd name="adj" fmla="val 2162"/>
            </a:avLst>
          </a:prstGeom>
          <a:solidFill xmlns:a="http://schemas.openxmlformats.org/drawingml/2006/main">
            <a:srgbClr val="EAF2F6"/>
          </a:solidFill>
          <a:ln xmlns:a="http://schemas.openxmlformats.org/drawingml/2006/main" w="9525">
            <a:solidFill>
              <a:srgbClr val="DCE5EA"/>
            </a:solidFill>
          </a:ln>
        </p:spPr>
      </p:sp>
      <p:sp>
        <p:nvSpPr>
          <p:cNvPr id="17" name="">
            <a:extLst xmlns:a="http://schemas.openxmlformats.org/drawingml/2006/main">
              <a:ext uri="{FF2B5EF4-FFF2-40B4-BE49-F238E27FC236}">
                <a16:creationId xmlns:a16="http://schemas.microsoft.com/office/drawing/2014/main" id="{501C637F-7963-4495-9801-C63520B63904}"/>
              </a:ext>
            </a:extLst>
          </p:cNvPr>
          <p:cNvSpPr>
            <a:spLocks xmlns:a="http://schemas.openxmlformats.org/drawingml/2006/main" noGrp="1"/>
          </p:cNvSpPr>
          <p:nvPr/>
        </p:nvSpPr>
        <p:spPr>
          <a:xfrm xmlns:a="http://schemas.openxmlformats.org/drawingml/2006/main">
            <a:off x="6381750" y="20002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652"/>
          </a:bodyPr>
          <a:lstStyle xmlns:a="http://schemas.openxmlformats.org/drawingml/2006/main"/>
          <a:p xmlns:a="http://schemas.openxmlformats.org/drawingml/2006/main">
            <a:pPr>
              <a:defRPr sz="1725" b="1">
                <a:solidFill>
                  <a:srgbClr val="123B5D"/>
                </a:solidFill>
                <a:latin typeface="Aptos"/>
                <a:ea typeface="Aptos"/>
                <a:cs typeface="Aptos"/>
              </a:defRPr>
            </a:pPr>
            <a:r>
              <a:rPr sz="1725" b="1">
                <a:solidFill>
                  <a:srgbClr val="123B5D"/>
                </a:solidFill>
                <a:latin typeface="Aptos"/>
                <a:ea typeface="Aptos"/>
                <a:cs typeface="Aptos"/>
              </a:rPr>
              <a:t>Project framing</a:t>
            </a:r>
          </a:p>
        </p:txBody>
      </p:sp>
      <p:sp>
        <p:nvSpPr>
          <p:cNvPr id="18" name="">
            <a:extLst xmlns:a="http://schemas.openxmlformats.org/drawingml/2006/main">
              <a:ext uri="{FF2B5EF4-FFF2-40B4-BE49-F238E27FC236}">
                <a16:creationId xmlns:a16="http://schemas.microsoft.com/office/drawing/2014/main" id="{AC65C2F6-0400-4790-9CEA-3F6F7AC915EE}"/>
              </a:ext>
            </a:extLst>
          </p:cNvPr>
          <p:cNvSpPr>
            <a:spLocks xmlns:a="http://schemas.openxmlformats.org/drawingml/2006/main" noGrp="1"/>
          </p:cNvSpPr>
          <p:nvPr/>
        </p:nvSpPr>
        <p:spPr>
          <a:xfrm xmlns:a="http://schemas.openxmlformats.org/drawingml/2006/main">
            <a:off x="6381750" y="2543175"/>
            <a:ext cx="4524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263238"/>
                </a:solidFill>
                <a:latin typeface="Aptos"/>
                <a:ea typeface="Aptos"/>
                <a:cs typeface="Aptos"/>
              </a:defRPr>
            </a:pPr>
            <a:r>
              <a:rPr sz="1725" b="1">
                <a:solidFill>
                  <a:srgbClr val="263238"/>
                </a:solidFill>
                <a:latin typeface="Aptos"/>
                <a:ea typeface="Aptos"/>
                <a:cs typeface="Aptos"/>
              </a:rPr>
              <a:t>This presentation reports findings from the supplied project dataset. It makes no claims about official nationwide UPI activity.</a:t>
            </a:r>
          </a:p>
        </p:txBody>
      </p:sp>
      <p:sp>
        <p:nvSpPr>
          <p:cNvPr id="19" name="">
            <a:extLst xmlns:a="http://schemas.openxmlformats.org/drawingml/2006/main">
              <a:ext uri="{FF2B5EF4-FFF2-40B4-BE49-F238E27FC236}">
                <a16:creationId xmlns:a16="http://schemas.microsoft.com/office/drawing/2014/main" id="{04618279-D48B-49CF-A976-E6014624BC12}"/>
              </a:ext>
            </a:extLst>
          </p:cNvPr>
          <p:cNvSpPr>
            <a:spLocks xmlns:a="http://schemas.openxmlformats.org/drawingml/2006/main" noGrp="1"/>
          </p:cNvSpPr>
          <p:nvPr/>
        </p:nvSpPr>
        <p:spPr>
          <a:xfrm xmlns:a="http://schemas.openxmlformats.org/drawingml/2006/main">
            <a:off x="6381750" y="3790950"/>
            <a:ext cx="452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61727E"/>
                </a:solidFill>
                <a:latin typeface="Aptos"/>
                <a:ea typeface="Aptos"/>
                <a:cs typeface="Aptos"/>
              </a:defRPr>
            </a:pPr>
            <a:r>
              <a:rPr sz="1425" b="0">
                <a:solidFill>
                  <a:srgbClr val="61727E"/>
                </a:solidFill>
                <a:latin typeface="Aptos"/>
                <a:ea typeface="Aptos"/>
                <a:cs typeface="Aptos"/>
              </a:rPr>
              <a:t>Analysis can help frame where targeted monitoring questions may be useful.</a:t>
            </a:r>
          </a:p>
        </p:txBody>
      </p:sp>
    </p:spTree>
    <p:extLst>
      <p:ext uri="{BB962C8B-B14F-4D97-AF65-F5344CB8AC3E}">
        <p14:creationId xmlns:p14="http://schemas.microsoft.com/office/powerpoint/2010/main" val="1172813237"/>
      </p:ext>
    </p:extLst>
  </p:cSld>
</p:sld>
</file>

<file path=ppt/slides/slide6.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2EC33106-DBD9-4784-A6F1-977342C2AE9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3D9FCA-5300-4830-BCE2-A505A6EB1F56}"/>
              </a:ext>
            </a:extLst>
          </p:cNvPr>
          <p:cNvSpPr>
            <a:spLocks xmlns:a="http://schemas.openxmlformats.org/drawingml/2006/main" noGrp="1"/>
          </p:cNvSpPr>
          <p:nvPr/>
        </p:nvSpPr>
        <p:spPr>
          <a:xfrm xmlns:a="http://schemas.openxmlformats.org/drawingml/2006/main">
            <a:off x="590550" y="266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02  |  DATA</a:t>
            </a:r>
          </a:p>
        </p:txBody>
      </p:sp>
      <p:sp>
        <p:nvSpPr>
          <p:cNvPr id="3" name="">
            <a:extLst xmlns:a="http://schemas.openxmlformats.org/drawingml/2006/main">
              <a:ext uri="{FF2B5EF4-FFF2-40B4-BE49-F238E27FC236}">
                <a16:creationId xmlns:a16="http://schemas.microsoft.com/office/drawing/2014/main" id="{DD114A4F-6DC5-4ECA-AE7B-9057BD56B166}"/>
              </a:ext>
            </a:extLst>
          </p:cNvPr>
          <p:cNvSpPr>
            <a:spLocks xmlns:a="http://schemas.openxmlformats.org/drawingml/2006/main" noGrp="1"/>
          </p:cNvSpPr>
          <p:nvPr/>
        </p:nvSpPr>
        <p:spPr>
          <a:xfrm xmlns:a="http://schemas.openxmlformats.org/drawingml/2006/main">
            <a:off x="590550" y="600075"/>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23B5D"/>
                </a:solidFill>
                <a:latin typeface="Aptos"/>
                <a:ea typeface="Aptos"/>
                <a:cs typeface="Aptos"/>
              </a:defRPr>
            </a:pPr>
            <a:r>
              <a:rPr sz="2550" b="1">
                <a:solidFill>
                  <a:srgbClr val="123B5D"/>
                </a:solidFill>
                <a:latin typeface="Aptos"/>
                <a:ea typeface="Aptos"/>
                <a:cs typeface="Aptos"/>
              </a:rPr>
              <a:t>Dataset introduction</a:t>
            </a:r>
          </a:p>
        </p:txBody>
      </p:sp>
      <p:sp>
        <p:nvSpPr>
          <p:cNvPr id="4" name="">
            <a:extLst xmlns:a="http://schemas.openxmlformats.org/drawingml/2006/main">
              <a:ext uri="{FF2B5EF4-FFF2-40B4-BE49-F238E27FC236}">
                <a16:creationId xmlns:a16="http://schemas.microsoft.com/office/drawing/2014/main" id="{06BD6602-61A3-4C0C-9B7A-5F4E7BCA5C54}"/>
              </a:ext>
            </a:extLst>
          </p:cNvPr>
          <p:cNvSpPr>
            <a:spLocks xmlns:a="http://schemas.openxmlformats.org/drawingml/2006/main" noGrp="1"/>
          </p:cNvSpPr>
          <p:nvPr/>
        </p:nvSpPr>
        <p:spPr>
          <a:xfrm xmlns:a="http://schemas.openxmlformats.org/drawingml/2006/main">
            <a:off x="590550" y="6419850"/>
            <a:ext cx="10991850" cy="9525"/>
          </a:xfrm>
          <a:prstGeom xmlns:a="http://schemas.openxmlformats.org/drawingml/2006/main" prst="rect">
            <a:avLst/>
          </a:prstGeom>
          <a:solidFill xmlns:a="http://schemas.openxmlformats.org/drawingml/2006/main">
            <a:srgbClr val="DC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B9A5510-47E0-470F-BCDA-B906A4E0F413}"/>
              </a:ext>
            </a:extLst>
          </p:cNvPr>
          <p:cNvSpPr>
            <a:spLocks xmlns:a="http://schemas.openxmlformats.org/drawingml/2006/main" noGrp="1"/>
          </p:cNvSpPr>
          <p:nvPr/>
        </p:nvSpPr>
        <p:spPr>
          <a:xfrm xmlns:a="http://schemas.openxmlformats.org/drawingml/2006/main">
            <a:off x="59055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ANUDIP FOUNDATION  •  DATA ANALYTICS PROJECT</a:t>
            </a:r>
          </a:p>
        </p:txBody>
      </p:sp>
      <p:sp>
        <p:nvSpPr>
          <p:cNvPr id="6" name="">
            <a:extLst xmlns:a="http://schemas.openxmlformats.org/drawingml/2006/main">
              <a:ext uri="{FF2B5EF4-FFF2-40B4-BE49-F238E27FC236}">
                <a16:creationId xmlns:a16="http://schemas.microsoft.com/office/drawing/2014/main" id="{FB8A524D-40E9-419D-AD91-20F0DB7DEAA1}"/>
              </a:ext>
            </a:extLst>
          </p:cNvPr>
          <p:cNvSpPr>
            <a:spLocks xmlns:a="http://schemas.openxmlformats.org/drawingml/2006/main" noGrp="1"/>
          </p:cNvSpPr>
          <p:nvPr/>
        </p:nvSpPr>
        <p:spPr>
          <a:xfrm xmlns:a="http://schemas.openxmlformats.org/drawingml/2006/main">
            <a:off x="112014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1">
                <a:solidFill>
                  <a:srgbClr val="61727E"/>
                </a:solidFill>
                <a:latin typeface="Aptos"/>
                <a:ea typeface="Aptos"/>
                <a:cs typeface="Aptos"/>
              </a:defRPr>
            </a:pPr>
            <a:r>
              <a:rPr sz="900" b="1">
                <a:solidFill>
                  <a:srgbClr val="61727E"/>
                </a:solidFill>
                <a:latin typeface="Aptos"/>
                <a:ea typeface="Aptos"/>
                <a:cs typeface="Aptos"/>
              </a:rPr>
              <a:t>06</a:t>
            </a:r>
          </a:p>
        </p:txBody>
      </p:sp>
      <p:sp>
        <p:nvSpPr>
          <p:cNvPr id="7" name="">
            <a:extLst xmlns:a="http://schemas.openxmlformats.org/drawingml/2006/main">
              <a:ext uri="{FF2B5EF4-FFF2-40B4-BE49-F238E27FC236}">
                <a16:creationId xmlns:a16="http://schemas.microsoft.com/office/drawing/2014/main" id="{AB2F20DE-81B2-40AD-A8E2-40F97556E847}"/>
              </a:ext>
            </a:extLst>
          </p:cNvPr>
          <p:cNvSpPr>
            <a:spLocks xmlns:a="http://schemas.openxmlformats.org/drawingml/2006/main" noGrp="1"/>
          </p:cNvSpPr>
          <p:nvPr/>
        </p:nvSpPr>
        <p:spPr>
          <a:xfrm xmlns:a="http://schemas.openxmlformats.org/drawingml/2006/main">
            <a:off x="647700" y="1666875"/>
            <a:ext cx="24765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8" name="">
            <a:extLst xmlns:a="http://schemas.openxmlformats.org/drawingml/2006/main">
              <a:ext uri="{FF2B5EF4-FFF2-40B4-BE49-F238E27FC236}">
                <a16:creationId xmlns:a16="http://schemas.microsoft.com/office/drawing/2014/main" id="{B81F362B-E164-407B-B1A1-DD2A4F6AF73F}"/>
              </a:ext>
            </a:extLst>
          </p:cNvPr>
          <p:cNvSpPr>
            <a:spLocks xmlns:a="http://schemas.openxmlformats.org/drawingml/2006/main" noGrp="1"/>
          </p:cNvSpPr>
          <p:nvPr/>
        </p:nvSpPr>
        <p:spPr>
          <a:xfrm xmlns:a="http://schemas.openxmlformats.org/drawingml/2006/main">
            <a:off x="647700" y="1666875"/>
            <a:ext cx="47625" cy="1028700"/>
          </a:xfrm>
          <a:prstGeom xmlns:a="http://schemas.openxmlformats.org/drawingml/2006/main" prst="rect">
            <a:avLst/>
          </a:prstGeom>
          <a:solidFill xmlns:a="http://schemas.openxmlformats.org/drawingml/2006/main">
            <a:srgbClr val="123B5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EACEBD0-08EA-4121-8AA2-BF102324AD09}"/>
              </a:ext>
            </a:extLst>
          </p:cNvPr>
          <p:cNvSpPr>
            <a:spLocks xmlns:a="http://schemas.openxmlformats.org/drawingml/2006/main" noGrp="1"/>
          </p:cNvSpPr>
          <p:nvPr/>
        </p:nvSpPr>
        <p:spPr>
          <a:xfrm xmlns:a="http://schemas.openxmlformats.org/drawingml/2006/main">
            <a:off x="838200" y="1800225"/>
            <a:ext cx="2114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123B5D"/>
                </a:solidFill>
                <a:latin typeface="Aptos"/>
                <a:ea typeface="Aptos"/>
                <a:cs typeface="Aptos"/>
              </a:defRPr>
            </a:pPr>
            <a:r>
              <a:rPr sz="2175" b="1">
                <a:solidFill>
                  <a:srgbClr val="123B5D"/>
                </a:solidFill>
                <a:latin typeface="Aptos"/>
                <a:ea typeface="Aptos"/>
                <a:cs typeface="Aptos"/>
              </a:rPr>
              <a:t>250,000</a:t>
            </a:r>
          </a:p>
        </p:txBody>
      </p:sp>
      <p:sp>
        <p:nvSpPr>
          <p:cNvPr id="10" name="">
            <a:extLst xmlns:a="http://schemas.openxmlformats.org/drawingml/2006/main">
              <a:ext uri="{FF2B5EF4-FFF2-40B4-BE49-F238E27FC236}">
                <a16:creationId xmlns:a16="http://schemas.microsoft.com/office/drawing/2014/main" id="{B372C5E9-F547-47ED-9722-C43FE25C1872}"/>
              </a:ext>
            </a:extLst>
          </p:cNvPr>
          <p:cNvSpPr>
            <a:spLocks xmlns:a="http://schemas.openxmlformats.org/drawingml/2006/main" noGrp="1"/>
          </p:cNvSpPr>
          <p:nvPr/>
        </p:nvSpPr>
        <p:spPr>
          <a:xfrm xmlns:a="http://schemas.openxmlformats.org/drawingml/2006/main">
            <a:off x="838200" y="2219325"/>
            <a:ext cx="2114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transaction records</a:t>
            </a:r>
          </a:p>
        </p:txBody>
      </p:sp>
      <p:sp>
        <p:nvSpPr>
          <p:cNvPr id="11" name="">
            <a:extLst xmlns:a="http://schemas.openxmlformats.org/drawingml/2006/main">
              <a:ext uri="{FF2B5EF4-FFF2-40B4-BE49-F238E27FC236}">
                <a16:creationId xmlns:a16="http://schemas.microsoft.com/office/drawing/2014/main" id="{05F2F2AD-B516-412E-9147-F04BE5FD1D89}"/>
              </a:ext>
            </a:extLst>
          </p:cNvPr>
          <p:cNvSpPr>
            <a:spLocks xmlns:a="http://schemas.openxmlformats.org/drawingml/2006/main" noGrp="1"/>
          </p:cNvSpPr>
          <p:nvPr/>
        </p:nvSpPr>
        <p:spPr>
          <a:xfrm xmlns:a="http://schemas.openxmlformats.org/drawingml/2006/main">
            <a:off x="838200" y="2466975"/>
            <a:ext cx="2114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transaction level</a:t>
            </a:r>
          </a:p>
        </p:txBody>
      </p:sp>
      <p:sp>
        <p:nvSpPr>
          <p:cNvPr id="12" name="">
            <a:extLst xmlns:a="http://schemas.openxmlformats.org/drawingml/2006/main">
              <a:ext uri="{FF2B5EF4-FFF2-40B4-BE49-F238E27FC236}">
                <a16:creationId xmlns:a16="http://schemas.microsoft.com/office/drawing/2014/main" id="{EAD2F008-BC94-4F10-B32E-50226B420984}"/>
              </a:ext>
            </a:extLst>
          </p:cNvPr>
          <p:cNvSpPr>
            <a:spLocks xmlns:a="http://schemas.openxmlformats.org/drawingml/2006/main" noGrp="1"/>
          </p:cNvSpPr>
          <p:nvPr/>
        </p:nvSpPr>
        <p:spPr>
          <a:xfrm xmlns:a="http://schemas.openxmlformats.org/drawingml/2006/main">
            <a:off x="3352800" y="1666875"/>
            <a:ext cx="24765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13" name="">
            <a:extLst xmlns:a="http://schemas.openxmlformats.org/drawingml/2006/main">
              <a:ext uri="{FF2B5EF4-FFF2-40B4-BE49-F238E27FC236}">
                <a16:creationId xmlns:a16="http://schemas.microsoft.com/office/drawing/2014/main" id="{E1331F80-7A5D-4FA6-BDBF-16E9E1732399}"/>
              </a:ext>
            </a:extLst>
          </p:cNvPr>
          <p:cNvSpPr>
            <a:spLocks xmlns:a="http://schemas.openxmlformats.org/drawingml/2006/main" noGrp="1"/>
          </p:cNvSpPr>
          <p:nvPr/>
        </p:nvSpPr>
        <p:spPr>
          <a:xfrm xmlns:a="http://schemas.openxmlformats.org/drawingml/2006/main">
            <a:off x="3352800" y="1666875"/>
            <a:ext cx="47625" cy="10287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80E1AC8-D090-4701-80C4-24EFCB1F9DC3}"/>
              </a:ext>
            </a:extLst>
          </p:cNvPr>
          <p:cNvSpPr>
            <a:spLocks xmlns:a="http://schemas.openxmlformats.org/drawingml/2006/main" noGrp="1"/>
          </p:cNvSpPr>
          <p:nvPr/>
        </p:nvSpPr>
        <p:spPr>
          <a:xfrm xmlns:a="http://schemas.openxmlformats.org/drawingml/2006/main">
            <a:off x="3543300" y="1800225"/>
            <a:ext cx="2114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00A6A6"/>
                </a:solidFill>
                <a:latin typeface="Aptos"/>
                <a:ea typeface="Aptos"/>
                <a:cs typeface="Aptos"/>
              </a:defRPr>
            </a:pPr>
            <a:r>
              <a:rPr sz="2175" b="1">
                <a:solidFill>
                  <a:srgbClr val="00A6A6"/>
                </a:solidFill>
                <a:latin typeface="Aptos"/>
                <a:ea typeface="Aptos"/>
                <a:cs typeface="Aptos"/>
              </a:rPr>
              <a:t>2024</a:t>
            </a:r>
          </a:p>
        </p:txBody>
      </p:sp>
      <p:sp>
        <p:nvSpPr>
          <p:cNvPr id="15" name="">
            <a:extLst xmlns:a="http://schemas.openxmlformats.org/drawingml/2006/main">
              <a:ext uri="{FF2B5EF4-FFF2-40B4-BE49-F238E27FC236}">
                <a16:creationId xmlns:a16="http://schemas.microsoft.com/office/drawing/2014/main" id="{BC2AB016-51B7-4CE7-8BD6-E22C4F38E654}"/>
              </a:ext>
            </a:extLst>
          </p:cNvPr>
          <p:cNvSpPr>
            <a:spLocks xmlns:a="http://schemas.openxmlformats.org/drawingml/2006/main" noGrp="1"/>
          </p:cNvSpPr>
          <p:nvPr/>
        </p:nvSpPr>
        <p:spPr>
          <a:xfrm xmlns:a="http://schemas.openxmlformats.org/drawingml/2006/main">
            <a:off x="3543300" y="2219325"/>
            <a:ext cx="2114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coverage period</a:t>
            </a:r>
          </a:p>
        </p:txBody>
      </p:sp>
      <p:sp>
        <p:nvSpPr>
          <p:cNvPr id="16" name="">
            <a:extLst xmlns:a="http://schemas.openxmlformats.org/drawingml/2006/main">
              <a:ext uri="{FF2B5EF4-FFF2-40B4-BE49-F238E27FC236}">
                <a16:creationId xmlns:a16="http://schemas.microsoft.com/office/drawing/2014/main" id="{08D02FFA-F1E5-44A8-B8E3-402A7351B009}"/>
              </a:ext>
            </a:extLst>
          </p:cNvPr>
          <p:cNvSpPr>
            <a:spLocks xmlns:a="http://schemas.openxmlformats.org/drawingml/2006/main" noGrp="1"/>
          </p:cNvSpPr>
          <p:nvPr/>
        </p:nvSpPr>
        <p:spPr>
          <a:xfrm xmlns:a="http://schemas.openxmlformats.org/drawingml/2006/main">
            <a:off x="3543300" y="2466975"/>
            <a:ext cx="2114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Jan 1 – Dec 30</a:t>
            </a:r>
          </a:p>
        </p:txBody>
      </p:sp>
      <p:sp>
        <p:nvSpPr>
          <p:cNvPr id="17" name="">
            <a:extLst xmlns:a="http://schemas.openxmlformats.org/drawingml/2006/main">
              <a:ext uri="{FF2B5EF4-FFF2-40B4-BE49-F238E27FC236}">
                <a16:creationId xmlns:a16="http://schemas.microsoft.com/office/drawing/2014/main" id="{C1995228-1353-475D-B9C5-F7CAC375F585}"/>
              </a:ext>
            </a:extLst>
          </p:cNvPr>
          <p:cNvSpPr>
            <a:spLocks xmlns:a="http://schemas.openxmlformats.org/drawingml/2006/main" noGrp="1"/>
          </p:cNvSpPr>
          <p:nvPr/>
        </p:nvSpPr>
        <p:spPr>
          <a:xfrm xmlns:a="http://schemas.openxmlformats.org/drawingml/2006/main">
            <a:off x="6057900" y="1666875"/>
            <a:ext cx="24765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18" name="">
            <a:extLst xmlns:a="http://schemas.openxmlformats.org/drawingml/2006/main">
              <a:ext uri="{FF2B5EF4-FFF2-40B4-BE49-F238E27FC236}">
                <a16:creationId xmlns:a16="http://schemas.microsoft.com/office/drawing/2014/main" id="{7E83ED0C-1223-475C-B512-132C125B8E73}"/>
              </a:ext>
            </a:extLst>
          </p:cNvPr>
          <p:cNvSpPr>
            <a:spLocks xmlns:a="http://schemas.openxmlformats.org/drawingml/2006/main" noGrp="1"/>
          </p:cNvSpPr>
          <p:nvPr/>
        </p:nvSpPr>
        <p:spPr>
          <a:xfrm xmlns:a="http://schemas.openxmlformats.org/drawingml/2006/main">
            <a:off x="6057900" y="1666875"/>
            <a:ext cx="47625" cy="1028700"/>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3098077-D18F-44CA-A42A-BC2231E79799}"/>
              </a:ext>
            </a:extLst>
          </p:cNvPr>
          <p:cNvSpPr>
            <a:spLocks xmlns:a="http://schemas.openxmlformats.org/drawingml/2006/main" noGrp="1"/>
          </p:cNvSpPr>
          <p:nvPr/>
        </p:nvSpPr>
        <p:spPr>
          <a:xfrm xmlns:a="http://schemas.openxmlformats.org/drawingml/2006/main">
            <a:off x="6248400" y="1800225"/>
            <a:ext cx="2114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D64545"/>
                </a:solidFill>
                <a:latin typeface="Aptos"/>
                <a:ea typeface="Aptos"/>
                <a:cs typeface="Aptos"/>
              </a:defRPr>
            </a:pPr>
            <a:r>
              <a:rPr sz="2175" b="1">
                <a:solidFill>
                  <a:srgbClr val="D64545"/>
                </a:solidFill>
                <a:latin typeface="Aptos"/>
                <a:ea typeface="Aptos"/>
                <a:cs typeface="Aptos"/>
              </a:rPr>
              <a:t>480</a:t>
            </a:r>
          </a:p>
        </p:txBody>
      </p:sp>
      <p:sp>
        <p:nvSpPr>
          <p:cNvPr id="20" name="">
            <a:extLst xmlns:a="http://schemas.openxmlformats.org/drawingml/2006/main">
              <a:ext uri="{FF2B5EF4-FFF2-40B4-BE49-F238E27FC236}">
                <a16:creationId xmlns:a16="http://schemas.microsoft.com/office/drawing/2014/main" id="{83A3F10C-A4EE-4455-8C86-83AB5A98AD37}"/>
              </a:ext>
            </a:extLst>
          </p:cNvPr>
          <p:cNvSpPr>
            <a:spLocks xmlns:a="http://schemas.openxmlformats.org/drawingml/2006/main" noGrp="1"/>
          </p:cNvSpPr>
          <p:nvPr/>
        </p:nvSpPr>
        <p:spPr>
          <a:xfrm xmlns:a="http://schemas.openxmlformats.org/drawingml/2006/main">
            <a:off x="6248400" y="2219325"/>
            <a:ext cx="2114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fraud flags</a:t>
            </a:r>
          </a:p>
        </p:txBody>
      </p:sp>
      <p:sp>
        <p:nvSpPr>
          <p:cNvPr id="21" name="">
            <a:extLst xmlns:a="http://schemas.openxmlformats.org/drawingml/2006/main">
              <a:ext uri="{FF2B5EF4-FFF2-40B4-BE49-F238E27FC236}">
                <a16:creationId xmlns:a16="http://schemas.microsoft.com/office/drawing/2014/main" id="{D4077E54-1F10-4A67-8827-6B094B036F00}"/>
              </a:ext>
            </a:extLst>
          </p:cNvPr>
          <p:cNvSpPr>
            <a:spLocks xmlns:a="http://schemas.openxmlformats.org/drawingml/2006/main" noGrp="1"/>
          </p:cNvSpPr>
          <p:nvPr/>
        </p:nvSpPr>
        <p:spPr>
          <a:xfrm xmlns:a="http://schemas.openxmlformats.org/drawingml/2006/main">
            <a:off x="6248400" y="2466975"/>
            <a:ext cx="2114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flag = 1</a:t>
            </a:r>
          </a:p>
        </p:txBody>
      </p:sp>
      <p:sp>
        <p:nvSpPr>
          <p:cNvPr id="22" name="">
            <a:extLst xmlns:a="http://schemas.openxmlformats.org/drawingml/2006/main">
              <a:ext uri="{FF2B5EF4-FFF2-40B4-BE49-F238E27FC236}">
                <a16:creationId xmlns:a16="http://schemas.microsoft.com/office/drawing/2014/main" id="{B9C51DB6-B12F-4E1E-9966-74BF3FA71C3B}"/>
              </a:ext>
            </a:extLst>
          </p:cNvPr>
          <p:cNvSpPr>
            <a:spLocks xmlns:a="http://schemas.openxmlformats.org/drawingml/2006/main" noGrp="1"/>
          </p:cNvSpPr>
          <p:nvPr/>
        </p:nvSpPr>
        <p:spPr>
          <a:xfrm xmlns:a="http://schemas.openxmlformats.org/drawingml/2006/main">
            <a:off x="8763000" y="1666875"/>
            <a:ext cx="27432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23" name="">
            <a:extLst xmlns:a="http://schemas.openxmlformats.org/drawingml/2006/main">
              <a:ext uri="{FF2B5EF4-FFF2-40B4-BE49-F238E27FC236}">
                <a16:creationId xmlns:a16="http://schemas.microsoft.com/office/drawing/2014/main" id="{5D25F7D5-EF3A-4FD7-99BF-015F10BFE741}"/>
              </a:ext>
            </a:extLst>
          </p:cNvPr>
          <p:cNvSpPr>
            <a:spLocks xmlns:a="http://schemas.openxmlformats.org/drawingml/2006/main" noGrp="1"/>
          </p:cNvSpPr>
          <p:nvPr/>
        </p:nvSpPr>
        <p:spPr>
          <a:xfrm xmlns:a="http://schemas.openxmlformats.org/drawingml/2006/main">
            <a:off x="8763000" y="1666875"/>
            <a:ext cx="47625" cy="1028700"/>
          </a:xfrm>
          <a:prstGeom xmlns:a="http://schemas.openxmlformats.org/drawingml/2006/main" prst="rect">
            <a:avLst/>
          </a:prstGeom>
          <a:solidFill xmlns:a="http://schemas.openxmlformats.org/drawingml/2006/main">
            <a:srgbClr val="123B5D"/>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55924FF-7197-4653-A502-8447DB1BC1DC}"/>
              </a:ext>
            </a:extLst>
          </p:cNvPr>
          <p:cNvSpPr>
            <a:spLocks xmlns:a="http://schemas.openxmlformats.org/drawingml/2006/main" noGrp="1"/>
          </p:cNvSpPr>
          <p:nvPr/>
        </p:nvSpPr>
        <p:spPr>
          <a:xfrm xmlns:a="http://schemas.openxmlformats.org/drawingml/2006/main">
            <a:off x="8953500" y="180022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123B5D"/>
                </a:solidFill>
                <a:latin typeface="Aptos"/>
                <a:ea typeface="Aptos"/>
                <a:cs typeface="Aptos"/>
              </a:defRPr>
            </a:pPr>
            <a:r>
              <a:rPr sz="2175" b="1">
                <a:solidFill>
                  <a:srgbClr val="123B5D"/>
                </a:solidFill>
                <a:latin typeface="Aptos"/>
                <a:ea typeface="Aptos"/>
                <a:cs typeface="Aptos"/>
              </a:rPr>
              <a:t>10–42,099</a:t>
            </a:r>
          </a:p>
        </p:txBody>
      </p:sp>
      <p:sp>
        <p:nvSpPr>
          <p:cNvPr id="25" name="">
            <a:extLst xmlns:a="http://schemas.openxmlformats.org/drawingml/2006/main">
              <a:ext uri="{FF2B5EF4-FFF2-40B4-BE49-F238E27FC236}">
                <a16:creationId xmlns:a16="http://schemas.microsoft.com/office/drawing/2014/main" id="{F9A22C1B-1792-4157-A50D-3A070DC96524}"/>
              </a:ext>
            </a:extLst>
          </p:cNvPr>
          <p:cNvSpPr>
            <a:spLocks xmlns:a="http://schemas.openxmlformats.org/drawingml/2006/main" noGrp="1"/>
          </p:cNvSpPr>
          <p:nvPr/>
        </p:nvSpPr>
        <p:spPr>
          <a:xfrm xmlns:a="http://schemas.openxmlformats.org/drawingml/2006/main">
            <a:off x="8953500" y="22193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amount range (INR)</a:t>
            </a:r>
          </a:p>
        </p:txBody>
      </p:sp>
      <p:sp>
        <p:nvSpPr>
          <p:cNvPr id="26" name="">
            <a:extLst xmlns:a="http://schemas.openxmlformats.org/drawingml/2006/main">
              <a:ext uri="{FF2B5EF4-FFF2-40B4-BE49-F238E27FC236}">
                <a16:creationId xmlns:a16="http://schemas.microsoft.com/office/drawing/2014/main" id="{47E9EE35-367C-40EB-A212-CE99638D5961}"/>
              </a:ext>
            </a:extLst>
          </p:cNvPr>
          <p:cNvSpPr>
            <a:spLocks xmlns:a="http://schemas.openxmlformats.org/drawingml/2006/main" noGrp="1"/>
          </p:cNvSpPr>
          <p:nvPr/>
        </p:nvSpPr>
        <p:spPr>
          <a:xfrm xmlns:a="http://schemas.openxmlformats.org/drawingml/2006/main">
            <a:off x="8953500" y="24669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average: INR 1,311.76</a:t>
            </a:r>
          </a:p>
        </p:txBody>
      </p:sp>
      <p:sp>
        <p:nvSpPr>
          <p:cNvPr id="27" name="">
            <a:extLst xmlns:a="http://schemas.openxmlformats.org/drawingml/2006/main">
              <a:ext uri="{FF2B5EF4-FFF2-40B4-BE49-F238E27FC236}">
                <a16:creationId xmlns:a16="http://schemas.microsoft.com/office/drawing/2014/main" id="{EE33EBCA-6350-4B14-BD17-C48DE6EA6457}"/>
              </a:ext>
            </a:extLst>
          </p:cNvPr>
          <p:cNvSpPr>
            <a:spLocks xmlns:a="http://schemas.openxmlformats.org/drawingml/2006/main" noGrp="1"/>
          </p:cNvSpPr>
          <p:nvPr/>
        </p:nvSpPr>
        <p:spPr>
          <a:xfrm xmlns:a="http://schemas.openxmlformats.org/drawingml/2006/main">
            <a:off x="685800" y="314325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123B5D"/>
                </a:solidFill>
                <a:latin typeface="Aptos"/>
                <a:ea typeface="Aptos"/>
                <a:cs typeface="Aptos"/>
              </a:defRPr>
            </a:pPr>
            <a:r>
              <a:rPr sz="1125" b="1">
                <a:solidFill>
                  <a:srgbClr val="123B5D"/>
                </a:solidFill>
                <a:latin typeface="Aptos"/>
                <a:ea typeface="Aptos"/>
                <a:cs typeface="Aptos"/>
              </a:rPr>
              <a:t>Key fields</a:t>
            </a:r>
          </a:p>
        </p:txBody>
      </p:sp>
      <p:sp>
        <p:nvSpPr>
          <p:cNvPr id="28" name="">
            <a:extLst xmlns:a="http://schemas.openxmlformats.org/drawingml/2006/main">
              <a:ext uri="{FF2B5EF4-FFF2-40B4-BE49-F238E27FC236}">
                <a16:creationId xmlns:a16="http://schemas.microsoft.com/office/drawing/2014/main" id="{F94DE2E7-CFAA-4DEF-9FC4-82640BC3614A}"/>
              </a:ext>
            </a:extLst>
          </p:cNvPr>
          <p:cNvSpPr>
            <a:spLocks xmlns:a="http://schemas.openxmlformats.org/drawingml/2006/main" noGrp="1"/>
          </p:cNvSpPr>
          <p:nvPr/>
        </p:nvSpPr>
        <p:spPr>
          <a:xfrm xmlns:a="http://schemas.openxmlformats.org/drawingml/2006/main">
            <a:off x="685800" y="3600450"/>
            <a:ext cx="21907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2E8B57"/>
            </a:solidFill>
          </a:ln>
        </p:spPr>
      </p:sp>
      <p:sp>
        <p:nvSpPr>
          <p:cNvPr id="29" name="">
            <a:extLst xmlns:a="http://schemas.openxmlformats.org/drawingml/2006/main">
              <a:ext uri="{FF2B5EF4-FFF2-40B4-BE49-F238E27FC236}">
                <a16:creationId xmlns:a16="http://schemas.microsoft.com/office/drawing/2014/main" id="{7CFA6939-CCA1-4AAB-AC77-A02AB9FD26B2}"/>
              </a:ext>
            </a:extLst>
          </p:cNvPr>
          <p:cNvSpPr>
            <a:spLocks xmlns:a="http://schemas.openxmlformats.org/drawingml/2006/main" noGrp="1"/>
          </p:cNvSpPr>
          <p:nvPr/>
        </p:nvSpPr>
        <p:spPr>
          <a:xfrm xmlns:a="http://schemas.openxmlformats.org/drawingml/2006/main">
            <a:off x="762000" y="361950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2E8B57"/>
                </a:solidFill>
                <a:latin typeface="Aptos"/>
                <a:ea typeface="Aptos"/>
                <a:cs typeface="Aptos"/>
              </a:defRPr>
            </a:pPr>
            <a:r>
              <a:rPr sz="975" b="1">
                <a:solidFill>
                  <a:srgbClr val="2E8B57"/>
                </a:solidFill>
                <a:latin typeface="Aptos"/>
                <a:ea typeface="Aptos"/>
                <a:cs typeface="Aptos"/>
              </a:rPr>
              <a:t>Status</a:t>
            </a:r>
          </a:p>
        </p:txBody>
      </p:sp>
      <p:sp>
        <p:nvSpPr>
          <p:cNvPr id="30" name="">
            <a:extLst xmlns:a="http://schemas.openxmlformats.org/drawingml/2006/main">
              <a:ext uri="{FF2B5EF4-FFF2-40B4-BE49-F238E27FC236}">
                <a16:creationId xmlns:a16="http://schemas.microsoft.com/office/drawing/2014/main" id="{7AAB6A9F-92D6-40CB-9880-CA3AB904F811}"/>
              </a:ext>
            </a:extLst>
          </p:cNvPr>
          <p:cNvSpPr>
            <a:spLocks xmlns:a="http://schemas.openxmlformats.org/drawingml/2006/main" noGrp="1"/>
          </p:cNvSpPr>
          <p:nvPr/>
        </p:nvSpPr>
        <p:spPr>
          <a:xfrm xmlns:a="http://schemas.openxmlformats.org/drawingml/2006/main">
            <a:off x="3276600" y="3600450"/>
            <a:ext cx="21907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A6A6"/>
            </a:solidFill>
          </a:ln>
        </p:spPr>
      </p:sp>
      <p:sp>
        <p:nvSpPr>
          <p:cNvPr id="31" name="">
            <a:extLst xmlns:a="http://schemas.openxmlformats.org/drawingml/2006/main">
              <a:ext uri="{FF2B5EF4-FFF2-40B4-BE49-F238E27FC236}">
                <a16:creationId xmlns:a16="http://schemas.microsoft.com/office/drawing/2014/main" id="{0262C63E-36EF-4FE3-B2C6-8C8E1D4D8D5F}"/>
              </a:ext>
            </a:extLst>
          </p:cNvPr>
          <p:cNvSpPr>
            <a:spLocks xmlns:a="http://schemas.openxmlformats.org/drawingml/2006/main" noGrp="1"/>
          </p:cNvSpPr>
          <p:nvPr/>
        </p:nvSpPr>
        <p:spPr>
          <a:xfrm xmlns:a="http://schemas.openxmlformats.org/drawingml/2006/main">
            <a:off x="3352800" y="361950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Amount</a:t>
            </a:r>
          </a:p>
        </p:txBody>
      </p:sp>
      <p:sp>
        <p:nvSpPr>
          <p:cNvPr id="32" name="">
            <a:extLst xmlns:a="http://schemas.openxmlformats.org/drawingml/2006/main">
              <a:ext uri="{FF2B5EF4-FFF2-40B4-BE49-F238E27FC236}">
                <a16:creationId xmlns:a16="http://schemas.microsoft.com/office/drawing/2014/main" id="{F3C6985C-A99B-4251-A423-EEEBF96F172E}"/>
              </a:ext>
            </a:extLst>
          </p:cNvPr>
          <p:cNvSpPr>
            <a:spLocks xmlns:a="http://schemas.openxmlformats.org/drawingml/2006/main" noGrp="1"/>
          </p:cNvSpPr>
          <p:nvPr/>
        </p:nvSpPr>
        <p:spPr>
          <a:xfrm xmlns:a="http://schemas.openxmlformats.org/drawingml/2006/main">
            <a:off x="5867400" y="3600450"/>
            <a:ext cx="21907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A6A6"/>
            </a:solidFill>
          </a:ln>
        </p:spPr>
      </p:sp>
      <p:sp>
        <p:nvSpPr>
          <p:cNvPr id="33" name="">
            <a:extLst xmlns:a="http://schemas.openxmlformats.org/drawingml/2006/main">
              <a:ext uri="{FF2B5EF4-FFF2-40B4-BE49-F238E27FC236}">
                <a16:creationId xmlns:a16="http://schemas.microsoft.com/office/drawing/2014/main" id="{816572CC-0921-43E8-9A2F-8D6836D34B67}"/>
              </a:ext>
            </a:extLst>
          </p:cNvPr>
          <p:cNvSpPr>
            <a:spLocks xmlns:a="http://schemas.openxmlformats.org/drawingml/2006/main" noGrp="1"/>
          </p:cNvSpPr>
          <p:nvPr/>
        </p:nvSpPr>
        <p:spPr>
          <a:xfrm xmlns:a="http://schemas.openxmlformats.org/drawingml/2006/main">
            <a:off x="5943600" y="361950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Transaction type</a:t>
            </a:r>
          </a:p>
        </p:txBody>
      </p:sp>
      <p:sp>
        <p:nvSpPr>
          <p:cNvPr id="34" name="">
            <a:extLst xmlns:a="http://schemas.openxmlformats.org/drawingml/2006/main">
              <a:ext uri="{FF2B5EF4-FFF2-40B4-BE49-F238E27FC236}">
                <a16:creationId xmlns:a16="http://schemas.microsoft.com/office/drawing/2014/main" id="{0FE62E7A-38E0-4671-A5FE-003859B2891B}"/>
              </a:ext>
            </a:extLst>
          </p:cNvPr>
          <p:cNvSpPr>
            <a:spLocks xmlns:a="http://schemas.openxmlformats.org/drawingml/2006/main" noGrp="1"/>
          </p:cNvSpPr>
          <p:nvPr/>
        </p:nvSpPr>
        <p:spPr>
          <a:xfrm xmlns:a="http://schemas.openxmlformats.org/drawingml/2006/main">
            <a:off x="8458200" y="3600450"/>
            <a:ext cx="21907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A6A6"/>
            </a:solidFill>
          </a:ln>
        </p:spPr>
      </p:sp>
      <p:sp>
        <p:nvSpPr>
          <p:cNvPr id="35" name="">
            <a:extLst xmlns:a="http://schemas.openxmlformats.org/drawingml/2006/main">
              <a:ext uri="{FF2B5EF4-FFF2-40B4-BE49-F238E27FC236}">
                <a16:creationId xmlns:a16="http://schemas.microsoft.com/office/drawing/2014/main" id="{97D1BF16-D0E7-449D-B064-B13C89FF45A7}"/>
              </a:ext>
            </a:extLst>
          </p:cNvPr>
          <p:cNvSpPr>
            <a:spLocks xmlns:a="http://schemas.openxmlformats.org/drawingml/2006/main" noGrp="1"/>
          </p:cNvSpPr>
          <p:nvPr/>
        </p:nvSpPr>
        <p:spPr>
          <a:xfrm xmlns:a="http://schemas.openxmlformats.org/drawingml/2006/main">
            <a:off x="8534400" y="361950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Merchant category</a:t>
            </a:r>
          </a:p>
        </p:txBody>
      </p:sp>
      <p:sp>
        <p:nvSpPr>
          <p:cNvPr id="36" name="">
            <a:extLst xmlns:a="http://schemas.openxmlformats.org/drawingml/2006/main">
              <a:ext uri="{FF2B5EF4-FFF2-40B4-BE49-F238E27FC236}">
                <a16:creationId xmlns:a16="http://schemas.microsoft.com/office/drawing/2014/main" id="{3708EEB0-0A7A-4D82-846C-BE3769698189}"/>
              </a:ext>
            </a:extLst>
          </p:cNvPr>
          <p:cNvSpPr>
            <a:spLocks xmlns:a="http://schemas.openxmlformats.org/drawingml/2006/main" noGrp="1"/>
          </p:cNvSpPr>
          <p:nvPr/>
        </p:nvSpPr>
        <p:spPr>
          <a:xfrm xmlns:a="http://schemas.openxmlformats.org/drawingml/2006/main">
            <a:off x="685800" y="4152900"/>
            <a:ext cx="21907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A6A6"/>
            </a:solidFill>
          </a:ln>
        </p:spPr>
      </p:sp>
      <p:sp>
        <p:nvSpPr>
          <p:cNvPr id="37" name="">
            <a:extLst xmlns:a="http://schemas.openxmlformats.org/drawingml/2006/main">
              <a:ext uri="{FF2B5EF4-FFF2-40B4-BE49-F238E27FC236}">
                <a16:creationId xmlns:a16="http://schemas.microsoft.com/office/drawing/2014/main" id="{A146FE87-4249-4574-8439-200250252D45}"/>
              </a:ext>
            </a:extLst>
          </p:cNvPr>
          <p:cNvSpPr>
            <a:spLocks xmlns:a="http://schemas.openxmlformats.org/drawingml/2006/main" noGrp="1"/>
          </p:cNvSpPr>
          <p:nvPr/>
        </p:nvSpPr>
        <p:spPr>
          <a:xfrm xmlns:a="http://schemas.openxmlformats.org/drawingml/2006/main">
            <a:off x="762000" y="417195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Sender state</a:t>
            </a:r>
          </a:p>
        </p:txBody>
      </p:sp>
      <p:sp>
        <p:nvSpPr>
          <p:cNvPr id="38" name="">
            <a:extLst xmlns:a="http://schemas.openxmlformats.org/drawingml/2006/main">
              <a:ext uri="{FF2B5EF4-FFF2-40B4-BE49-F238E27FC236}">
                <a16:creationId xmlns:a16="http://schemas.microsoft.com/office/drawing/2014/main" id="{96F62E23-96A2-4500-BCBA-18CDE6AC0CB0}"/>
              </a:ext>
            </a:extLst>
          </p:cNvPr>
          <p:cNvSpPr>
            <a:spLocks xmlns:a="http://schemas.openxmlformats.org/drawingml/2006/main" noGrp="1"/>
          </p:cNvSpPr>
          <p:nvPr/>
        </p:nvSpPr>
        <p:spPr>
          <a:xfrm xmlns:a="http://schemas.openxmlformats.org/drawingml/2006/main">
            <a:off x="3276600" y="4152900"/>
            <a:ext cx="21907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A6A6"/>
            </a:solidFill>
          </a:ln>
        </p:spPr>
      </p:sp>
      <p:sp>
        <p:nvSpPr>
          <p:cNvPr id="39" name="">
            <a:extLst xmlns:a="http://schemas.openxmlformats.org/drawingml/2006/main">
              <a:ext uri="{FF2B5EF4-FFF2-40B4-BE49-F238E27FC236}">
                <a16:creationId xmlns:a16="http://schemas.microsoft.com/office/drawing/2014/main" id="{50494980-3A11-4B2B-8C21-6A6A87B95390}"/>
              </a:ext>
            </a:extLst>
          </p:cNvPr>
          <p:cNvSpPr>
            <a:spLocks xmlns:a="http://schemas.openxmlformats.org/drawingml/2006/main" noGrp="1"/>
          </p:cNvSpPr>
          <p:nvPr/>
        </p:nvSpPr>
        <p:spPr>
          <a:xfrm xmlns:a="http://schemas.openxmlformats.org/drawingml/2006/main">
            <a:off x="3352800" y="417195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Device</a:t>
            </a:r>
          </a:p>
        </p:txBody>
      </p:sp>
      <p:sp>
        <p:nvSpPr>
          <p:cNvPr id="40" name="">
            <a:extLst xmlns:a="http://schemas.openxmlformats.org/drawingml/2006/main">
              <a:ext uri="{FF2B5EF4-FFF2-40B4-BE49-F238E27FC236}">
                <a16:creationId xmlns:a16="http://schemas.microsoft.com/office/drawing/2014/main" id="{D13B96F7-AFA3-4886-A75D-F6E5251DF84B}"/>
              </a:ext>
            </a:extLst>
          </p:cNvPr>
          <p:cNvSpPr>
            <a:spLocks xmlns:a="http://schemas.openxmlformats.org/drawingml/2006/main" noGrp="1"/>
          </p:cNvSpPr>
          <p:nvPr/>
        </p:nvSpPr>
        <p:spPr>
          <a:xfrm xmlns:a="http://schemas.openxmlformats.org/drawingml/2006/main">
            <a:off x="5867400" y="4152900"/>
            <a:ext cx="21907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A6A6"/>
            </a:solidFill>
          </a:ln>
        </p:spPr>
      </p:sp>
      <p:sp>
        <p:nvSpPr>
          <p:cNvPr id="41" name="">
            <a:extLst xmlns:a="http://schemas.openxmlformats.org/drawingml/2006/main">
              <a:ext uri="{FF2B5EF4-FFF2-40B4-BE49-F238E27FC236}">
                <a16:creationId xmlns:a16="http://schemas.microsoft.com/office/drawing/2014/main" id="{B1F86F01-1173-4892-8771-025ADF60B1ED}"/>
              </a:ext>
            </a:extLst>
          </p:cNvPr>
          <p:cNvSpPr>
            <a:spLocks xmlns:a="http://schemas.openxmlformats.org/drawingml/2006/main" noGrp="1"/>
          </p:cNvSpPr>
          <p:nvPr/>
        </p:nvSpPr>
        <p:spPr>
          <a:xfrm xmlns:a="http://schemas.openxmlformats.org/drawingml/2006/main">
            <a:off x="5943600" y="417195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Network</a:t>
            </a:r>
          </a:p>
        </p:txBody>
      </p:sp>
      <p:sp>
        <p:nvSpPr>
          <p:cNvPr id="42" name="">
            <a:extLst xmlns:a="http://schemas.openxmlformats.org/drawingml/2006/main">
              <a:ext uri="{FF2B5EF4-FFF2-40B4-BE49-F238E27FC236}">
                <a16:creationId xmlns:a16="http://schemas.microsoft.com/office/drawing/2014/main" id="{17102C3D-6151-4234-8B50-166F2ED7C451}"/>
              </a:ext>
            </a:extLst>
          </p:cNvPr>
          <p:cNvSpPr>
            <a:spLocks xmlns:a="http://schemas.openxmlformats.org/drawingml/2006/main" noGrp="1"/>
          </p:cNvSpPr>
          <p:nvPr/>
        </p:nvSpPr>
        <p:spPr>
          <a:xfrm xmlns:a="http://schemas.openxmlformats.org/drawingml/2006/main">
            <a:off x="685800" y="4953000"/>
            <a:ext cx="10820400" cy="647700"/>
          </a:xfrm>
          <a:prstGeom xmlns:a="http://schemas.openxmlformats.org/drawingml/2006/main" prst="roundRect">
            <a:avLst>
              <a:gd name="adj" fmla="val 11765"/>
            </a:avLst>
          </a:prstGeom>
          <a:solidFill xmlns:a="http://schemas.openxmlformats.org/drawingml/2006/main">
            <a:srgbClr val="EAF2F6"/>
          </a:solidFill>
          <a:ln xmlns:a="http://schemas.openxmlformats.org/drawingml/2006/main" w="9525">
            <a:solidFill>
              <a:srgbClr val="DCE5EA"/>
            </a:solidFill>
          </a:ln>
        </p:spPr>
      </p:sp>
      <p:sp>
        <p:nvSpPr>
          <p:cNvPr id="43" name="">
            <a:extLst xmlns:a="http://schemas.openxmlformats.org/drawingml/2006/main">
              <a:ext uri="{FF2B5EF4-FFF2-40B4-BE49-F238E27FC236}">
                <a16:creationId xmlns:a16="http://schemas.microsoft.com/office/drawing/2014/main" id="{FCBB3F19-E8D5-496F-994D-93252A884E5E}"/>
              </a:ext>
            </a:extLst>
          </p:cNvPr>
          <p:cNvSpPr>
            <a:spLocks xmlns:a="http://schemas.openxmlformats.org/drawingml/2006/main" noGrp="1"/>
          </p:cNvSpPr>
          <p:nvPr/>
        </p:nvSpPr>
        <p:spPr>
          <a:xfrm xmlns:a="http://schemas.openxmlformats.org/drawingml/2006/main">
            <a:off x="914400" y="5048250"/>
            <a:ext cx="10363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23B5D"/>
                </a:solidFill>
                <a:latin typeface="Aptos"/>
                <a:ea typeface="Aptos"/>
                <a:cs typeface="Aptos"/>
              </a:defRPr>
            </a:pPr>
            <a:r>
              <a:rPr sz="1575" b="1">
                <a:solidFill>
                  <a:srgbClr val="123B5D"/>
                </a:solidFill>
                <a:latin typeface="Aptos"/>
                <a:ea typeface="Aptos"/>
                <a:cs typeface="Aptos"/>
              </a:rPr>
              <a:t>Analytical dataset used to simulate a real-world digital payment analytics environment.</a:t>
            </a:r>
          </a:p>
        </p:txBody>
      </p:sp>
    </p:spTree>
    <p:extLst>
      <p:ext uri="{BB962C8B-B14F-4D97-AF65-F5344CB8AC3E}">
        <p14:creationId xmlns:p14="http://schemas.microsoft.com/office/powerpoint/2010/main" val="754638003"/>
      </p:ext>
    </p:extLst>
  </p:cSld>
</p:sld>
</file>

<file path=ppt/slides/slide7.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B65DA403-68B7-4122-82B4-AFC19334828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673A3A-CA01-41C3-8BE1-E0E8A81BE277}"/>
              </a:ext>
            </a:extLst>
          </p:cNvPr>
          <p:cNvSpPr>
            <a:spLocks xmlns:a="http://schemas.openxmlformats.org/drawingml/2006/main" noGrp="1"/>
          </p:cNvSpPr>
          <p:nvPr/>
        </p:nvSpPr>
        <p:spPr>
          <a:xfrm xmlns:a="http://schemas.openxmlformats.org/drawingml/2006/main">
            <a:off x="590550" y="266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02  |  DATA</a:t>
            </a:r>
          </a:p>
        </p:txBody>
      </p:sp>
      <p:sp>
        <p:nvSpPr>
          <p:cNvPr id="3" name="">
            <a:extLst xmlns:a="http://schemas.openxmlformats.org/drawingml/2006/main">
              <a:ext uri="{FF2B5EF4-FFF2-40B4-BE49-F238E27FC236}">
                <a16:creationId xmlns:a16="http://schemas.microsoft.com/office/drawing/2014/main" id="{E1CDE577-A436-4D8F-B88A-FC1A10E8C143}"/>
              </a:ext>
            </a:extLst>
          </p:cNvPr>
          <p:cNvSpPr>
            <a:spLocks xmlns:a="http://schemas.openxmlformats.org/drawingml/2006/main" noGrp="1"/>
          </p:cNvSpPr>
          <p:nvPr/>
        </p:nvSpPr>
        <p:spPr>
          <a:xfrm xmlns:a="http://schemas.openxmlformats.org/drawingml/2006/main">
            <a:off x="590550" y="600075"/>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23B5D"/>
                </a:solidFill>
                <a:latin typeface="Aptos"/>
                <a:ea typeface="Aptos"/>
                <a:cs typeface="Aptos"/>
              </a:defRPr>
            </a:pPr>
            <a:r>
              <a:rPr sz="2550" b="1">
                <a:solidFill>
                  <a:srgbClr val="123B5D"/>
                </a:solidFill>
                <a:latin typeface="Aptos"/>
                <a:ea typeface="Aptos"/>
                <a:cs typeface="Aptos"/>
              </a:rPr>
              <a:t>Data quality &amp; cleaning</a:t>
            </a:r>
          </a:p>
        </p:txBody>
      </p:sp>
      <p:sp>
        <p:nvSpPr>
          <p:cNvPr id="4" name="">
            <a:extLst xmlns:a="http://schemas.openxmlformats.org/drawingml/2006/main">
              <a:ext uri="{FF2B5EF4-FFF2-40B4-BE49-F238E27FC236}">
                <a16:creationId xmlns:a16="http://schemas.microsoft.com/office/drawing/2014/main" id="{16778371-6AF0-4362-B5E7-CD1E3FBF6819}"/>
              </a:ext>
            </a:extLst>
          </p:cNvPr>
          <p:cNvSpPr>
            <a:spLocks xmlns:a="http://schemas.openxmlformats.org/drawingml/2006/main" noGrp="1"/>
          </p:cNvSpPr>
          <p:nvPr/>
        </p:nvSpPr>
        <p:spPr>
          <a:xfrm xmlns:a="http://schemas.openxmlformats.org/drawingml/2006/main">
            <a:off x="609600" y="11334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1727E"/>
                </a:solidFill>
                <a:latin typeface="Aptos"/>
                <a:ea typeface="Aptos"/>
                <a:cs typeface="Aptos"/>
              </a:defRPr>
            </a:pPr>
            <a:r>
              <a:rPr sz="1275" b="0">
                <a:solidFill>
                  <a:srgbClr val="61727E"/>
                </a:solidFill>
                <a:latin typeface="Aptos"/>
                <a:ea typeface="Aptos"/>
                <a:cs typeface="Aptos"/>
              </a:rPr>
              <a:t>Power Query was used to prepare and validate the transaction data</a:t>
            </a:r>
          </a:p>
        </p:txBody>
      </p:sp>
      <p:sp>
        <p:nvSpPr>
          <p:cNvPr id="5" name="">
            <a:extLst xmlns:a="http://schemas.openxmlformats.org/drawingml/2006/main">
              <a:ext uri="{FF2B5EF4-FFF2-40B4-BE49-F238E27FC236}">
                <a16:creationId xmlns:a16="http://schemas.microsoft.com/office/drawing/2014/main" id="{609AE461-DFAD-4259-B481-BEEBBC52DA2A}"/>
              </a:ext>
            </a:extLst>
          </p:cNvPr>
          <p:cNvSpPr>
            <a:spLocks xmlns:a="http://schemas.openxmlformats.org/drawingml/2006/main" noGrp="1"/>
          </p:cNvSpPr>
          <p:nvPr/>
        </p:nvSpPr>
        <p:spPr>
          <a:xfrm xmlns:a="http://schemas.openxmlformats.org/drawingml/2006/main">
            <a:off x="590550" y="6419850"/>
            <a:ext cx="10991850" cy="9525"/>
          </a:xfrm>
          <a:prstGeom xmlns:a="http://schemas.openxmlformats.org/drawingml/2006/main" prst="rect">
            <a:avLst/>
          </a:prstGeom>
          <a:solidFill xmlns:a="http://schemas.openxmlformats.org/drawingml/2006/main">
            <a:srgbClr val="DCE5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DBDB62B-9910-49C5-8313-20973FF41AA6}"/>
              </a:ext>
            </a:extLst>
          </p:cNvPr>
          <p:cNvSpPr>
            <a:spLocks xmlns:a="http://schemas.openxmlformats.org/drawingml/2006/main" noGrp="1"/>
          </p:cNvSpPr>
          <p:nvPr/>
        </p:nvSpPr>
        <p:spPr>
          <a:xfrm xmlns:a="http://schemas.openxmlformats.org/drawingml/2006/main">
            <a:off x="59055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ANUDIP FOUNDATION  •  DATA ANALYTICS PROJECT</a:t>
            </a:r>
          </a:p>
        </p:txBody>
      </p:sp>
      <p:sp>
        <p:nvSpPr>
          <p:cNvPr id="7" name="">
            <a:extLst xmlns:a="http://schemas.openxmlformats.org/drawingml/2006/main">
              <a:ext uri="{FF2B5EF4-FFF2-40B4-BE49-F238E27FC236}">
                <a16:creationId xmlns:a16="http://schemas.microsoft.com/office/drawing/2014/main" id="{9672CB23-FD2C-4A13-B42C-D5A4B7E3D24A}"/>
              </a:ext>
            </a:extLst>
          </p:cNvPr>
          <p:cNvSpPr>
            <a:spLocks xmlns:a="http://schemas.openxmlformats.org/drawingml/2006/main" noGrp="1"/>
          </p:cNvSpPr>
          <p:nvPr/>
        </p:nvSpPr>
        <p:spPr>
          <a:xfrm xmlns:a="http://schemas.openxmlformats.org/drawingml/2006/main">
            <a:off x="112014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1">
                <a:solidFill>
                  <a:srgbClr val="61727E"/>
                </a:solidFill>
                <a:latin typeface="Aptos"/>
                <a:ea typeface="Aptos"/>
                <a:cs typeface="Aptos"/>
              </a:defRPr>
            </a:pPr>
            <a:r>
              <a:rPr sz="900" b="1">
                <a:solidFill>
                  <a:srgbClr val="61727E"/>
                </a:solidFill>
                <a:latin typeface="Aptos"/>
                <a:ea typeface="Aptos"/>
                <a:cs typeface="Aptos"/>
              </a:rPr>
              <a:t>07</a:t>
            </a:r>
          </a:p>
        </p:txBody>
      </p:sp>
      <p:sp>
        <p:nvSpPr>
          <p:cNvPr id="8" name="">
            <a:extLst xmlns:a="http://schemas.openxmlformats.org/drawingml/2006/main">
              <a:ext uri="{FF2B5EF4-FFF2-40B4-BE49-F238E27FC236}">
                <a16:creationId xmlns:a16="http://schemas.microsoft.com/office/drawing/2014/main" id="{5A64F09C-3D61-4A16-9A2A-65A70B2446F7}"/>
              </a:ext>
            </a:extLst>
          </p:cNvPr>
          <p:cNvSpPr>
            <a:spLocks xmlns:a="http://schemas.openxmlformats.org/drawingml/2006/main" noGrp="1"/>
          </p:cNvSpPr>
          <p:nvPr/>
        </p:nvSpPr>
        <p:spPr>
          <a:xfrm xmlns:a="http://schemas.openxmlformats.org/drawingml/2006/main">
            <a:off x="609600" y="1981200"/>
            <a:ext cx="13525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CE5EA"/>
            </a:solidFill>
          </a:ln>
        </p:spPr>
      </p:sp>
      <p:sp>
        <p:nvSpPr>
          <p:cNvPr id="9" name="">
            <a:extLst xmlns:a="http://schemas.openxmlformats.org/drawingml/2006/main">
              <a:ext uri="{FF2B5EF4-FFF2-40B4-BE49-F238E27FC236}">
                <a16:creationId xmlns:a16="http://schemas.microsoft.com/office/drawing/2014/main" id="{A60221D0-C0D2-49C8-8938-BB39D7842A87}"/>
              </a:ext>
            </a:extLst>
          </p:cNvPr>
          <p:cNvSpPr>
            <a:spLocks xmlns:a="http://schemas.openxmlformats.org/drawingml/2006/main" noGrp="1"/>
          </p:cNvSpPr>
          <p:nvPr/>
        </p:nvSpPr>
        <p:spPr>
          <a:xfrm xmlns:a="http://schemas.openxmlformats.org/drawingml/2006/main">
            <a:off x="685800" y="2028825"/>
            <a:ext cx="1200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0A6A6"/>
                </a:solidFill>
                <a:latin typeface="Aptos"/>
                <a:ea typeface="Aptos"/>
                <a:cs typeface="Aptos"/>
              </a:defRPr>
            </a:pPr>
            <a:r>
              <a:rPr sz="1200" b="1">
                <a:solidFill>
                  <a:srgbClr val="00A6A6"/>
                </a:solidFill>
                <a:latin typeface="Aptos"/>
                <a:ea typeface="Aptos"/>
                <a:cs typeface="Aptos"/>
              </a:rPr>
              <a:t>Raw dataset</a:t>
            </a:r>
          </a:p>
        </p:txBody>
      </p:sp>
      <p:sp>
        <p:nvSpPr>
          <p:cNvPr id="10" name="">
            <a:extLst xmlns:a="http://schemas.openxmlformats.org/drawingml/2006/main">
              <a:ext uri="{FF2B5EF4-FFF2-40B4-BE49-F238E27FC236}">
                <a16:creationId xmlns:a16="http://schemas.microsoft.com/office/drawing/2014/main" id="{C2C2B1A2-AB6D-476B-9F5D-B6E58F6F45A4}"/>
              </a:ext>
            </a:extLst>
          </p:cNvPr>
          <p:cNvSpPr>
            <a:spLocks xmlns:a="http://schemas.openxmlformats.org/drawingml/2006/main" noGrp="1"/>
          </p:cNvSpPr>
          <p:nvPr/>
        </p:nvSpPr>
        <p:spPr>
          <a:xfrm xmlns:a="http://schemas.openxmlformats.org/drawingml/2006/main">
            <a:off x="1971675" y="2038350"/>
            <a:ext cx="19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307"/>
          </a:bodyPr>
          <a:lstStyle xmlns:a="http://schemas.openxmlformats.org/drawingml/2006/main"/>
          <a:p xmlns:a="http://schemas.openxmlformats.org/drawingml/2006/main">
            <a:pPr algn="ctr">
              <a:defRPr sz="1575" b="1">
                <a:solidFill>
                  <a:srgbClr val="61727E"/>
                </a:solidFill>
                <a:latin typeface="Aptos"/>
                <a:ea typeface="Aptos"/>
                <a:cs typeface="Aptos"/>
              </a:defRPr>
            </a:pPr>
            <a:r>
              <a:rPr sz="1575" b="1">
                <a:solidFill>
                  <a:srgbClr val="61727E"/>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F7961890-EDDA-49C2-A75A-EFAD5B49EE7E}"/>
              </a:ext>
            </a:extLst>
          </p:cNvPr>
          <p:cNvSpPr>
            <a:spLocks xmlns:a="http://schemas.openxmlformats.org/drawingml/2006/main" noGrp="1"/>
          </p:cNvSpPr>
          <p:nvPr/>
        </p:nvSpPr>
        <p:spPr>
          <a:xfrm xmlns:a="http://schemas.openxmlformats.org/drawingml/2006/main">
            <a:off x="2171700" y="1981200"/>
            <a:ext cx="13525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CE5EA"/>
            </a:solidFill>
          </a:ln>
        </p:spPr>
      </p:sp>
      <p:sp>
        <p:nvSpPr>
          <p:cNvPr id="12" name="">
            <a:extLst xmlns:a="http://schemas.openxmlformats.org/drawingml/2006/main">
              <a:ext uri="{FF2B5EF4-FFF2-40B4-BE49-F238E27FC236}">
                <a16:creationId xmlns:a16="http://schemas.microsoft.com/office/drawing/2014/main" id="{0BF503C7-96CD-4993-9CBB-69B38D590ECD}"/>
              </a:ext>
            </a:extLst>
          </p:cNvPr>
          <p:cNvSpPr>
            <a:spLocks xmlns:a="http://schemas.openxmlformats.org/drawingml/2006/main" noGrp="1"/>
          </p:cNvSpPr>
          <p:nvPr/>
        </p:nvSpPr>
        <p:spPr>
          <a:xfrm xmlns:a="http://schemas.openxmlformats.org/drawingml/2006/main">
            <a:off x="2247900" y="2028825"/>
            <a:ext cx="1200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583"/>
          </a:bodyPr>
          <a:lstStyle xmlns:a="http://schemas.openxmlformats.org/drawingml/2006/main"/>
          <a:p xmlns:a="http://schemas.openxmlformats.org/drawingml/2006/main">
            <a:pPr algn="ctr">
              <a:defRPr sz="1200" b="1">
                <a:solidFill>
                  <a:srgbClr val="00A6A6"/>
                </a:solidFill>
                <a:latin typeface="Aptos"/>
                <a:ea typeface="Aptos"/>
                <a:cs typeface="Aptos"/>
              </a:defRPr>
            </a:pPr>
            <a:r>
              <a:rPr sz="1200" b="1">
                <a:solidFill>
                  <a:srgbClr val="00A6A6"/>
                </a:solidFill>
                <a:latin typeface="Aptos"/>
                <a:ea typeface="Aptos"/>
                <a:cs typeface="Aptos"/>
              </a:rPr>
              <a:t>Data type</a:t>
            </a:r>
          </a:p>
          <a:p xmlns:a="http://schemas.openxmlformats.org/drawingml/2006/main">
            <a:pPr algn="ctr">
              <a:defRPr sz="1200" b="1">
                <a:solidFill>
                  <a:srgbClr val="00A6A6"/>
                </a:solidFill>
                <a:latin typeface="Aptos"/>
                <a:ea typeface="Aptos"/>
                <a:cs typeface="Aptos"/>
              </a:defRPr>
            </a:pPr>
            <a:r>
              <a:rPr sz="1200" b="1">
                <a:solidFill>
                  <a:srgbClr val="00A6A6"/>
                </a:solidFill>
                <a:latin typeface="Aptos"/>
                <a:ea typeface="Aptos"/>
                <a:cs typeface="Aptos"/>
              </a:rPr>
              <a:t>validation</a:t>
            </a:r>
          </a:p>
        </p:txBody>
      </p:sp>
      <p:sp>
        <p:nvSpPr>
          <p:cNvPr id="13" name="">
            <a:extLst xmlns:a="http://schemas.openxmlformats.org/drawingml/2006/main">
              <a:ext uri="{FF2B5EF4-FFF2-40B4-BE49-F238E27FC236}">
                <a16:creationId xmlns:a16="http://schemas.microsoft.com/office/drawing/2014/main" id="{59576E90-ED1D-485C-A4DA-68FA5C292CEC}"/>
              </a:ext>
            </a:extLst>
          </p:cNvPr>
          <p:cNvSpPr>
            <a:spLocks xmlns:a="http://schemas.openxmlformats.org/drawingml/2006/main" noGrp="1"/>
          </p:cNvSpPr>
          <p:nvPr/>
        </p:nvSpPr>
        <p:spPr>
          <a:xfrm xmlns:a="http://schemas.openxmlformats.org/drawingml/2006/main">
            <a:off x="3533775" y="2038350"/>
            <a:ext cx="19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307"/>
          </a:bodyPr>
          <a:lstStyle xmlns:a="http://schemas.openxmlformats.org/drawingml/2006/main"/>
          <a:p xmlns:a="http://schemas.openxmlformats.org/drawingml/2006/main">
            <a:pPr algn="ctr">
              <a:defRPr sz="1575" b="1">
                <a:solidFill>
                  <a:srgbClr val="61727E"/>
                </a:solidFill>
                <a:latin typeface="Aptos"/>
                <a:ea typeface="Aptos"/>
                <a:cs typeface="Aptos"/>
              </a:defRPr>
            </a:pPr>
            <a:r>
              <a:rPr sz="1575" b="1">
                <a:solidFill>
                  <a:srgbClr val="61727E"/>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BA03EB0C-793B-45B5-A894-3BE258493A5E}"/>
              </a:ext>
            </a:extLst>
          </p:cNvPr>
          <p:cNvSpPr>
            <a:spLocks xmlns:a="http://schemas.openxmlformats.org/drawingml/2006/main" noGrp="1"/>
          </p:cNvSpPr>
          <p:nvPr/>
        </p:nvSpPr>
        <p:spPr>
          <a:xfrm xmlns:a="http://schemas.openxmlformats.org/drawingml/2006/main">
            <a:off x="3733800" y="1981200"/>
            <a:ext cx="13525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CE5EA"/>
            </a:solidFill>
          </a:ln>
        </p:spPr>
      </p:sp>
      <p:sp>
        <p:nvSpPr>
          <p:cNvPr id="15" name="">
            <a:extLst xmlns:a="http://schemas.openxmlformats.org/drawingml/2006/main">
              <a:ext uri="{FF2B5EF4-FFF2-40B4-BE49-F238E27FC236}">
                <a16:creationId xmlns:a16="http://schemas.microsoft.com/office/drawing/2014/main" id="{24D529C4-BA15-4366-A619-31BDE8ECDE30}"/>
              </a:ext>
            </a:extLst>
          </p:cNvPr>
          <p:cNvSpPr>
            <a:spLocks xmlns:a="http://schemas.openxmlformats.org/drawingml/2006/main" noGrp="1"/>
          </p:cNvSpPr>
          <p:nvPr/>
        </p:nvSpPr>
        <p:spPr>
          <a:xfrm xmlns:a="http://schemas.openxmlformats.org/drawingml/2006/main">
            <a:off x="3810000" y="2028825"/>
            <a:ext cx="1200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583"/>
          </a:bodyPr>
          <a:lstStyle xmlns:a="http://schemas.openxmlformats.org/drawingml/2006/main"/>
          <a:p xmlns:a="http://schemas.openxmlformats.org/drawingml/2006/main">
            <a:pPr algn="ctr">
              <a:defRPr sz="1200" b="1">
                <a:solidFill>
                  <a:srgbClr val="00A6A6"/>
                </a:solidFill>
                <a:latin typeface="Aptos"/>
                <a:ea typeface="Aptos"/>
                <a:cs typeface="Aptos"/>
              </a:defRPr>
            </a:pPr>
            <a:r>
              <a:rPr sz="1200" b="1">
                <a:solidFill>
                  <a:srgbClr val="00A6A6"/>
                </a:solidFill>
                <a:latin typeface="Aptos"/>
                <a:ea typeface="Aptos"/>
                <a:cs typeface="Aptos"/>
              </a:rPr>
              <a:t>Missing &amp;</a:t>
            </a:r>
          </a:p>
          <a:p xmlns:a="http://schemas.openxmlformats.org/drawingml/2006/main">
            <a:pPr algn="ctr">
              <a:defRPr sz="1200" b="1">
                <a:solidFill>
                  <a:srgbClr val="00A6A6"/>
                </a:solidFill>
                <a:latin typeface="Aptos"/>
                <a:ea typeface="Aptos"/>
                <a:cs typeface="Aptos"/>
              </a:defRPr>
            </a:pPr>
            <a:r>
              <a:rPr sz="1200" b="1">
                <a:solidFill>
                  <a:srgbClr val="00A6A6"/>
                </a:solidFill>
                <a:latin typeface="Aptos"/>
                <a:ea typeface="Aptos"/>
                <a:cs typeface="Aptos"/>
              </a:rPr>
              <a:t>error check</a:t>
            </a:r>
          </a:p>
        </p:txBody>
      </p:sp>
      <p:sp>
        <p:nvSpPr>
          <p:cNvPr id="16" name="">
            <a:extLst xmlns:a="http://schemas.openxmlformats.org/drawingml/2006/main">
              <a:ext uri="{FF2B5EF4-FFF2-40B4-BE49-F238E27FC236}">
                <a16:creationId xmlns:a16="http://schemas.microsoft.com/office/drawing/2014/main" id="{8735EBA2-1AAD-4CBB-BA1A-2AD011F8BD88}"/>
              </a:ext>
            </a:extLst>
          </p:cNvPr>
          <p:cNvSpPr>
            <a:spLocks xmlns:a="http://schemas.openxmlformats.org/drawingml/2006/main" noGrp="1"/>
          </p:cNvSpPr>
          <p:nvPr/>
        </p:nvSpPr>
        <p:spPr>
          <a:xfrm xmlns:a="http://schemas.openxmlformats.org/drawingml/2006/main">
            <a:off x="5095875" y="2038350"/>
            <a:ext cx="19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307"/>
          </a:bodyPr>
          <a:lstStyle xmlns:a="http://schemas.openxmlformats.org/drawingml/2006/main"/>
          <a:p xmlns:a="http://schemas.openxmlformats.org/drawingml/2006/main">
            <a:pPr algn="ctr">
              <a:defRPr sz="1575" b="1">
                <a:solidFill>
                  <a:srgbClr val="61727E"/>
                </a:solidFill>
                <a:latin typeface="Aptos"/>
                <a:ea typeface="Aptos"/>
                <a:cs typeface="Aptos"/>
              </a:defRPr>
            </a:pPr>
            <a:r>
              <a:rPr sz="1575" b="1">
                <a:solidFill>
                  <a:srgbClr val="61727E"/>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E1D54627-D332-4CCC-BADD-159FB96210BA}"/>
              </a:ext>
            </a:extLst>
          </p:cNvPr>
          <p:cNvSpPr>
            <a:spLocks xmlns:a="http://schemas.openxmlformats.org/drawingml/2006/main" noGrp="1"/>
          </p:cNvSpPr>
          <p:nvPr/>
        </p:nvSpPr>
        <p:spPr>
          <a:xfrm xmlns:a="http://schemas.openxmlformats.org/drawingml/2006/main">
            <a:off x="5295900" y="1981200"/>
            <a:ext cx="13525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CE5EA"/>
            </a:solidFill>
          </a:ln>
        </p:spPr>
      </p:sp>
      <p:sp>
        <p:nvSpPr>
          <p:cNvPr id="18" name="">
            <a:extLst xmlns:a="http://schemas.openxmlformats.org/drawingml/2006/main">
              <a:ext uri="{FF2B5EF4-FFF2-40B4-BE49-F238E27FC236}">
                <a16:creationId xmlns:a16="http://schemas.microsoft.com/office/drawing/2014/main" id="{6E6ABFF5-5597-4974-A6CA-59C17E84E060}"/>
              </a:ext>
            </a:extLst>
          </p:cNvPr>
          <p:cNvSpPr>
            <a:spLocks xmlns:a="http://schemas.openxmlformats.org/drawingml/2006/main" noGrp="1"/>
          </p:cNvSpPr>
          <p:nvPr/>
        </p:nvSpPr>
        <p:spPr>
          <a:xfrm xmlns:a="http://schemas.openxmlformats.org/drawingml/2006/main">
            <a:off x="5372100" y="2028825"/>
            <a:ext cx="1200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583"/>
          </a:bodyPr>
          <a:lstStyle xmlns:a="http://schemas.openxmlformats.org/drawingml/2006/main"/>
          <a:p xmlns:a="http://schemas.openxmlformats.org/drawingml/2006/main">
            <a:pPr algn="ctr">
              <a:defRPr sz="1200" b="1">
                <a:solidFill>
                  <a:srgbClr val="00A6A6"/>
                </a:solidFill>
                <a:latin typeface="Aptos"/>
                <a:ea typeface="Aptos"/>
                <a:cs typeface="Aptos"/>
              </a:defRPr>
            </a:pPr>
            <a:r>
              <a:rPr sz="1200" b="1">
                <a:solidFill>
                  <a:srgbClr val="00A6A6"/>
                </a:solidFill>
                <a:latin typeface="Aptos"/>
                <a:ea typeface="Aptos"/>
                <a:cs typeface="Aptos"/>
              </a:rPr>
              <a:t>Transaction ID</a:t>
            </a:r>
          </a:p>
          <a:p xmlns:a="http://schemas.openxmlformats.org/drawingml/2006/main">
            <a:pPr algn="ctr">
              <a:defRPr sz="1200" b="1">
                <a:solidFill>
                  <a:srgbClr val="00A6A6"/>
                </a:solidFill>
                <a:latin typeface="Aptos"/>
                <a:ea typeface="Aptos"/>
                <a:cs typeface="Aptos"/>
              </a:defRPr>
            </a:pPr>
            <a:r>
              <a:rPr sz="1200" b="1">
                <a:solidFill>
                  <a:srgbClr val="00A6A6"/>
                </a:solidFill>
                <a:latin typeface="Aptos"/>
                <a:ea typeface="Aptos"/>
                <a:cs typeface="Aptos"/>
              </a:rPr>
              <a:t>validation</a:t>
            </a:r>
          </a:p>
        </p:txBody>
      </p:sp>
      <p:sp>
        <p:nvSpPr>
          <p:cNvPr id="19" name="">
            <a:extLst xmlns:a="http://schemas.openxmlformats.org/drawingml/2006/main">
              <a:ext uri="{FF2B5EF4-FFF2-40B4-BE49-F238E27FC236}">
                <a16:creationId xmlns:a16="http://schemas.microsoft.com/office/drawing/2014/main" id="{F6F7FCEA-5A66-4E6E-AF44-133D93899AE1}"/>
              </a:ext>
            </a:extLst>
          </p:cNvPr>
          <p:cNvSpPr>
            <a:spLocks xmlns:a="http://schemas.openxmlformats.org/drawingml/2006/main" noGrp="1"/>
          </p:cNvSpPr>
          <p:nvPr/>
        </p:nvSpPr>
        <p:spPr>
          <a:xfrm xmlns:a="http://schemas.openxmlformats.org/drawingml/2006/main">
            <a:off x="6657975" y="2038350"/>
            <a:ext cx="19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307"/>
          </a:bodyPr>
          <a:lstStyle xmlns:a="http://schemas.openxmlformats.org/drawingml/2006/main"/>
          <a:p xmlns:a="http://schemas.openxmlformats.org/drawingml/2006/main">
            <a:pPr algn="ctr">
              <a:defRPr sz="1575" b="1">
                <a:solidFill>
                  <a:srgbClr val="61727E"/>
                </a:solidFill>
                <a:latin typeface="Aptos"/>
                <a:ea typeface="Aptos"/>
                <a:cs typeface="Aptos"/>
              </a:defRPr>
            </a:pPr>
            <a:r>
              <a:rPr sz="1575" b="1">
                <a:solidFill>
                  <a:srgbClr val="61727E"/>
                </a:solidFill>
                <a:latin typeface="Aptos"/>
                <a:ea typeface="Aptos"/>
                <a:cs typeface="Aptos"/>
              </a:rPr>
              <a:t>›</a:t>
            </a:r>
          </a:p>
        </p:txBody>
      </p:sp>
      <p:sp>
        <p:nvSpPr>
          <p:cNvPr id="20" name="">
            <a:extLst xmlns:a="http://schemas.openxmlformats.org/drawingml/2006/main">
              <a:ext uri="{FF2B5EF4-FFF2-40B4-BE49-F238E27FC236}">
                <a16:creationId xmlns:a16="http://schemas.microsoft.com/office/drawing/2014/main" id="{F7D88616-E5B5-4C10-8336-726745058CD5}"/>
              </a:ext>
            </a:extLst>
          </p:cNvPr>
          <p:cNvSpPr>
            <a:spLocks xmlns:a="http://schemas.openxmlformats.org/drawingml/2006/main" noGrp="1"/>
          </p:cNvSpPr>
          <p:nvPr/>
        </p:nvSpPr>
        <p:spPr>
          <a:xfrm xmlns:a="http://schemas.openxmlformats.org/drawingml/2006/main">
            <a:off x="6858000" y="1981200"/>
            <a:ext cx="13525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CE5EA"/>
            </a:solidFill>
          </a:ln>
        </p:spPr>
      </p:sp>
      <p:sp>
        <p:nvSpPr>
          <p:cNvPr id="21" name="">
            <a:extLst xmlns:a="http://schemas.openxmlformats.org/drawingml/2006/main">
              <a:ext uri="{FF2B5EF4-FFF2-40B4-BE49-F238E27FC236}">
                <a16:creationId xmlns:a16="http://schemas.microsoft.com/office/drawing/2014/main" id="{889F1E5C-A80C-4E76-827B-AE1D05D3BF90}"/>
              </a:ext>
            </a:extLst>
          </p:cNvPr>
          <p:cNvSpPr>
            <a:spLocks xmlns:a="http://schemas.openxmlformats.org/drawingml/2006/main" noGrp="1"/>
          </p:cNvSpPr>
          <p:nvPr/>
        </p:nvSpPr>
        <p:spPr>
          <a:xfrm xmlns:a="http://schemas.openxmlformats.org/drawingml/2006/main">
            <a:off x="6934200" y="2028825"/>
            <a:ext cx="1200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583"/>
          </a:bodyPr>
          <a:lstStyle xmlns:a="http://schemas.openxmlformats.org/drawingml/2006/main"/>
          <a:p xmlns:a="http://schemas.openxmlformats.org/drawingml/2006/main">
            <a:pPr algn="ctr">
              <a:defRPr sz="1200" b="1">
                <a:solidFill>
                  <a:srgbClr val="00A6A6"/>
                </a:solidFill>
                <a:latin typeface="Aptos"/>
                <a:ea typeface="Aptos"/>
                <a:cs typeface="Aptos"/>
              </a:defRPr>
            </a:pPr>
            <a:r>
              <a:rPr sz="1200" b="1">
                <a:solidFill>
                  <a:srgbClr val="00A6A6"/>
                </a:solidFill>
                <a:latin typeface="Aptos"/>
                <a:ea typeface="Aptos"/>
                <a:cs typeface="Aptos"/>
              </a:rPr>
              <a:t>Category</a:t>
            </a:r>
          </a:p>
          <a:p xmlns:a="http://schemas.openxmlformats.org/drawingml/2006/main">
            <a:pPr algn="ctr">
              <a:defRPr sz="1200" b="1">
                <a:solidFill>
                  <a:srgbClr val="00A6A6"/>
                </a:solidFill>
                <a:latin typeface="Aptos"/>
                <a:ea typeface="Aptos"/>
                <a:cs typeface="Aptos"/>
              </a:defRPr>
            </a:pPr>
            <a:r>
              <a:rPr sz="1200" b="1">
                <a:solidFill>
                  <a:srgbClr val="00A6A6"/>
                </a:solidFill>
                <a:latin typeface="Aptos"/>
                <a:ea typeface="Aptos"/>
                <a:cs typeface="Aptos"/>
              </a:rPr>
              <a:t>validation</a:t>
            </a:r>
          </a:p>
        </p:txBody>
      </p:sp>
      <p:sp>
        <p:nvSpPr>
          <p:cNvPr id="22" name="">
            <a:extLst xmlns:a="http://schemas.openxmlformats.org/drawingml/2006/main">
              <a:ext uri="{FF2B5EF4-FFF2-40B4-BE49-F238E27FC236}">
                <a16:creationId xmlns:a16="http://schemas.microsoft.com/office/drawing/2014/main" id="{58B6BCFB-5D66-42FC-8E8F-7A1E04879656}"/>
              </a:ext>
            </a:extLst>
          </p:cNvPr>
          <p:cNvSpPr>
            <a:spLocks xmlns:a="http://schemas.openxmlformats.org/drawingml/2006/main" noGrp="1"/>
          </p:cNvSpPr>
          <p:nvPr/>
        </p:nvSpPr>
        <p:spPr>
          <a:xfrm xmlns:a="http://schemas.openxmlformats.org/drawingml/2006/main">
            <a:off x="8220075" y="2038350"/>
            <a:ext cx="19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307"/>
          </a:bodyPr>
          <a:lstStyle xmlns:a="http://schemas.openxmlformats.org/drawingml/2006/main"/>
          <a:p xmlns:a="http://schemas.openxmlformats.org/drawingml/2006/main">
            <a:pPr algn="ctr">
              <a:defRPr sz="1575" b="1">
                <a:solidFill>
                  <a:srgbClr val="61727E"/>
                </a:solidFill>
                <a:latin typeface="Aptos"/>
                <a:ea typeface="Aptos"/>
                <a:cs typeface="Aptos"/>
              </a:defRPr>
            </a:pPr>
            <a:r>
              <a:rPr sz="1575" b="1">
                <a:solidFill>
                  <a:srgbClr val="61727E"/>
                </a:solidFill>
                <a:latin typeface="Aptos"/>
                <a:ea typeface="Aptos"/>
                <a:cs typeface="Aptos"/>
              </a:rPr>
              <a:t>›</a:t>
            </a:r>
          </a:p>
        </p:txBody>
      </p:sp>
      <p:sp>
        <p:nvSpPr>
          <p:cNvPr id="23" name="">
            <a:extLst xmlns:a="http://schemas.openxmlformats.org/drawingml/2006/main">
              <a:ext uri="{FF2B5EF4-FFF2-40B4-BE49-F238E27FC236}">
                <a16:creationId xmlns:a16="http://schemas.microsoft.com/office/drawing/2014/main" id="{211E4B74-5B44-472A-8E8D-6172E94C6843}"/>
              </a:ext>
            </a:extLst>
          </p:cNvPr>
          <p:cNvSpPr>
            <a:spLocks xmlns:a="http://schemas.openxmlformats.org/drawingml/2006/main" noGrp="1"/>
          </p:cNvSpPr>
          <p:nvPr/>
        </p:nvSpPr>
        <p:spPr>
          <a:xfrm xmlns:a="http://schemas.openxmlformats.org/drawingml/2006/main">
            <a:off x="8420100" y="1981200"/>
            <a:ext cx="13525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CE5EA"/>
            </a:solidFill>
          </a:ln>
        </p:spPr>
      </p:sp>
      <p:sp>
        <p:nvSpPr>
          <p:cNvPr id="24" name="">
            <a:extLst xmlns:a="http://schemas.openxmlformats.org/drawingml/2006/main">
              <a:ext uri="{FF2B5EF4-FFF2-40B4-BE49-F238E27FC236}">
                <a16:creationId xmlns:a16="http://schemas.microsoft.com/office/drawing/2014/main" id="{7BBABA0B-1FBC-4508-A5AB-F6B55B0E3BB6}"/>
              </a:ext>
            </a:extLst>
          </p:cNvPr>
          <p:cNvSpPr>
            <a:spLocks xmlns:a="http://schemas.openxmlformats.org/drawingml/2006/main" noGrp="1"/>
          </p:cNvSpPr>
          <p:nvPr/>
        </p:nvSpPr>
        <p:spPr>
          <a:xfrm xmlns:a="http://schemas.openxmlformats.org/drawingml/2006/main">
            <a:off x="8496300" y="2028825"/>
            <a:ext cx="1200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0A6A6"/>
                </a:solidFill>
                <a:latin typeface="Aptos"/>
                <a:ea typeface="Aptos"/>
                <a:cs typeface="Aptos"/>
              </a:defRPr>
            </a:pPr>
            <a:r>
              <a:rPr sz="1200" b="1">
                <a:solidFill>
                  <a:srgbClr val="00A6A6"/>
                </a:solidFill>
                <a:latin typeface="Aptos"/>
                <a:ea typeface="Aptos"/>
                <a:cs typeface="Aptos"/>
              </a:rPr>
              <a:t>Clean dataset</a:t>
            </a:r>
          </a:p>
        </p:txBody>
      </p:sp>
      <p:sp>
        <p:nvSpPr>
          <p:cNvPr id="25" name="">
            <a:extLst xmlns:a="http://schemas.openxmlformats.org/drawingml/2006/main">
              <a:ext uri="{FF2B5EF4-FFF2-40B4-BE49-F238E27FC236}">
                <a16:creationId xmlns:a16="http://schemas.microsoft.com/office/drawing/2014/main" id="{3FC414C3-A729-4C20-8E33-4EA5ECBC017B}"/>
              </a:ext>
            </a:extLst>
          </p:cNvPr>
          <p:cNvSpPr>
            <a:spLocks xmlns:a="http://schemas.openxmlformats.org/drawingml/2006/main" noGrp="1"/>
          </p:cNvSpPr>
          <p:nvPr/>
        </p:nvSpPr>
        <p:spPr>
          <a:xfrm xmlns:a="http://schemas.openxmlformats.org/drawingml/2006/main">
            <a:off x="9782175" y="2038350"/>
            <a:ext cx="19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307"/>
          </a:bodyPr>
          <a:lstStyle xmlns:a="http://schemas.openxmlformats.org/drawingml/2006/main"/>
          <a:p xmlns:a="http://schemas.openxmlformats.org/drawingml/2006/main">
            <a:pPr algn="ctr">
              <a:defRPr sz="1575" b="1">
                <a:solidFill>
                  <a:srgbClr val="61727E"/>
                </a:solidFill>
                <a:latin typeface="Aptos"/>
                <a:ea typeface="Aptos"/>
                <a:cs typeface="Aptos"/>
              </a:defRPr>
            </a:pPr>
            <a:r>
              <a:rPr sz="1575" b="1">
                <a:solidFill>
                  <a:srgbClr val="61727E"/>
                </a:solidFill>
                <a:latin typeface="Aptos"/>
                <a:ea typeface="Aptos"/>
                <a:cs typeface="Aptos"/>
              </a:rPr>
              <a:t>›</a:t>
            </a:r>
          </a:p>
        </p:txBody>
      </p:sp>
      <p:sp>
        <p:nvSpPr>
          <p:cNvPr id="26" name="">
            <a:extLst xmlns:a="http://schemas.openxmlformats.org/drawingml/2006/main">
              <a:ext uri="{FF2B5EF4-FFF2-40B4-BE49-F238E27FC236}">
                <a16:creationId xmlns:a16="http://schemas.microsoft.com/office/drawing/2014/main" id="{CAE8401D-0590-4B08-8D1B-9E6DBD855F71}"/>
              </a:ext>
            </a:extLst>
          </p:cNvPr>
          <p:cNvSpPr>
            <a:spLocks xmlns:a="http://schemas.openxmlformats.org/drawingml/2006/main" noGrp="1"/>
          </p:cNvSpPr>
          <p:nvPr/>
        </p:nvSpPr>
        <p:spPr>
          <a:xfrm xmlns:a="http://schemas.openxmlformats.org/drawingml/2006/main">
            <a:off x="9982200" y="1981200"/>
            <a:ext cx="1352550" cy="514350"/>
          </a:xfrm>
          <a:prstGeom xmlns:a="http://schemas.openxmlformats.org/drawingml/2006/main" prst="roundRect">
            <a:avLst>
              <a:gd name="adj" fmla="val 14815"/>
            </a:avLst>
          </a:prstGeom>
          <a:solidFill xmlns:a="http://schemas.openxmlformats.org/drawingml/2006/main">
            <a:srgbClr val="EAF2F6"/>
          </a:solidFill>
          <a:ln xmlns:a="http://schemas.openxmlformats.org/drawingml/2006/main" w="9525">
            <a:solidFill>
              <a:srgbClr val="DCE5EA"/>
            </a:solidFill>
          </a:ln>
        </p:spPr>
      </p:sp>
      <p:sp>
        <p:nvSpPr>
          <p:cNvPr id="27" name="">
            <a:extLst xmlns:a="http://schemas.openxmlformats.org/drawingml/2006/main">
              <a:ext uri="{FF2B5EF4-FFF2-40B4-BE49-F238E27FC236}">
                <a16:creationId xmlns:a16="http://schemas.microsoft.com/office/drawing/2014/main" id="{9CA7A3F9-A110-4D7D-9C18-5B2AA1BA2EC7}"/>
              </a:ext>
            </a:extLst>
          </p:cNvPr>
          <p:cNvSpPr>
            <a:spLocks xmlns:a="http://schemas.openxmlformats.org/drawingml/2006/main" noGrp="1"/>
          </p:cNvSpPr>
          <p:nvPr/>
        </p:nvSpPr>
        <p:spPr>
          <a:xfrm xmlns:a="http://schemas.openxmlformats.org/drawingml/2006/main">
            <a:off x="10058400" y="2028825"/>
            <a:ext cx="1200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583"/>
          </a:bodyPr>
          <a:lstStyle xmlns:a="http://schemas.openxmlformats.org/drawingml/2006/main"/>
          <a:p xmlns:a="http://schemas.openxmlformats.org/drawingml/2006/main">
            <a:pPr algn="ctr">
              <a:defRPr sz="1200" b="1">
                <a:solidFill>
                  <a:srgbClr val="123B5D"/>
                </a:solidFill>
                <a:latin typeface="Aptos"/>
                <a:ea typeface="Aptos"/>
                <a:cs typeface="Aptos"/>
              </a:defRPr>
            </a:pPr>
            <a:r>
              <a:rPr sz="1200" b="1">
                <a:solidFill>
                  <a:srgbClr val="123B5D"/>
                </a:solidFill>
                <a:latin typeface="Aptos"/>
                <a:ea typeface="Aptos"/>
                <a:cs typeface="Aptos"/>
              </a:rPr>
              <a:t>Power BI</a:t>
            </a:r>
          </a:p>
          <a:p xmlns:a="http://schemas.openxmlformats.org/drawingml/2006/main">
            <a:pPr algn="ctr">
              <a:defRPr sz="1200" b="1">
                <a:solidFill>
                  <a:srgbClr val="123B5D"/>
                </a:solidFill>
                <a:latin typeface="Aptos"/>
                <a:ea typeface="Aptos"/>
                <a:cs typeface="Aptos"/>
              </a:defRPr>
            </a:pPr>
            <a:r>
              <a:rPr sz="1200" b="1">
                <a:solidFill>
                  <a:srgbClr val="123B5D"/>
                </a:solidFill>
                <a:latin typeface="Aptos"/>
                <a:ea typeface="Aptos"/>
                <a:cs typeface="Aptos"/>
              </a:rPr>
              <a:t>model</a:t>
            </a:r>
          </a:p>
        </p:txBody>
      </p:sp>
      <p:sp>
        <p:nvSpPr>
          <p:cNvPr id="28" name="">
            <a:extLst xmlns:a="http://schemas.openxmlformats.org/drawingml/2006/main">
              <a:ext uri="{FF2B5EF4-FFF2-40B4-BE49-F238E27FC236}">
                <a16:creationId xmlns:a16="http://schemas.microsoft.com/office/drawing/2014/main" id="{45834C59-15F7-484B-9E9D-167D78FAD898}"/>
              </a:ext>
            </a:extLst>
          </p:cNvPr>
          <p:cNvSpPr>
            <a:spLocks xmlns:a="http://schemas.openxmlformats.org/drawingml/2006/main" noGrp="1"/>
          </p:cNvSpPr>
          <p:nvPr/>
        </p:nvSpPr>
        <p:spPr>
          <a:xfrm xmlns:a="http://schemas.openxmlformats.org/drawingml/2006/main">
            <a:off x="1257300" y="3371850"/>
            <a:ext cx="26670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29" name="">
            <a:extLst xmlns:a="http://schemas.openxmlformats.org/drawingml/2006/main">
              <a:ext uri="{FF2B5EF4-FFF2-40B4-BE49-F238E27FC236}">
                <a16:creationId xmlns:a16="http://schemas.microsoft.com/office/drawing/2014/main" id="{0B27C498-0C4D-4CE9-809C-51C30763E66D}"/>
              </a:ext>
            </a:extLst>
          </p:cNvPr>
          <p:cNvSpPr>
            <a:spLocks xmlns:a="http://schemas.openxmlformats.org/drawingml/2006/main" noGrp="1"/>
          </p:cNvSpPr>
          <p:nvPr/>
        </p:nvSpPr>
        <p:spPr>
          <a:xfrm xmlns:a="http://schemas.openxmlformats.org/drawingml/2006/main">
            <a:off x="1257300" y="3371850"/>
            <a:ext cx="47625" cy="1028700"/>
          </a:xfrm>
          <a:prstGeom xmlns:a="http://schemas.openxmlformats.org/drawingml/2006/main" prst="rect">
            <a:avLst/>
          </a:prstGeom>
          <a:solidFill xmlns:a="http://schemas.openxmlformats.org/drawingml/2006/main">
            <a:srgbClr val="2E8B57"/>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B6EAD5EC-0BE6-4DCC-952F-3C4917AB65CB}"/>
              </a:ext>
            </a:extLst>
          </p:cNvPr>
          <p:cNvSpPr>
            <a:spLocks xmlns:a="http://schemas.openxmlformats.org/drawingml/2006/main" noGrp="1"/>
          </p:cNvSpPr>
          <p:nvPr/>
        </p:nvSpPr>
        <p:spPr>
          <a:xfrm xmlns:a="http://schemas.openxmlformats.org/drawingml/2006/main">
            <a:off x="1447800" y="3505200"/>
            <a:ext cx="2305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2E8B57"/>
                </a:solidFill>
                <a:latin typeface="Aptos"/>
                <a:ea typeface="Aptos"/>
                <a:cs typeface="Aptos"/>
              </a:defRPr>
            </a:pPr>
            <a:r>
              <a:rPr sz="2175" b="1">
                <a:solidFill>
                  <a:srgbClr val="2E8B57"/>
                </a:solidFill>
                <a:latin typeface="Aptos"/>
                <a:ea typeface="Aptos"/>
                <a:cs typeface="Aptos"/>
              </a:rPr>
              <a:t>100%</a:t>
            </a:r>
          </a:p>
        </p:txBody>
      </p:sp>
      <p:sp>
        <p:nvSpPr>
          <p:cNvPr id="31" name="">
            <a:extLst xmlns:a="http://schemas.openxmlformats.org/drawingml/2006/main">
              <a:ext uri="{FF2B5EF4-FFF2-40B4-BE49-F238E27FC236}">
                <a16:creationId xmlns:a16="http://schemas.microsoft.com/office/drawing/2014/main" id="{44B034EB-D4CF-498C-9A40-59B25B27F63A}"/>
              </a:ext>
            </a:extLst>
          </p:cNvPr>
          <p:cNvSpPr>
            <a:spLocks xmlns:a="http://schemas.openxmlformats.org/drawingml/2006/main" noGrp="1"/>
          </p:cNvSpPr>
          <p:nvPr/>
        </p:nvSpPr>
        <p:spPr>
          <a:xfrm xmlns:a="http://schemas.openxmlformats.org/drawingml/2006/main">
            <a:off x="1447800" y="3924300"/>
            <a:ext cx="2305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valid columns</a:t>
            </a:r>
          </a:p>
        </p:txBody>
      </p:sp>
      <p:sp>
        <p:nvSpPr>
          <p:cNvPr id="32" name="">
            <a:extLst xmlns:a="http://schemas.openxmlformats.org/drawingml/2006/main">
              <a:ext uri="{FF2B5EF4-FFF2-40B4-BE49-F238E27FC236}">
                <a16:creationId xmlns:a16="http://schemas.microsoft.com/office/drawing/2014/main" id="{0AFD4108-85F0-4CE5-9082-2A177F74F65A}"/>
              </a:ext>
            </a:extLst>
          </p:cNvPr>
          <p:cNvSpPr>
            <a:spLocks xmlns:a="http://schemas.openxmlformats.org/drawingml/2006/main" noGrp="1"/>
          </p:cNvSpPr>
          <p:nvPr/>
        </p:nvSpPr>
        <p:spPr>
          <a:xfrm xmlns:a="http://schemas.openxmlformats.org/drawingml/2006/main">
            <a:off x="4762500" y="3371850"/>
            <a:ext cx="26670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33" name="">
            <a:extLst xmlns:a="http://schemas.openxmlformats.org/drawingml/2006/main">
              <a:ext uri="{FF2B5EF4-FFF2-40B4-BE49-F238E27FC236}">
                <a16:creationId xmlns:a16="http://schemas.microsoft.com/office/drawing/2014/main" id="{32582806-F45C-4381-90FF-C5F62F413B23}"/>
              </a:ext>
            </a:extLst>
          </p:cNvPr>
          <p:cNvSpPr>
            <a:spLocks xmlns:a="http://schemas.openxmlformats.org/drawingml/2006/main" noGrp="1"/>
          </p:cNvSpPr>
          <p:nvPr/>
        </p:nvSpPr>
        <p:spPr>
          <a:xfrm xmlns:a="http://schemas.openxmlformats.org/drawingml/2006/main">
            <a:off x="4762500" y="3371850"/>
            <a:ext cx="47625" cy="10287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1F4E4956-789A-43FC-8066-F563101CAEC9}"/>
              </a:ext>
            </a:extLst>
          </p:cNvPr>
          <p:cNvSpPr>
            <a:spLocks xmlns:a="http://schemas.openxmlformats.org/drawingml/2006/main" noGrp="1"/>
          </p:cNvSpPr>
          <p:nvPr/>
        </p:nvSpPr>
        <p:spPr>
          <a:xfrm xmlns:a="http://schemas.openxmlformats.org/drawingml/2006/main">
            <a:off x="4953000" y="3505200"/>
            <a:ext cx="2305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00A6A6"/>
                </a:solidFill>
                <a:latin typeface="Aptos"/>
                <a:ea typeface="Aptos"/>
                <a:cs typeface="Aptos"/>
              </a:defRPr>
            </a:pPr>
            <a:r>
              <a:rPr sz="2175" b="1">
                <a:solidFill>
                  <a:srgbClr val="00A6A6"/>
                </a:solidFill>
                <a:latin typeface="Aptos"/>
                <a:ea typeface="Aptos"/>
                <a:cs typeface="Aptos"/>
              </a:rPr>
              <a:t>0%</a:t>
            </a:r>
          </a:p>
        </p:txBody>
      </p:sp>
      <p:sp>
        <p:nvSpPr>
          <p:cNvPr id="35" name="">
            <a:extLst xmlns:a="http://schemas.openxmlformats.org/drawingml/2006/main">
              <a:ext uri="{FF2B5EF4-FFF2-40B4-BE49-F238E27FC236}">
                <a16:creationId xmlns:a16="http://schemas.microsoft.com/office/drawing/2014/main" id="{B94D83D5-6B31-406E-BEC6-01F3069E6F0D}"/>
              </a:ext>
            </a:extLst>
          </p:cNvPr>
          <p:cNvSpPr>
            <a:spLocks xmlns:a="http://schemas.openxmlformats.org/drawingml/2006/main" noGrp="1"/>
          </p:cNvSpPr>
          <p:nvPr/>
        </p:nvSpPr>
        <p:spPr>
          <a:xfrm xmlns:a="http://schemas.openxmlformats.org/drawingml/2006/main">
            <a:off x="4953000" y="3924300"/>
            <a:ext cx="2305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errors</a:t>
            </a:r>
          </a:p>
        </p:txBody>
      </p:sp>
      <p:sp>
        <p:nvSpPr>
          <p:cNvPr id="36" name="">
            <a:extLst xmlns:a="http://schemas.openxmlformats.org/drawingml/2006/main">
              <a:ext uri="{FF2B5EF4-FFF2-40B4-BE49-F238E27FC236}">
                <a16:creationId xmlns:a16="http://schemas.microsoft.com/office/drawing/2014/main" id="{DDBB04C2-98BD-4C08-8DD7-03162B121611}"/>
              </a:ext>
            </a:extLst>
          </p:cNvPr>
          <p:cNvSpPr>
            <a:spLocks xmlns:a="http://schemas.openxmlformats.org/drawingml/2006/main" noGrp="1"/>
          </p:cNvSpPr>
          <p:nvPr/>
        </p:nvSpPr>
        <p:spPr>
          <a:xfrm xmlns:a="http://schemas.openxmlformats.org/drawingml/2006/main">
            <a:off x="8267700" y="3371850"/>
            <a:ext cx="26670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37" name="">
            <a:extLst xmlns:a="http://schemas.openxmlformats.org/drawingml/2006/main">
              <a:ext uri="{FF2B5EF4-FFF2-40B4-BE49-F238E27FC236}">
                <a16:creationId xmlns:a16="http://schemas.microsoft.com/office/drawing/2014/main" id="{0E4BEA9F-2A35-4840-A623-345517044BF8}"/>
              </a:ext>
            </a:extLst>
          </p:cNvPr>
          <p:cNvSpPr>
            <a:spLocks xmlns:a="http://schemas.openxmlformats.org/drawingml/2006/main" noGrp="1"/>
          </p:cNvSpPr>
          <p:nvPr/>
        </p:nvSpPr>
        <p:spPr>
          <a:xfrm xmlns:a="http://schemas.openxmlformats.org/drawingml/2006/main">
            <a:off x="8267700" y="3371850"/>
            <a:ext cx="47625" cy="1028700"/>
          </a:xfrm>
          <a:prstGeom xmlns:a="http://schemas.openxmlformats.org/drawingml/2006/main" prst="rect">
            <a:avLst/>
          </a:prstGeom>
          <a:solidFill xmlns:a="http://schemas.openxmlformats.org/drawingml/2006/main">
            <a:srgbClr val="123B5D"/>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A21A5A54-7C8E-48D5-823C-B08627687C9A}"/>
              </a:ext>
            </a:extLst>
          </p:cNvPr>
          <p:cNvSpPr>
            <a:spLocks xmlns:a="http://schemas.openxmlformats.org/drawingml/2006/main" noGrp="1"/>
          </p:cNvSpPr>
          <p:nvPr/>
        </p:nvSpPr>
        <p:spPr>
          <a:xfrm xmlns:a="http://schemas.openxmlformats.org/drawingml/2006/main">
            <a:off x="8458200" y="3505200"/>
            <a:ext cx="2305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123B5D"/>
                </a:solidFill>
                <a:latin typeface="Aptos"/>
                <a:ea typeface="Aptos"/>
                <a:cs typeface="Aptos"/>
              </a:defRPr>
            </a:pPr>
            <a:r>
              <a:rPr sz="2175" b="1">
                <a:solidFill>
                  <a:srgbClr val="123B5D"/>
                </a:solidFill>
                <a:latin typeface="Aptos"/>
                <a:ea typeface="Aptos"/>
                <a:cs typeface="Aptos"/>
              </a:rPr>
              <a:t>0%</a:t>
            </a:r>
          </a:p>
        </p:txBody>
      </p:sp>
      <p:sp>
        <p:nvSpPr>
          <p:cNvPr id="39" name="">
            <a:extLst xmlns:a="http://schemas.openxmlformats.org/drawingml/2006/main">
              <a:ext uri="{FF2B5EF4-FFF2-40B4-BE49-F238E27FC236}">
                <a16:creationId xmlns:a16="http://schemas.microsoft.com/office/drawing/2014/main" id="{45EA5EC2-0D55-45E8-AC7C-C0D79697A963}"/>
              </a:ext>
            </a:extLst>
          </p:cNvPr>
          <p:cNvSpPr>
            <a:spLocks xmlns:a="http://schemas.openxmlformats.org/drawingml/2006/main" noGrp="1"/>
          </p:cNvSpPr>
          <p:nvPr/>
        </p:nvSpPr>
        <p:spPr>
          <a:xfrm xmlns:a="http://schemas.openxmlformats.org/drawingml/2006/main">
            <a:off x="8458200" y="3924300"/>
            <a:ext cx="2305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empty values</a:t>
            </a:r>
          </a:p>
        </p:txBody>
      </p:sp>
      <p:sp>
        <p:nvSpPr>
          <p:cNvPr id="40" name="">
            <a:extLst xmlns:a="http://schemas.openxmlformats.org/drawingml/2006/main">
              <a:ext uri="{FF2B5EF4-FFF2-40B4-BE49-F238E27FC236}">
                <a16:creationId xmlns:a16="http://schemas.microsoft.com/office/drawing/2014/main" id="{E56646BA-7C7B-4C9A-B534-D9B06516AE49}"/>
              </a:ext>
            </a:extLst>
          </p:cNvPr>
          <p:cNvSpPr>
            <a:spLocks xmlns:a="http://schemas.openxmlformats.org/drawingml/2006/main" noGrp="1"/>
          </p:cNvSpPr>
          <p:nvPr/>
        </p:nvSpPr>
        <p:spPr>
          <a:xfrm xmlns:a="http://schemas.openxmlformats.org/drawingml/2006/main">
            <a:off x="1257300" y="4714875"/>
            <a:ext cx="96774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CE5EA"/>
            </a:solidFill>
          </a:ln>
        </p:spPr>
      </p:sp>
      <p:sp>
        <p:nvSpPr>
          <p:cNvPr id="41" name="">
            <a:extLst xmlns:a="http://schemas.openxmlformats.org/drawingml/2006/main">
              <a:ext uri="{FF2B5EF4-FFF2-40B4-BE49-F238E27FC236}">
                <a16:creationId xmlns:a16="http://schemas.microsoft.com/office/drawing/2014/main" id="{87C3B171-0731-419A-83C6-B85D7684F23B}"/>
              </a:ext>
            </a:extLst>
          </p:cNvPr>
          <p:cNvSpPr>
            <a:spLocks xmlns:a="http://schemas.openxmlformats.org/drawingml/2006/main" noGrp="1"/>
          </p:cNvSpPr>
          <p:nvPr/>
        </p:nvSpPr>
        <p:spPr>
          <a:xfrm xmlns:a="http://schemas.openxmlformats.org/drawingml/2006/main">
            <a:off x="1466850" y="4791075"/>
            <a:ext cx="9258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23B5D"/>
                </a:solidFill>
                <a:latin typeface="Aptos"/>
                <a:ea typeface="Aptos"/>
                <a:cs typeface="Aptos"/>
              </a:defRPr>
            </a:pPr>
            <a:r>
              <a:rPr sz="1500" b="1">
                <a:solidFill>
                  <a:srgbClr val="123B5D"/>
                </a:solidFill>
                <a:latin typeface="Aptos"/>
                <a:ea typeface="Aptos"/>
                <a:cs typeface="Aptos"/>
              </a:rPr>
              <a:t>transaction_id  •  250,000 distinct / unique values</a:t>
            </a:r>
          </a:p>
        </p:txBody>
      </p:sp>
    </p:spTree>
    <p:extLst>
      <p:ext uri="{BB962C8B-B14F-4D97-AF65-F5344CB8AC3E}">
        <p14:creationId xmlns:p14="http://schemas.microsoft.com/office/powerpoint/2010/main" val="139914946"/>
      </p:ext>
    </p:extLst>
  </p:cSld>
</p:sld>
</file>

<file path=ppt/slides/slide8.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AA3BD05-7CD7-4AB9-AF1A-8E316411575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3CD88A-0B22-4BD6-9992-8E77524BE7E8}"/>
              </a:ext>
            </a:extLst>
          </p:cNvPr>
          <p:cNvSpPr>
            <a:spLocks xmlns:a="http://schemas.openxmlformats.org/drawingml/2006/main" noGrp="1"/>
          </p:cNvSpPr>
          <p:nvPr/>
        </p:nvSpPr>
        <p:spPr>
          <a:xfrm xmlns:a="http://schemas.openxmlformats.org/drawingml/2006/main">
            <a:off x="590550" y="266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02  |  DATA</a:t>
            </a:r>
          </a:p>
        </p:txBody>
      </p:sp>
      <p:sp>
        <p:nvSpPr>
          <p:cNvPr id="3" name="">
            <a:extLst xmlns:a="http://schemas.openxmlformats.org/drawingml/2006/main">
              <a:ext uri="{FF2B5EF4-FFF2-40B4-BE49-F238E27FC236}">
                <a16:creationId xmlns:a16="http://schemas.microsoft.com/office/drawing/2014/main" id="{9FBFC0F2-C16F-406E-A3E2-72D6E282FD0E}"/>
              </a:ext>
            </a:extLst>
          </p:cNvPr>
          <p:cNvSpPr>
            <a:spLocks xmlns:a="http://schemas.openxmlformats.org/drawingml/2006/main" noGrp="1"/>
          </p:cNvSpPr>
          <p:nvPr/>
        </p:nvSpPr>
        <p:spPr>
          <a:xfrm xmlns:a="http://schemas.openxmlformats.org/drawingml/2006/main">
            <a:off x="590550" y="600075"/>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23B5D"/>
                </a:solidFill>
                <a:latin typeface="Aptos"/>
                <a:ea typeface="Aptos"/>
                <a:cs typeface="Aptos"/>
              </a:defRPr>
            </a:pPr>
            <a:r>
              <a:rPr sz="2550" b="1">
                <a:solidFill>
                  <a:srgbClr val="123B5D"/>
                </a:solidFill>
                <a:latin typeface="Aptos"/>
                <a:ea typeface="Aptos"/>
                <a:cs typeface="Aptos"/>
              </a:rPr>
              <a:t>ETL &amp; data preparation</a:t>
            </a:r>
          </a:p>
        </p:txBody>
      </p:sp>
      <p:sp>
        <p:nvSpPr>
          <p:cNvPr id="4" name="">
            <a:extLst xmlns:a="http://schemas.openxmlformats.org/drawingml/2006/main">
              <a:ext uri="{FF2B5EF4-FFF2-40B4-BE49-F238E27FC236}">
                <a16:creationId xmlns:a16="http://schemas.microsoft.com/office/drawing/2014/main" id="{FBA66CBC-47C8-4766-832A-D568E99261DF}"/>
              </a:ext>
            </a:extLst>
          </p:cNvPr>
          <p:cNvSpPr>
            <a:spLocks xmlns:a="http://schemas.openxmlformats.org/drawingml/2006/main" noGrp="1"/>
          </p:cNvSpPr>
          <p:nvPr/>
        </p:nvSpPr>
        <p:spPr>
          <a:xfrm xmlns:a="http://schemas.openxmlformats.org/drawingml/2006/main">
            <a:off x="609600" y="11334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1727E"/>
                </a:solidFill>
                <a:latin typeface="Aptos"/>
                <a:ea typeface="Aptos"/>
                <a:cs typeface="Aptos"/>
              </a:defRPr>
            </a:pPr>
            <a:r>
              <a:rPr sz="1275" b="0">
                <a:solidFill>
                  <a:srgbClr val="61727E"/>
                </a:solidFill>
                <a:latin typeface="Aptos"/>
                <a:ea typeface="Aptos"/>
                <a:cs typeface="Aptos"/>
              </a:rPr>
              <a:t>Extract, transform and load describes how the raw records became analysis-ready</a:t>
            </a:r>
          </a:p>
        </p:txBody>
      </p:sp>
      <p:sp>
        <p:nvSpPr>
          <p:cNvPr id="5" name="">
            <a:extLst xmlns:a="http://schemas.openxmlformats.org/drawingml/2006/main">
              <a:ext uri="{FF2B5EF4-FFF2-40B4-BE49-F238E27FC236}">
                <a16:creationId xmlns:a16="http://schemas.microsoft.com/office/drawing/2014/main" id="{426DC8A6-B484-4EA0-958B-8E88FD46611D}"/>
              </a:ext>
            </a:extLst>
          </p:cNvPr>
          <p:cNvSpPr>
            <a:spLocks xmlns:a="http://schemas.openxmlformats.org/drawingml/2006/main" noGrp="1"/>
          </p:cNvSpPr>
          <p:nvPr/>
        </p:nvSpPr>
        <p:spPr>
          <a:xfrm xmlns:a="http://schemas.openxmlformats.org/drawingml/2006/main">
            <a:off x="590550" y="6419850"/>
            <a:ext cx="10991850" cy="9525"/>
          </a:xfrm>
          <a:prstGeom xmlns:a="http://schemas.openxmlformats.org/drawingml/2006/main" prst="rect">
            <a:avLst/>
          </a:prstGeom>
          <a:solidFill xmlns:a="http://schemas.openxmlformats.org/drawingml/2006/main">
            <a:srgbClr val="DCE5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7326E3A-A89F-47E9-9325-E60B79095960}"/>
              </a:ext>
            </a:extLst>
          </p:cNvPr>
          <p:cNvSpPr>
            <a:spLocks xmlns:a="http://schemas.openxmlformats.org/drawingml/2006/main" noGrp="1"/>
          </p:cNvSpPr>
          <p:nvPr/>
        </p:nvSpPr>
        <p:spPr>
          <a:xfrm xmlns:a="http://schemas.openxmlformats.org/drawingml/2006/main">
            <a:off x="59055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ANUDIP FOUNDATION  •  DATA ANALYTICS PROJECT</a:t>
            </a:r>
          </a:p>
        </p:txBody>
      </p:sp>
      <p:sp>
        <p:nvSpPr>
          <p:cNvPr id="7" name="">
            <a:extLst xmlns:a="http://schemas.openxmlformats.org/drawingml/2006/main">
              <a:ext uri="{FF2B5EF4-FFF2-40B4-BE49-F238E27FC236}">
                <a16:creationId xmlns:a16="http://schemas.microsoft.com/office/drawing/2014/main" id="{5AFBCA81-2686-4E7F-8B40-64DD6DBB9630}"/>
              </a:ext>
            </a:extLst>
          </p:cNvPr>
          <p:cNvSpPr>
            <a:spLocks xmlns:a="http://schemas.openxmlformats.org/drawingml/2006/main" noGrp="1"/>
          </p:cNvSpPr>
          <p:nvPr/>
        </p:nvSpPr>
        <p:spPr>
          <a:xfrm xmlns:a="http://schemas.openxmlformats.org/drawingml/2006/main">
            <a:off x="112014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1">
                <a:solidFill>
                  <a:srgbClr val="61727E"/>
                </a:solidFill>
                <a:latin typeface="Aptos"/>
                <a:ea typeface="Aptos"/>
                <a:cs typeface="Aptos"/>
              </a:defRPr>
            </a:pPr>
            <a:r>
              <a:rPr sz="900" b="1">
                <a:solidFill>
                  <a:srgbClr val="61727E"/>
                </a:solidFill>
                <a:latin typeface="Aptos"/>
                <a:ea typeface="Aptos"/>
                <a:cs typeface="Aptos"/>
              </a:rPr>
              <a:t>08</a:t>
            </a:r>
          </a:p>
        </p:txBody>
      </p:sp>
      <p:sp>
        <p:nvSpPr>
          <p:cNvPr id="8" name="">
            <a:extLst xmlns:a="http://schemas.openxmlformats.org/drawingml/2006/main">
              <a:ext uri="{FF2B5EF4-FFF2-40B4-BE49-F238E27FC236}">
                <a16:creationId xmlns:a16="http://schemas.microsoft.com/office/drawing/2014/main" id="{618950D4-6459-4309-9664-D53E04254009}"/>
              </a:ext>
            </a:extLst>
          </p:cNvPr>
          <p:cNvSpPr>
            <a:spLocks xmlns:a="http://schemas.openxmlformats.org/drawingml/2006/main" noGrp="1"/>
          </p:cNvSpPr>
          <p:nvPr/>
        </p:nvSpPr>
        <p:spPr>
          <a:xfrm xmlns:a="http://schemas.openxmlformats.org/drawingml/2006/main">
            <a:off x="666750" y="1952625"/>
            <a:ext cx="3333750" cy="2143125"/>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9525">
            <a:solidFill>
              <a:srgbClr val="DCE5EA"/>
            </a:solidFill>
          </a:ln>
        </p:spPr>
      </p:sp>
      <p:sp>
        <p:nvSpPr>
          <p:cNvPr id="9" name="">
            <a:extLst xmlns:a="http://schemas.openxmlformats.org/drawingml/2006/main">
              <a:ext uri="{FF2B5EF4-FFF2-40B4-BE49-F238E27FC236}">
                <a16:creationId xmlns:a16="http://schemas.microsoft.com/office/drawing/2014/main" id="{49349244-9DA1-4F58-AA24-D3DD3A4AC933}"/>
              </a:ext>
            </a:extLst>
          </p:cNvPr>
          <p:cNvSpPr>
            <a:spLocks xmlns:a="http://schemas.openxmlformats.org/drawingml/2006/main" noGrp="1"/>
          </p:cNvSpPr>
          <p:nvPr/>
        </p:nvSpPr>
        <p:spPr>
          <a:xfrm xmlns:a="http://schemas.openxmlformats.org/drawingml/2006/main">
            <a:off x="895350" y="21812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00A6A6"/>
                </a:solidFill>
                <a:latin typeface="Aptos"/>
                <a:ea typeface="Aptos"/>
                <a:cs typeface="Aptos"/>
              </a:defRPr>
            </a:pPr>
            <a:r>
              <a:rPr sz="1275" b="1">
                <a:solidFill>
                  <a:srgbClr val="00A6A6"/>
                </a:solidFill>
                <a:latin typeface="Aptos"/>
                <a:ea typeface="Aptos"/>
                <a:cs typeface="Aptos"/>
              </a:rPr>
              <a:t>EXTRACT</a:t>
            </a:r>
          </a:p>
        </p:txBody>
      </p:sp>
      <p:sp>
        <p:nvSpPr>
          <p:cNvPr id="10" name="">
            <a:extLst xmlns:a="http://schemas.openxmlformats.org/drawingml/2006/main">
              <a:ext uri="{FF2B5EF4-FFF2-40B4-BE49-F238E27FC236}">
                <a16:creationId xmlns:a16="http://schemas.microsoft.com/office/drawing/2014/main" id="{7229D2B1-B216-4B32-8D6C-EC4F3ACDB1FE}"/>
              </a:ext>
            </a:extLst>
          </p:cNvPr>
          <p:cNvSpPr>
            <a:spLocks xmlns:a="http://schemas.openxmlformats.org/drawingml/2006/main" noGrp="1"/>
          </p:cNvSpPr>
          <p:nvPr/>
        </p:nvSpPr>
        <p:spPr>
          <a:xfrm xmlns:a="http://schemas.openxmlformats.org/drawingml/2006/main">
            <a:off x="895350" y="2600325"/>
            <a:ext cx="514350" cy="381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66C916A-152B-4BC1-B044-14FA58BAB195}"/>
              </a:ext>
            </a:extLst>
          </p:cNvPr>
          <p:cNvSpPr>
            <a:spLocks xmlns:a="http://schemas.openxmlformats.org/drawingml/2006/main" noGrp="1"/>
          </p:cNvSpPr>
          <p:nvPr/>
        </p:nvSpPr>
        <p:spPr>
          <a:xfrm xmlns:a="http://schemas.openxmlformats.org/drawingml/2006/main">
            <a:off x="895350" y="2886075"/>
            <a:ext cx="285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263238"/>
                </a:solidFill>
                <a:latin typeface="Aptos"/>
                <a:ea typeface="Aptos"/>
                <a:cs typeface="Aptos"/>
              </a:defRPr>
            </a:pPr>
            <a:r>
              <a:rPr sz="1575" b="1">
                <a:solidFill>
                  <a:srgbClr val="263238"/>
                </a:solidFill>
                <a:latin typeface="Aptos"/>
                <a:ea typeface="Aptos"/>
                <a:cs typeface="Aptos"/>
              </a:rPr>
              <a:t>Import the transaction dataset into Power BI.</a:t>
            </a:r>
          </a:p>
        </p:txBody>
      </p:sp>
      <p:sp>
        <p:nvSpPr>
          <p:cNvPr id="12" name="">
            <a:extLst xmlns:a="http://schemas.openxmlformats.org/drawingml/2006/main">
              <a:ext uri="{FF2B5EF4-FFF2-40B4-BE49-F238E27FC236}">
                <a16:creationId xmlns:a16="http://schemas.microsoft.com/office/drawing/2014/main" id="{CAFBFF6F-437C-4ED3-90ED-5C4EC17B09E2}"/>
              </a:ext>
            </a:extLst>
          </p:cNvPr>
          <p:cNvSpPr>
            <a:spLocks xmlns:a="http://schemas.openxmlformats.org/drawingml/2006/main" noGrp="1"/>
          </p:cNvSpPr>
          <p:nvPr/>
        </p:nvSpPr>
        <p:spPr>
          <a:xfrm xmlns:a="http://schemas.openxmlformats.org/drawingml/2006/main">
            <a:off x="4019550" y="2743200"/>
            <a:ext cx="28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3961"/>
          </a:bodyPr>
          <a:lstStyle xmlns:a="http://schemas.openxmlformats.org/drawingml/2006/main"/>
          <a:p xmlns:a="http://schemas.openxmlformats.org/drawingml/2006/main">
            <a:pPr algn="ctr">
              <a:defRPr sz="2025" b="1">
                <a:solidFill>
                  <a:srgbClr val="123B5D"/>
                </a:solidFill>
                <a:latin typeface="Aptos"/>
                <a:ea typeface="Aptos"/>
                <a:cs typeface="Aptos"/>
              </a:defRPr>
            </a:pPr>
            <a:r>
              <a:rPr sz="2025" b="1">
                <a:solidFill>
                  <a:srgbClr val="123B5D"/>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351FB296-1F9C-4CE0-9789-BB4EFFA3ED8A}"/>
              </a:ext>
            </a:extLst>
          </p:cNvPr>
          <p:cNvSpPr>
            <a:spLocks xmlns:a="http://schemas.openxmlformats.org/drawingml/2006/main" noGrp="1"/>
          </p:cNvSpPr>
          <p:nvPr/>
        </p:nvSpPr>
        <p:spPr>
          <a:xfrm xmlns:a="http://schemas.openxmlformats.org/drawingml/2006/main">
            <a:off x="4362450" y="1952625"/>
            <a:ext cx="3333750" cy="2143125"/>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9525">
            <a:solidFill>
              <a:srgbClr val="DCE5EA"/>
            </a:solidFill>
          </a:ln>
        </p:spPr>
      </p:sp>
      <p:sp>
        <p:nvSpPr>
          <p:cNvPr id="14" name="">
            <a:extLst xmlns:a="http://schemas.openxmlformats.org/drawingml/2006/main">
              <a:ext uri="{FF2B5EF4-FFF2-40B4-BE49-F238E27FC236}">
                <a16:creationId xmlns:a16="http://schemas.microsoft.com/office/drawing/2014/main" id="{59703CD7-9525-477F-90B3-457C4B28DC29}"/>
              </a:ext>
            </a:extLst>
          </p:cNvPr>
          <p:cNvSpPr>
            <a:spLocks xmlns:a="http://schemas.openxmlformats.org/drawingml/2006/main" noGrp="1"/>
          </p:cNvSpPr>
          <p:nvPr/>
        </p:nvSpPr>
        <p:spPr>
          <a:xfrm xmlns:a="http://schemas.openxmlformats.org/drawingml/2006/main">
            <a:off x="4591050" y="21812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00A6A6"/>
                </a:solidFill>
                <a:latin typeface="Aptos"/>
                <a:ea typeface="Aptos"/>
                <a:cs typeface="Aptos"/>
              </a:defRPr>
            </a:pPr>
            <a:r>
              <a:rPr sz="1275" b="1">
                <a:solidFill>
                  <a:srgbClr val="00A6A6"/>
                </a:solidFill>
                <a:latin typeface="Aptos"/>
                <a:ea typeface="Aptos"/>
                <a:cs typeface="Aptos"/>
              </a:rPr>
              <a:t>TRANSFORM</a:t>
            </a:r>
          </a:p>
        </p:txBody>
      </p:sp>
      <p:sp>
        <p:nvSpPr>
          <p:cNvPr id="15" name="">
            <a:extLst xmlns:a="http://schemas.openxmlformats.org/drawingml/2006/main">
              <a:ext uri="{FF2B5EF4-FFF2-40B4-BE49-F238E27FC236}">
                <a16:creationId xmlns:a16="http://schemas.microsoft.com/office/drawing/2014/main" id="{362EC6D7-D2D2-46C2-8AFC-CACDE73F86AA}"/>
              </a:ext>
            </a:extLst>
          </p:cNvPr>
          <p:cNvSpPr>
            <a:spLocks xmlns:a="http://schemas.openxmlformats.org/drawingml/2006/main" noGrp="1"/>
          </p:cNvSpPr>
          <p:nvPr/>
        </p:nvSpPr>
        <p:spPr>
          <a:xfrm xmlns:a="http://schemas.openxmlformats.org/drawingml/2006/main">
            <a:off x="4591050" y="2600325"/>
            <a:ext cx="514350" cy="38100"/>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D32BFF7-6332-41B5-B734-E1A4688CB44B}"/>
              </a:ext>
            </a:extLst>
          </p:cNvPr>
          <p:cNvSpPr>
            <a:spLocks xmlns:a="http://schemas.openxmlformats.org/drawingml/2006/main" noGrp="1"/>
          </p:cNvSpPr>
          <p:nvPr/>
        </p:nvSpPr>
        <p:spPr>
          <a:xfrm xmlns:a="http://schemas.openxmlformats.org/drawingml/2006/main">
            <a:off x="4591050" y="2886075"/>
            <a:ext cx="285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263238"/>
                </a:solidFill>
                <a:latin typeface="Aptos"/>
                <a:ea typeface="Aptos"/>
                <a:cs typeface="Aptos"/>
              </a:defRPr>
            </a:pPr>
            <a:r>
              <a:rPr sz="1575" b="1">
                <a:solidFill>
                  <a:srgbClr val="263238"/>
                </a:solidFill>
                <a:latin typeface="Aptos"/>
                <a:ea typeface="Aptos"/>
                <a:cs typeface="Aptos"/>
              </a:rPr>
              <a:t>Use Power Query to validate types, values, missing data and errors.</a:t>
            </a:r>
          </a:p>
        </p:txBody>
      </p:sp>
      <p:sp>
        <p:nvSpPr>
          <p:cNvPr id="17" name="">
            <a:extLst xmlns:a="http://schemas.openxmlformats.org/drawingml/2006/main">
              <a:ext uri="{FF2B5EF4-FFF2-40B4-BE49-F238E27FC236}">
                <a16:creationId xmlns:a16="http://schemas.microsoft.com/office/drawing/2014/main" id="{B331580E-A0B1-4CCB-8561-76E87AF13463}"/>
              </a:ext>
            </a:extLst>
          </p:cNvPr>
          <p:cNvSpPr>
            <a:spLocks xmlns:a="http://schemas.openxmlformats.org/drawingml/2006/main" noGrp="1"/>
          </p:cNvSpPr>
          <p:nvPr/>
        </p:nvSpPr>
        <p:spPr>
          <a:xfrm xmlns:a="http://schemas.openxmlformats.org/drawingml/2006/main">
            <a:off x="7715250" y="2743200"/>
            <a:ext cx="28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3961"/>
          </a:bodyPr>
          <a:lstStyle xmlns:a="http://schemas.openxmlformats.org/drawingml/2006/main"/>
          <a:p xmlns:a="http://schemas.openxmlformats.org/drawingml/2006/main">
            <a:pPr algn="ctr">
              <a:defRPr sz="2025" b="1">
                <a:solidFill>
                  <a:srgbClr val="123B5D"/>
                </a:solidFill>
                <a:latin typeface="Aptos"/>
                <a:ea typeface="Aptos"/>
                <a:cs typeface="Aptos"/>
              </a:defRPr>
            </a:pPr>
            <a:r>
              <a:rPr sz="2025" b="1">
                <a:solidFill>
                  <a:srgbClr val="123B5D"/>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FBD70BA3-24C6-498B-9207-BC69B8D31E66}"/>
              </a:ext>
            </a:extLst>
          </p:cNvPr>
          <p:cNvSpPr>
            <a:spLocks xmlns:a="http://schemas.openxmlformats.org/drawingml/2006/main" noGrp="1"/>
          </p:cNvSpPr>
          <p:nvPr/>
        </p:nvSpPr>
        <p:spPr>
          <a:xfrm xmlns:a="http://schemas.openxmlformats.org/drawingml/2006/main">
            <a:off x="8058150" y="1952625"/>
            <a:ext cx="3333750" cy="2143125"/>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9525">
            <a:solidFill>
              <a:srgbClr val="DCE5EA"/>
            </a:solidFill>
          </a:ln>
        </p:spPr>
      </p:sp>
      <p:sp>
        <p:nvSpPr>
          <p:cNvPr id="19" name="">
            <a:extLst xmlns:a="http://schemas.openxmlformats.org/drawingml/2006/main">
              <a:ext uri="{FF2B5EF4-FFF2-40B4-BE49-F238E27FC236}">
                <a16:creationId xmlns:a16="http://schemas.microsoft.com/office/drawing/2014/main" id="{8A1777BB-4087-4D70-B20A-F1274BB9A4B7}"/>
              </a:ext>
            </a:extLst>
          </p:cNvPr>
          <p:cNvSpPr>
            <a:spLocks xmlns:a="http://schemas.openxmlformats.org/drawingml/2006/main" noGrp="1"/>
          </p:cNvSpPr>
          <p:nvPr/>
        </p:nvSpPr>
        <p:spPr>
          <a:xfrm xmlns:a="http://schemas.openxmlformats.org/drawingml/2006/main">
            <a:off x="8286750" y="21812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00A6A6"/>
                </a:solidFill>
                <a:latin typeface="Aptos"/>
                <a:ea typeface="Aptos"/>
                <a:cs typeface="Aptos"/>
              </a:defRPr>
            </a:pPr>
            <a:r>
              <a:rPr sz="1275" b="1">
                <a:solidFill>
                  <a:srgbClr val="00A6A6"/>
                </a:solidFill>
                <a:latin typeface="Aptos"/>
                <a:ea typeface="Aptos"/>
                <a:cs typeface="Aptos"/>
              </a:rPr>
              <a:t>LOAD</a:t>
            </a:r>
          </a:p>
        </p:txBody>
      </p:sp>
      <p:sp>
        <p:nvSpPr>
          <p:cNvPr id="20" name="">
            <a:extLst xmlns:a="http://schemas.openxmlformats.org/drawingml/2006/main">
              <a:ext uri="{FF2B5EF4-FFF2-40B4-BE49-F238E27FC236}">
                <a16:creationId xmlns:a16="http://schemas.microsoft.com/office/drawing/2014/main" id="{B67ECE75-F05F-41B7-8889-F18A4EC8EC8B}"/>
              </a:ext>
            </a:extLst>
          </p:cNvPr>
          <p:cNvSpPr>
            <a:spLocks xmlns:a="http://schemas.openxmlformats.org/drawingml/2006/main" noGrp="1"/>
          </p:cNvSpPr>
          <p:nvPr/>
        </p:nvSpPr>
        <p:spPr>
          <a:xfrm xmlns:a="http://schemas.openxmlformats.org/drawingml/2006/main">
            <a:off x="8286750" y="2600325"/>
            <a:ext cx="514350" cy="381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8E72C4E-4E5F-4D36-BE20-50FF6C3ACE2B}"/>
              </a:ext>
            </a:extLst>
          </p:cNvPr>
          <p:cNvSpPr>
            <a:spLocks xmlns:a="http://schemas.openxmlformats.org/drawingml/2006/main" noGrp="1"/>
          </p:cNvSpPr>
          <p:nvPr/>
        </p:nvSpPr>
        <p:spPr>
          <a:xfrm xmlns:a="http://schemas.openxmlformats.org/drawingml/2006/main">
            <a:off x="8286750" y="2886075"/>
            <a:ext cx="285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263238"/>
                </a:solidFill>
                <a:latin typeface="Aptos"/>
                <a:ea typeface="Aptos"/>
                <a:cs typeface="Aptos"/>
              </a:defRPr>
            </a:pPr>
            <a:r>
              <a:rPr sz="1575" b="1">
                <a:solidFill>
                  <a:srgbClr val="263238"/>
                </a:solidFill>
                <a:latin typeface="Aptos"/>
                <a:ea typeface="Aptos"/>
                <a:cs typeface="Aptos"/>
              </a:rPr>
              <a:t>Load the cleaned table into the Power BI model for analysis.</a:t>
            </a:r>
          </a:p>
        </p:txBody>
      </p:sp>
      <p:sp>
        <p:nvSpPr>
          <p:cNvPr id="22" name="">
            <a:extLst xmlns:a="http://schemas.openxmlformats.org/drawingml/2006/main">
              <a:ext uri="{FF2B5EF4-FFF2-40B4-BE49-F238E27FC236}">
                <a16:creationId xmlns:a16="http://schemas.microsoft.com/office/drawing/2014/main" id="{CDEE8F28-E417-40DD-AB25-2C00D8AD0963}"/>
              </a:ext>
            </a:extLst>
          </p:cNvPr>
          <p:cNvSpPr>
            <a:spLocks xmlns:a="http://schemas.openxmlformats.org/drawingml/2006/main" noGrp="1"/>
          </p:cNvSpPr>
          <p:nvPr/>
        </p:nvSpPr>
        <p:spPr>
          <a:xfrm xmlns:a="http://schemas.openxmlformats.org/drawingml/2006/main">
            <a:off x="666750" y="4591050"/>
            <a:ext cx="10668000" cy="685800"/>
          </a:xfrm>
          <a:prstGeom xmlns:a="http://schemas.openxmlformats.org/drawingml/2006/main" prst="roundRect">
            <a:avLst>
              <a:gd name="adj" fmla="val 11111"/>
            </a:avLst>
          </a:prstGeom>
          <a:solidFill xmlns:a="http://schemas.openxmlformats.org/drawingml/2006/main">
            <a:srgbClr val="EAF2F6"/>
          </a:solidFill>
          <a:ln xmlns:a="http://schemas.openxmlformats.org/drawingml/2006/main" w="9525">
            <a:solidFill>
              <a:srgbClr val="DCE5EA"/>
            </a:solidFill>
          </a:ln>
        </p:spPr>
      </p:sp>
      <p:sp>
        <p:nvSpPr>
          <p:cNvPr id="23" name="">
            <a:extLst xmlns:a="http://schemas.openxmlformats.org/drawingml/2006/main">
              <a:ext uri="{FF2B5EF4-FFF2-40B4-BE49-F238E27FC236}">
                <a16:creationId xmlns:a16="http://schemas.microsoft.com/office/drawing/2014/main" id="{1B9C8DC3-1D33-4D8F-BAC9-07799D10151F}"/>
              </a:ext>
            </a:extLst>
          </p:cNvPr>
          <p:cNvSpPr>
            <a:spLocks xmlns:a="http://schemas.openxmlformats.org/drawingml/2006/main" noGrp="1"/>
          </p:cNvSpPr>
          <p:nvPr/>
        </p:nvSpPr>
        <p:spPr>
          <a:xfrm xmlns:a="http://schemas.openxmlformats.org/drawingml/2006/main">
            <a:off x="914400" y="4705350"/>
            <a:ext cx="10172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23B5D"/>
                </a:solidFill>
                <a:latin typeface="Aptos"/>
                <a:ea typeface="Aptos"/>
                <a:cs typeface="Aptos"/>
              </a:defRPr>
            </a:pPr>
            <a:r>
              <a:rPr sz="1500" b="1">
                <a:solidFill>
                  <a:srgbClr val="123B5D"/>
                </a:solidFill>
                <a:latin typeface="Aptos"/>
                <a:ea typeface="Aptos"/>
                <a:cs typeface="Aptos"/>
              </a:rPr>
              <a:t>Result: a validated transaction table ready for consistent measures and visual analysis.</a:t>
            </a:r>
          </a:p>
        </p:txBody>
      </p:sp>
    </p:spTree>
    <p:extLst>
      <p:ext uri="{BB962C8B-B14F-4D97-AF65-F5344CB8AC3E}">
        <p14:creationId xmlns:p14="http://schemas.microsoft.com/office/powerpoint/2010/main" val="240389973"/>
      </p:ext>
    </p:extLst>
  </p:cSld>
</p:sld>
</file>

<file path=ppt/slides/slide9.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F8EBE2C-19B8-4CA7-90E9-C916DC31CEC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AA4D3E-01C4-4489-BB6C-68C2527A2AD3}"/>
              </a:ext>
            </a:extLst>
          </p:cNvPr>
          <p:cNvSpPr>
            <a:spLocks xmlns:a="http://schemas.openxmlformats.org/drawingml/2006/main" noGrp="1"/>
          </p:cNvSpPr>
          <p:nvPr/>
        </p:nvSpPr>
        <p:spPr>
          <a:xfrm xmlns:a="http://schemas.openxmlformats.org/drawingml/2006/main">
            <a:off x="590550" y="266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03  |  MODEL</a:t>
            </a:r>
          </a:p>
        </p:txBody>
      </p:sp>
      <p:sp>
        <p:nvSpPr>
          <p:cNvPr id="3" name="">
            <a:extLst xmlns:a="http://schemas.openxmlformats.org/drawingml/2006/main">
              <a:ext uri="{FF2B5EF4-FFF2-40B4-BE49-F238E27FC236}">
                <a16:creationId xmlns:a16="http://schemas.microsoft.com/office/drawing/2014/main" id="{1FD20FD1-1E48-42A4-BBE1-26AF14A487DB}"/>
              </a:ext>
            </a:extLst>
          </p:cNvPr>
          <p:cNvSpPr>
            <a:spLocks xmlns:a="http://schemas.openxmlformats.org/drawingml/2006/main" noGrp="1"/>
          </p:cNvSpPr>
          <p:nvPr/>
        </p:nvSpPr>
        <p:spPr>
          <a:xfrm xmlns:a="http://schemas.openxmlformats.org/drawingml/2006/main">
            <a:off x="590550" y="600075"/>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23B5D"/>
                </a:solidFill>
                <a:latin typeface="Aptos"/>
                <a:ea typeface="Aptos"/>
                <a:cs typeface="Aptos"/>
              </a:defRPr>
            </a:pPr>
            <a:r>
              <a:rPr sz="2550" b="1">
                <a:solidFill>
                  <a:srgbClr val="123B5D"/>
                </a:solidFill>
                <a:latin typeface="Aptos"/>
                <a:ea typeface="Aptos"/>
                <a:cs typeface="Aptos"/>
              </a:rPr>
              <a:t>Data model &amp; Calendar table</a:t>
            </a:r>
          </a:p>
        </p:txBody>
      </p:sp>
      <p:sp>
        <p:nvSpPr>
          <p:cNvPr id="4" name="">
            <a:extLst xmlns:a="http://schemas.openxmlformats.org/drawingml/2006/main">
              <a:ext uri="{FF2B5EF4-FFF2-40B4-BE49-F238E27FC236}">
                <a16:creationId xmlns:a16="http://schemas.microsoft.com/office/drawing/2014/main" id="{CFDE6090-AAB5-45B2-A5E9-A6E5A6BCE608}"/>
              </a:ext>
            </a:extLst>
          </p:cNvPr>
          <p:cNvSpPr>
            <a:spLocks xmlns:a="http://schemas.openxmlformats.org/drawingml/2006/main" noGrp="1"/>
          </p:cNvSpPr>
          <p:nvPr/>
        </p:nvSpPr>
        <p:spPr>
          <a:xfrm xmlns:a="http://schemas.openxmlformats.org/drawingml/2006/main">
            <a:off x="590550" y="6419850"/>
            <a:ext cx="10991850" cy="9525"/>
          </a:xfrm>
          <a:prstGeom xmlns:a="http://schemas.openxmlformats.org/drawingml/2006/main" prst="rect">
            <a:avLst/>
          </a:prstGeom>
          <a:solidFill xmlns:a="http://schemas.openxmlformats.org/drawingml/2006/main">
            <a:srgbClr val="DC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F31F230-3F45-4B91-BF6E-4B0B940C0238}"/>
              </a:ext>
            </a:extLst>
          </p:cNvPr>
          <p:cNvSpPr>
            <a:spLocks xmlns:a="http://schemas.openxmlformats.org/drawingml/2006/main" noGrp="1"/>
          </p:cNvSpPr>
          <p:nvPr/>
        </p:nvSpPr>
        <p:spPr>
          <a:xfrm xmlns:a="http://schemas.openxmlformats.org/drawingml/2006/main">
            <a:off x="59055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ANUDIP FOUNDATION  •  DATA ANALYTICS PROJECT</a:t>
            </a:r>
          </a:p>
        </p:txBody>
      </p:sp>
      <p:sp>
        <p:nvSpPr>
          <p:cNvPr id="6" name="">
            <a:extLst xmlns:a="http://schemas.openxmlformats.org/drawingml/2006/main">
              <a:ext uri="{FF2B5EF4-FFF2-40B4-BE49-F238E27FC236}">
                <a16:creationId xmlns:a16="http://schemas.microsoft.com/office/drawing/2014/main" id="{5A31D2F6-0F0D-4EF1-885F-78168550666C}"/>
              </a:ext>
            </a:extLst>
          </p:cNvPr>
          <p:cNvSpPr>
            <a:spLocks xmlns:a="http://schemas.openxmlformats.org/drawingml/2006/main" noGrp="1"/>
          </p:cNvSpPr>
          <p:nvPr/>
        </p:nvSpPr>
        <p:spPr>
          <a:xfrm xmlns:a="http://schemas.openxmlformats.org/drawingml/2006/main">
            <a:off x="112014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1">
                <a:solidFill>
                  <a:srgbClr val="61727E"/>
                </a:solidFill>
                <a:latin typeface="Aptos"/>
                <a:ea typeface="Aptos"/>
                <a:cs typeface="Aptos"/>
              </a:defRPr>
            </a:pPr>
            <a:r>
              <a:rPr sz="900" b="1">
                <a:solidFill>
                  <a:srgbClr val="61727E"/>
                </a:solidFill>
                <a:latin typeface="Aptos"/>
                <a:ea typeface="Aptos"/>
                <a:cs typeface="Aptos"/>
              </a:rPr>
              <a:t>09</a:t>
            </a:r>
          </a:p>
        </p:txBody>
      </p:sp>
      <p:sp>
        <p:nvSpPr>
          <p:cNvPr id="7" name="">
            <a:extLst xmlns:a="http://schemas.openxmlformats.org/drawingml/2006/main">
              <a:ext uri="{FF2B5EF4-FFF2-40B4-BE49-F238E27FC236}">
                <a16:creationId xmlns:a16="http://schemas.microsoft.com/office/drawing/2014/main" id="{747B0D38-13A6-44BF-91C3-4544E970FB24}"/>
              </a:ext>
            </a:extLst>
          </p:cNvPr>
          <p:cNvSpPr>
            <a:spLocks xmlns:a="http://schemas.openxmlformats.org/drawingml/2006/main" noGrp="1"/>
          </p:cNvSpPr>
          <p:nvPr/>
        </p:nvSpPr>
        <p:spPr>
          <a:xfrm xmlns:a="http://schemas.openxmlformats.org/drawingml/2006/main">
            <a:off x="800100" y="1981200"/>
            <a:ext cx="342900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19050">
            <a:solidFill>
              <a:srgbClr val="00A6A6"/>
            </a:solidFill>
          </a:ln>
        </p:spPr>
      </p:sp>
      <p:sp>
        <p:nvSpPr>
          <p:cNvPr id="8" name="">
            <a:extLst xmlns:a="http://schemas.openxmlformats.org/drawingml/2006/main">
              <a:ext uri="{FF2B5EF4-FFF2-40B4-BE49-F238E27FC236}">
                <a16:creationId xmlns:a16="http://schemas.microsoft.com/office/drawing/2014/main" id="{FBD67865-68FF-4969-A447-21205FCC56B5}"/>
              </a:ext>
            </a:extLst>
          </p:cNvPr>
          <p:cNvSpPr>
            <a:spLocks xmlns:a="http://schemas.openxmlformats.org/drawingml/2006/main" noGrp="1"/>
          </p:cNvSpPr>
          <p:nvPr/>
        </p:nvSpPr>
        <p:spPr>
          <a:xfrm xmlns:a="http://schemas.openxmlformats.org/drawingml/2006/main">
            <a:off x="1009650" y="2152650"/>
            <a:ext cx="3009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23B5D"/>
                </a:solidFill>
                <a:latin typeface="Aptos"/>
                <a:ea typeface="Aptos"/>
                <a:cs typeface="Aptos"/>
              </a:defRPr>
            </a:pPr>
            <a:r>
              <a:rPr sz="1950" b="1">
                <a:solidFill>
                  <a:srgbClr val="123B5D"/>
                </a:solidFill>
                <a:latin typeface="Aptos"/>
                <a:ea typeface="Aptos"/>
                <a:cs typeface="Aptos"/>
              </a:rPr>
              <a:t>Calendar</a:t>
            </a:r>
          </a:p>
        </p:txBody>
      </p:sp>
      <p:sp>
        <p:nvSpPr>
          <p:cNvPr id="9" name="">
            <a:extLst xmlns:a="http://schemas.openxmlformats.org/drawingml/2006/main">
              <a:ext uri="{FF2B5EF4-FFF2-40B4-BE49-F238E27FC236}">
                <a16:creationId xmlns:a16="http://schemas.microsoft.com/office/drawing/2014/main" id="{32B54251-238B-4075-B67F-4258BB14F66C}"/>
              </a:ext>
            </a:extLst>
          </p:cNvPr>
          <p:cNvSpPr>
            <a:spLocks xmlns:a="http://schemas.openxmlformats.org/drawingml/2006/main" noGrp="1"/>
          </p:cNvSpPr>
          <p:nvPr/>
        </p:nvSpPr>
        <p:spPr>
          <a:xfrm xmlns:a="http://schemas.openxmlformats.org/drawingml/2006/main">
            <a:off x="1009650" y="2647950"/>
            <a:ext cx="3009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61727E"/>
                </a:solidFill>
                <a:latin typeface="Aptos"/>
                <a:ea typeface="Aptos"/>
                <a:cs typeface="Aptos"/>
              </a:defRPr>
            </a:pPr>
            <a:r>
              <a:rPr sz="1200" b="0">
                <a:solidFill>
                  <a:srgbClr val="61727E"/>
                </a:solidFill>
                <a:latin typeface="Aptos"/>
                <a:ea typeface="Aptos"/>
                <a:cs typeface="Aptos"/>
              </a:rPr>
              <a:t>Date • Year • Month • Month Year</a:t>
            </a:r>
          </a:p>
        </p:txBody>
      </p:sp>
      <p:sp>
        <p:nvSpPr>
          <p:cNvPr id="10" name="">
            <a:extLst xmlns:a="http://schemas.openxmlformats.org/drawingml/2006/main">
              <a:ext uri="{FF2B5EF4-FFF2-40B4-BE49-F238E27FC236}">
                <a16:creationId xmlns:a16="http://schemas.microsoft.com/office/drawing/2014/main" id="{BCE10473-C16E-4AF9-A633-0C5EE67D89C4}"/>
              </a:ext>
            </a:extLst>
          </p:cNvPr>
          <p:cNvSpPr>
            <a:spLocks xmlns:a="http://schemas.openxmlformats.org/drawingml/2006/main" noGrp="1"/>
          </p:cNvSpPr>
          <p:nvPr/>
        </p:nvSpPr>
        <p:spPr>
          <a:xfrm xmlns:a="http://schemas.openxmlformats.org/drawingml/2006/main">
            <a:off x="4229100" y="2667000"/>
            <a:ext cx="2514600" cy="28575"/>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F431634-5005-4726-B05D-8E9B912ECF74}"/>
              </a:ext>
            </a:extLst>
          </p:cNvPr>
          <p:cNvSpPr>
            <a:spLocks xmlns:a="http://schemas.openxmlformats.org/drawingml/2006/main" noGrp="1"/>
          </p:cNvSpPr>
          <p:nvPr/>
        </p:nvSpPr>
        <p:spPr>
          <a:xfrm xmlns:a="http://schemas.openxmlformats.org/drawingml/2006/main">
            <a:off x="4895850" y="2295525"/>
            <a:ext cx="1200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A6A6"/>
                </a:solidFill>
                <a:latin typeface="Aptos"/>
                <a:ea typeface="Aptos"/>
                <a:cs typeface="Aptos"/>
              </a:defRPr>
            </a:pPr>
            <a:r>
              <a:rPr sz="1275" b="1">
                <a:solidFill>
                  <a:srgbClr val="00A6A6"/>
                </a:solidFill>
                <a:latin typeface="Aptos"/>
                <a:ea typeface="Aptos"/>
                <a:cs typeface="Aptos"/>
              </a:rPr>
              <a:t>1  →  *</a:t>
            </a:r>
          </a:p>
        </p:txBody>
      </p:sp>
      <p:sp>
        <p:nvSpPr>
          <p:cNvPr id="12" name="">
            <a:extLst xmlns:a="http://schemas.openxmlformats.org/drawingml/2006/main">
              <a:ext uri="{FF2B5EF4-FFF2-40B4-BE49-F238E27FC236}">
                <a16:creationId xmlns:a16="http://schemas.microsoft.com/office/drawing/2014/main" id="{2050AC97-4A0F-4783-80DD-1E7A38F6288C}"/>
              </a:ext>
            </a:extLst>
          </p:cNvPr>
          <p:cNvSpPr>
            <a:spLocks xmlns:a="http://schemas.openxmlformats.org/drawingml/2006/main" noGrp="1"/>
          </p:cNvSpPr>
          <p:nvPr/>
        </p:nvSpPr>
        <p:spPr>
          <a:xfrm xmlns:a="http://schemas.openxmlformats.org/drawingml/2006/main">
            <a:off x="6743700" y="1981200"/>
            <a:ext cx="428625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19050">
            <a:solidFill>
              <a:srgbClr val="123B5D"/>
            </a:solidFill>
          </a:ln>
        </p:spPr>
      </p:sp>
      <p:sp>
        <p:nvSpPr>
          <p:cNvPr id="13" name="">
            <a:extLst xmlns:a="http://schemas.openxmlformats.org/drawingml/2006/main">
              <a:ext uri="{FF2B5EF4-FFF2-40B4-BE49-F238E27FC236}">
                <a16:creationId xmlns:a16="http://schemas.microsoft.com/office/drawing/2014/main" id="{205F87BC-BA9B-465C-9309-1BE9AF91FCA8}"/>
              </a:ext>
            </a:extLst>
          </p:cNvPr>
          <p:cNvSpPr>
            <a:spLocks xmlns:a="http://schemas.openxmlformats.org/drawingml/2006/main" noGrp="1"/>
          </p:cNvSpPr>
          <p:nvPr/>
        </p:nvSpPr>
        <p:spPr>
          <a:xfrm xmlns:a="http://schemas.openxmlformats.org/drawingml/2006/main">
            <a:off x="6972300" y="2152650"/>
            <a:ext cx="3829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123B5D"/>
                </a:solidFill>
                <a:latin typeface="Aptos"/>
                <a:ea typeface="Aptos"/>
                <a:cs typeface="Aptos"/>
              </a:defRPr>
            </a:pPr>
            <a:r>
              <a:rPr sz="1875" b="1">
                <a:solidFill>
                  <a:srgbClr val="123B5D"/>
                </a:solidFill>
                <a:latin typeface="Aptos"/>
                <a:ea typeface="Aptos"/>
                <a:cs typeface="Aptos"/>
              </a:rPr>
              <a:t>Fact_Transactions</a:t>
            </a:r>
          </a:p>
        </p:txBody>
      </p:sp>
      <p:sp>
        <p:nvSpPr>
          <p:cNvPr id="14" name="">
            <a:extLst xmlns:a="http://schemas.openxmlformats.org/drawingml/2006/main">
              <a:ext uri="{FF2B5EF4-FFF2-40B4-BE49-F238E27FC236}">
                <a16:creationId xmlns:a16="http://schemas.microsoft.com/office/drawing/2014/main" id="{4B2BFB97-444E-4311-B0CC-6AF5B973386B}"/>
              </a:ext>
            </a:extLst>
          </p:cNvPr>
          <p:cNvSpPr>
            <a:spLocks xmlns:a="http://schemas.openxmlformats.org/drawingml/2006/main" noGrp="1"/>
          </p:cNvSpPr>
          <p:nvPr/>
        </p:nvSpPr>
        <p:spPr>
          <a:xfrm xmlns:a="http://schemas.openxmlformats.org/drawingml/2006/main">
            <a:off x="6972300" y="2647950"/>
            <a:ext cx="3829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61727E"/>
                </a:solidFill>
                <a:latin typeface="Aptos"/>
                <a:ea typeface="Aptos"/>
                <a:cs typeface="Aptos"/>
              </a:defRPr>
            </a:pPr>
            <a:r>
              <a:rPr sz="1200" b="0">
                <a:solidFill>
                  <a:srgbClr val="61727E"/>
                </a:solidFill>
                <a:latin typeface="Aptos"/>
                <a:ea typeface="Aptos"/>
                <a:cs typeface="Aptos"/>
              </a:rPr>
              <a:t>One row per transaction</a:t>
            </a:r>
          </a:p>
        </p:txBody>
      </p:sp>
      <p:sp>
        <p:nvSpPr>
          <p:cNvPr id="15" name="">
            <a:extLst xmlns:a="http://schemas.openxmlformats.org/drawingml/2006/main">
              <a:ext uri="{FF2B5EF4-FFF2-40B4-BE49-F238E27FC236}">
                <a16:creationId xmlns:a16="http://schemas.microsoft.com/office/drawing/2014/main" id="{FDE00C82-4957-4AEE-9108-542B087B036D}"/>
              </a:ext>
            </a:extLst>
          </p:cNvPr>
          <p:cNvSpPr>
            <a:spLocks xmlns:a="http://schemas.openxmlformats.org/drawingml/2006/main" noGrp="1"/>
          </p:cNvSpPr>
          <p:nvPr/>
        </p:nvSpPr>
        <p:spPr>
          <a:xfrm xmlns:a="http://schemas.openxmlformats.org/drawingml/2006/main">
            <a:off x="838200" y="386715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123B5D"/>
                </a:solidFill>
                <a:latin typeface="Aptos"/>
                <a:ea typeface="Aptos"/>
                <a:cs typeface="Aptos"/>
              </a:defRPr>
            </a:pPr>
            <a:r>
              <a:rPr sz="1125" b="1">
                <a:solidFill>
                  <a:srgbClr val="123B5D"/>
                </a:solidFill>
                <a:latin typeface="Aptos"/>
                <a:ea typeface="Aptos"/>
                <a:cs typeface="Aptos"/>
              </a:rPr>
              <a:t>Calendar table details</a:t>
            </a:r>
          </a:p>
        </p:txBody>
      </p:sp>
      <p:sp>
        <p:nvSpPr>
          <p:cNvPr id="16" name="">
            <a:extLst xmlns:a="http://schemas.openxmlformats.org/drawingml/2006/main">
              <a:ext uri="{FF2B5EF4-FFF2-40B4-BE49-F238E27FC236}">
                <a16:creationId xmlns:a16="http://schemas.microsoft.com/office/drawing/2014/main" id="{8BB89D07-8046-4C63-B7A1-9649B1E80DDF}"/>
              </a:ext>
            </a:extLst>
          </p:cNvPr>
          <p:cNvSpPr>
            <a:spLocks xmlns:a="http://schemas.openxmlformats.org/drawingml/2006/main" noGrp="1"/>
          </p:cNvSpPr>
          <p:nvPr/>
        </p:nvSpPr>
        <p:spPr>
          <a:xfrm xmlns:a="http://schemas.openxmlformats.org/drawingml/2006/main">
            <a:off x="914400" y="4333875"/>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9D6DB5F-3C75-40A5-8BEA-3ED110763057}"/>
              </a:ext>
            </a:extLst>
          </p:cNvPr>
          <p:cNvSpPr>
            <a:spLocks xmlns:a="http://schemas.openxmlformats.org/drawingml/2006/main" noGrp="1"/>
          </p:cNvSpPr>
          <p:nvPr/>
        </p:nvSpPr>
        <p:spPr>
          <a:xfrm xmlns:a="http://schemas.openxmlformats.org/drawingml/2006/main">
            <a:off x="1123950" y="4248150"/>
            <a:ext cx="4838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263238"/>
                </a:solidFill>
                <a:latin typeface="Aptos"/>
                <a:ea typeface="Aptos"/>
                <a:cs typeface="Aptos"/>
              </a:defRPr>
            </a:pPr>
            <a:r>
              <a:rPr sz="1275" b="0">
                <a:solidFill>
                  <a:srgbClr val="263238"/>
                </a:solidFill>
                <a:latin typeface="Aptos"/>
                <a:ea typeface="Aptos"/>
                <a:cs typeface="Aptos"/>
              </a:rPr>
              <a:t>CALENDAR(MIN date → MAX date)</a:t>
            </a:r>
          </a:p>
        </p:txBody>
      </p:sp>
      <p:sp>
        <p:nvSpPr>
          <p:cNvPr id="18" name="">
            <a:extLst xmlns:a="http://schemas.openxmlformats.org/drawingml/2006/main">
              <a:ext uri="{FF2B5EF4-FFF2-40B4-BE49-F238E27FC236}">
                <a16:creationId xmlns:a16="http://schemas.microsoft.com/office/drawing/2014/main" id="{1AC13A0F-C2E8-4A01-BC61-94F9478DC9AA}"/>
              </a:ext>
            </a:extLst>
          </p:cNvPr>
          <p:cNvSpPr>
            <a:spLocks xmlns:a="http://schemas.openxmlformats.org/drawingml/2006/main" noGrp="1"/>
          </p:cNvSpPr>
          <p:nvPr/>
        </p:nvSpPr>
        <p:spPr>
          <a:xfrm xmlns:a="http://schemas.openxmlformats.org/drawingml/2006/main">
            <a:off x="914400" y="4733925"/>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31BC376-AF0C-4144-9A8E-D82ED38B13E2}"/>
              </a:ext>
            </a:extLst>
          </p:cNvPr>
          <p:cNvSpPr>
            <a:spLocks xmlns:a="http://schemas.openxmlformats.org/drawingml/2006/main" noGrp="1"/>
          </p:cNvSpPr>
          <p:nvPr/>
        </p:nvSpPr>
        <p:spPr>
          <a:xfrm xmlns:a="http://schemas.openxmlformats.org/drawingml/2006/main">
            <a:off x="1123950" y="4648200"/>
            <a:ext cx="4838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263238"/>
                </a:solidFill>
                <a:latin typeface="Aptos"/>
                <a:ea typeface="Aptos"/>
                <a:cs typeface="Aptos"/>
              </a:defRPr>
            </a:pPr>
            <a:r>
              <a:rPr sz="1275" b="0">
                <a:solidFill>
                  <a:srgbClr val="263238"/>
                </a:solidFill>
                <a:latin typeface="Aptos"/>
                <a:ea typeface="Aptos"/>
                <a:cs typeface="Aptos"/>
              </a:rPr>
              <a:t>Month Name sorted by Month Number</a:t>
            </a:r>
          </a:p>
        </p:txBody>
      </p:sp>
      <p:sp>
        <p:nvSpPr>
          <p:cNvPr id="20" name="">
            <a:extLst xmlns:a="http://schemas.openxmlformats.org/drawingml/2006/main">
              <a:ext uri="{FF2B5EF4-FFF2-40B4-BE49-F238E27FC236}">
                <a16:creationId xmlns:a16="http://schemas.microsoft.com/office/drawing/2014/main" id="{77E50B13-EBC2-4E59-A7C6-D47D380CD53D}"/>
              </a:ext>
            </a:extLst>
          </p:cNvPr>
          <p:cNvSpPr>
            <a:spLocks xmlns:a="http://schemas.openxmlformats.org/drawingml/2006/main" noGrp="1"/>
          </p:cNvSpPr>
          <p:nvPr/>
        </p:nvSpPr>
        <p:spPr>
          <a:xfrm xmlns:a="http://schemas.openxmlformats.org/drawingml/2006/main">
            <a:off x="914400" y="5133975"/>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C9F8969-AA78-4AA6-A256-7E837D4DA916}"/>
              </a:ext>
            </a:extLst>
          </p:cNvPr>
          <p:cNvSpPr>
            <a:spLocks xmlns:a="http://schemas.openxmlformats.org/drawingml/2006/main" noGrp="1"/>
          </p:cNvSpPr>
          <p:nvPr/>
        </p:nvSpPr>
        <p:spPr>
          <a:xfrm xmlns:a="http://schemas.openxmlformats.org/drawingml/2006/main">
            <a:off x="1123950" y="5048250"/>
            <a:ext cx="4838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263238"/>
                </a:solidFill>
                <a:latin typeface="Aptos"/>
                <a:ea typeface="Aptos"/>
                <a:cs typeface="Aptos"/>
              </a:defRPr>
            </a:pPr>
            <a:r>
              <a:rPr sz="1275" b="0">
                <a:solidFill>
                  <a:srgbClr val="263238"/>
                </a:solidFill>
                <a:latin typeface="Aptos"/>
                <a:ea typeface="Aptos"/>
                <a:cs typeface="Aptos"/>
              </a:rPr>
              <a:t>Month Year sorted by Month Sort</a:t>
            </a:r>
          </a:p>
        </p:txBody>
      </p:sp>
      <p:sp>
        <p:nvSpPr>
          <p:cNvPr id="22" name="">
            <a:extLst xmlns:a="http://schemas.openxmlformats.org/drawingml/2006/main">
              <a:ext uri="{FF2B5EF4-FFF2-40B4-BE49-F238E27FC236}">
                <a16:creationId xmlns:a16="http://schemas.microsoft.com/office/drawing/2014/main" id="{1CA2DF9D-3E95-4BAE-BA7C-30DAFE65255F}"/>
              </a:ext>
            </a:extLst>
          </p:cNvPr>
          <p:cNvSpPr>
            <a:spLocks xmlns:a="http://schemas.openxmlformats.org/drawingml/2006/main" noGrp="1"/>
          </p:cNvSpPr>
          <p:nvPr/>
        </p:nvSpPr>
        <p:spPr>
          <a:xfrm xmlns:a="http://schemas.openxmlformats.org/drawingml/2006/main">
            <a:off x="914400" y="5534025"/>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864273D-999E-46F3-B17B-737FBE10060D}"/>
              </a:ext>
            </a:extLst>
          </p:cNvPr>
          <p:cNvSpPr>
            <a:spLocks xmlns:a="http://schemas.openxmlformats.org/drawingml/2006/main" noGrp="1"/>
          </p:cNvSpPr>
          <p:nvPr/>
        </p:nvSpPr>
        <p:spPr>
          <a:xfrm xmlns:a="http://schemas.openxmlformats.org/drawingml/2006/main">
            <a:off x="1123950" y="5448300"/>
            <a:ext cx="4838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263238"/>
                </a:solidFill>
                <a:latin typeface="Aptos"/>
                <a:ea typeface="Aptos"/>
                <a:cs typeface="Aptos"/>
              </a:defRPr>
            </a:pPr>
            <a:r>
              <a:rPr sz="1275" b="0">
                <a:solidFill>
                  <a:srgbClr val="263238"/>
                </a:solidFill>
                <a:latin typeface="Aptos"/>
                <a:ea typeface="Aptos"/>
                <a:cs typeface="Aptos"/>
              </a:rPr>
              <a:t>Marked as the Date Table</a:t>
            </a:r>
          </a:p>
        </p:txBody>
      </p:sp>
      <p:sp>
        <p:nvSpPr>
          <p:cNvPr id="24" name="">
            <a:extLst xmlns:a="http://schemas.openxmlformats.org/drawingml/2006/main">
              <a:ext uri="{FF2B5EF4-FFF2-40B4-BE49-F238E27FC236}">
                <a16:creationId xmlns:a16="http://schemas.microsoft.com/office/drawing/2014/main" id="{DBA5FE36-C4E1-4074-ABBC-0EA162FF3DC4}"/>
              </a:ext>
            </a:extLst>
          </p:cNvPr>
          <p:cNvSpPr>
            <a:spLocks xmlns:a="http://schemas.openxmlformats.org/drawingml/2006/main" noGrp="1"/>
          </p:cNvSpPr>
          <p:nvPr/>
        </p:nvSpPr>
        <p:spPr>
          <a:xfrm xmlns:a="http://schemas.openxmlformats.org/drawingml/2006/main">
            <a:off x="6610350" y="3886200"/>
            <a:ext cx="4419600" cy="1771650"/>
          </a:xfrm>
          <a:prstGeom xmlns:a="http://schemas.openxmlformats.org/drawingml/2006/main" prst="roundRect">
            <a:avLst>
              <a:gd name="adj" fmla="val 4301"/>
            </a:avLst>
          </a:prstGeom>
          <a:solidFill xmlns:a="http://schemas.openxmlformats.org/drawingml/2006/main">
            <a:srgbClr val="EAF2F6"/>
          </a:solidFill>
          <a:ln xmlns:a="http://schemas.openxmlformats.org/drawingml/2006/main" w="9525">
            <a:solidFill>
              <a:srgbClr val="DCE5EA"/>
            </a:solidFill>
          </a:ln>
        </p:spPr>
      </p:sp>
      <p:sp>
        <p:nvSpPr>
          <p:cNvPr id="25" name="">
            <a:extLst xmlns:a="http://schemas.openxmlformats.org/drawingml/2006/main">
              <a:ext uri="{FF2B5EF4-FFF2-40B4-BE49-F238E27FC236}">
                <a16:creationId xmlns:a16="http://schemas.microsoft.com/office/drawing/2014/main" id="{066DCCA5-78A6-413E-BC09-372EDBD5C3FD}"/>
              </a:ext>
            </a:extLst>
          </p:cNvPr>
          <p:cNvSpPr>
            <a:spLocks xmlns:a="http://schemas.openxmlformats.org/drawingml/2006/main" noGrp="1"/>
          </p:cNvSpPr>
          <p:nvPr/>
        </p:nvSpPr>
        <p:spPr>
          <a:xfrm xmlns:a="http://schemas.openxmlformats.org/drawingml/2006/main">
            <a:off x="6877050" y="410527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defRPr sz="1500" b="1">
                <a:solidFill>
                  <a:srgbClr val="123B5D"/>
                </a:solidFill>
                <a:latin typeface="Aptos"/>
                <a:ea typeface="Aptos"/>
                <a:cs typeface="Aptos"/>
              </a:defRPr>
            </a:pPr>
            <a:r>
              <a:rPr sz="1500" b="1">
                <a:solidFill>
                  <a:srgbClr val="123B5D"/>
                </a:solidFill>
                <a:latin typeface="Aptos"/>
                <a:ea typeface="Aptos"/>
                <a:cs typeface="Aptos"/>
              </a:rPr>
              <a:t>Why it helps</a:t>
            </a:r>
          </a:p>
        </p:txBody>
      </p:sp>
      <p:sp>
        <p:nvSpPr>
          <p:cNvPr id="26" name="">
            <a:extLst xmlns:a="http://schemas.openxmlformats.org/drawingml/2006/main">
              <a:ext uri="{FF2B5EF4-FFF2-40B4-BE49-F238E27FC236}">
                <a16:creationId xmlns:a16="http://schemas.microsoft.com/office/drawing/2014/main" id="{C1CBB329-DB2A-4759-AA7D-EB02573C2C44}"/>
              </a:ext>
            </a:extLst>
          </p:cNvPr>
          <p:cNvSpPr>
            <a:spLocks xmlns:a="http://schemas.openxmlformats.org/drawingml/2006/main" noGrp="1"/>
          </p:cNvSpPr>
          <p:nvPr/>
        </p:nvSpPr>
        <p:spPr>
          <a:xfrm xmlns:a="http://schemas.openxmlformats.org/drawingml/2006/main">
            <a:off x="6877050" y="4533900"/>
            <a:ext cx="3810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263238"/>
                </a:solidFill>
                <a:latin typeface="Aptos"/>
                <a:ea typeface="Aptos"/>
                <a:cs typeface="Aptos"/>
              </a:defRPr>
            </a:pPr>
            <a:r>
              <a:rPr sz="1425" b="0">
                <a:solidFill>
                  <a:srgbClr val="263238"/>
                </a:solidFill>
                <a:latin typeface="Aptos"/>
                <a:ea typeface="Aptos"/>
                <a:cs typeface="Aptos"/>
              </a:rPr>
              <a:t>Correct month order</a:t>
            </a:r>
          </a:p>
          <a:p xmlns:a="http://schemas.openxmlformats.org/drawingml/2006/main">
            <a:pPr>
              <a:defRPr sz="1425" b="0">
                <a:solidFill>
                  <a:srgbClr val="263238"/>
                </a:solidFill>
                <a:latin typeface="Aptos"/>
                <a:ea typeface="Aptos"/>
                <a:cs typeface="Aptos"/>
              </a:defRPr>
            </a:pPr>
            <a:r>
              <a:rPr sz="1425" b="0">
                <a:solidFill>
                  <a:srgbClr val="263238"/>
                </a:solidFill>
                <a:latin typeface="Aptos"/>
                <a:ea typeface="Aptos"/>
                <a:cs typeface="Aptos"/>
              </a:rPr>
              <a:t>Consistent date filtering</a:t>
            </a:r>
          </a:p>
          <a:p xmlns:a="http://schemas.openxmlformats.org/drawingml/2006/main">
            <a:pPr>
              <a:defRPr sz="1425" b="0">
                <a:solidFill>
                  <a:srgbClr val="263238"/>
                </a:solidFill>
                <a:latin typeface="Aptos"/>
                <a:ea typeface="Aptos"/>
                <a:cs typeface="Aptos"/>
              </a:defRPr>
            </a:pPr>
            <a:r>
              <a:rPr sz="1425" b="0">
                <a:solidFill>
                  <a:srgbClr val="263238"/>
                </a:solidFill>
                <a:latin typeface="Aptos"/>
                <a:ea typeface="Aptos"/>
                <a:cs typeface="Aptos"/>
              </a:rPr>
              <a:t>Time-based analysis and time intelligence</a:t>
            </a:r>
          </a:p>
        </p:txBody>
      </p:sp>
    </p:spTree>
    <p:extLst>
      <p:ext uri="{BB962C8B-B14F-4D97-AF65-F5344CB8AC3E}">
        <p14:creationId xmlns:p14="http://schemas.microsoft.com/office/powerpoint/2010/main" val="287808046"/>
      </p:ext>
    </p:extLst>
  </p:cSld>
</p:sld>
</file>

<file path=ppt/slides/slide10.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A2D74A0-B895-4706-BF29-303FC1DF504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E9B03E-D3D8-4C34-950A-40512B5A9178}"/>
              </a:ext>
            </a:extLst>
          </p:cNvPr>
          <p:cNvSpPr>
            <a:spLocks xmlns:a="http://schemas.openxmlformats.org/drawingml/2006/main" noGrp="1"/>
          </p:cNvSpPr>
          <p:nvPr/>
        </p:nvSpPr>
        <p:spPr>
          <a:xfrm xmlns:a="http://schemas.openxmlformats.org/drawingml/2006/main">
            <a:off x="590550" y="266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03  |  MODEL</a:t>
            </a:r>
          </a:p>
        </p:txBody>
      </p:sp>
      <p:sp>
        <p:nvSpPr>
          <p:cNvPr id="3" name="">
            <a:extLst xmlns:a="http://schemas.openxmlformats.org/drawingml/2006/main">
              <a:ext uri="{FF2B5EF4-FFF2-40B4-BE49-F238E27FC236}">
                <a16:creationId xmlns:a16="http://schemas.microsoft.com/office/drawing/2014/main" id="{5195F95E-A9BC-4CFF-94DE-24C69DAEB66B}"/>
              </a:ext>
            </a:extLst>
          </p:cNvPr>
          <p:cNvSpPr>
            <a:spLocks xmlns:a="http://schemas.openxmlformats.org/drawingml/2006/main" noGrp="1"/>
          </p:cNvSpPr>
          <p:nvPr/>
        </p:nvSpPr>
        <p:spPr>
          <a:xfrm xmlns:a="http://schemas.openxmlformats.org/drawingml/2006/main">
            <a:off x="590550" y="600075"/>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23B5D"/>
                </a:solidFill>
                <a:latin typeface="Aptos"/>
                <a:ea typeface="Aptos"/>
                <a:cs typeface="Aptos"/>
              </a:defRPr>
            </a:pPr>
            <a:r>
              <a:rPr sz="2550" b="1">
                <a:solidFill>
                  <a:srgbClr val="123B5D"/>
                </a:solidFill>
                <a:latin typeface="Aptos"/>
                <a:ea typeface="Aptos"/>
                <a:cs typeface="Aptos"/>
              </a:rPr>
              <a:t>DAX &amp; KPI development</a:t>
            </a:r>
          </a:p>
        </p:txBody>
      </p:sp>
      <p:sp>
        <p:nvSpPr>
          <p:cNvPr id="4" name="">
            <a:extLst xmlns:a="http://schemas.openxmlformats.org/drawingml/2006/main">
              <a:ext uri="{FF2B5EF4-FFF2-40B4-BE49-F238E27FC236}">
                <a16:creationId xmlns:a16="http://schemas.microsoft.com/office/drawing/2014/main" id="{D0980734-B109-4481-9600-1BE0722A5317}"/>
              </a:ext>
            </a:extLst>
          </p:cNvPr>
          <p:cNvSpPr>
            <a:spLocks xmlns:a="http://schemas.openxmlformats.org/drawingml/2006/main" noGrp="1"/>
          </p:cNvSpPr>
          <p:nvPr/>
        </p:nvSpPr>
        <p:spPr>
          <a:xfrm xmlns:a="http://schemas.openxmlformats.org/drawingml/2006/main">
            <a:off x="609600" y="11334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1727E"/>
                </a:solidFill>
                <a:latin typeface="Aptos"/>
                <a:ea typeface="Aptos"/>
                <a:cs typeface="Aptos"/>
              </a:defRPr>
            </a:pPr>
            <a:r>
              <a:rPr sz="1275" b="0">
                <a:solidFill>
                  <a:srgbClr val="61727E"/>
                </a:solidFill>
                <a:latin typeface="Aptos"/>
                <a:ea typeface="Aptos"/>
                <a:cs typeface="Aptos"/>
              </a:rPr>
              <a:t>Measures calculate values dynamically as slicers and filters change</a:t>
            </a:r>
          </a:p>
        </p:txBody>
      </p:sp>
      <p:sp>
        <p:nvSpPr>
          <p:cNvPr id="5" name="">
            <a:extLst xmlns:a="http://schemas.openxmlformats.org/drawingml/2006/main">
              <a:ext uri="{FF2B5EF4-FFF2-40B4-BE49-F238E27FC236}">
                <a16:creationId xmlns:a16="http://schemas.microsoft.com/office/drawing/2014/main" id="{41014312-414E-4E9B-8934-4F8826A6510D}"/>
              </a:ext>
            </a:extLst>
          </p:cNvPr>
          <p:cNvSpPr>
            <a:spLocks xmlns:a="http://schemas.openxmlformats.org/drawingml/2006/main" noGrp="1"/>
          </p:cNvSpPr>
          <p:nvPr/>
        </p:nvSpPr>
        <p:spPr>
          <a:xfrm xmlns:a="http://schemas.openxmlformats.org/drawingml/2006/main">
            <a:off x="590550" y="6419850"/>
            <a:ext cx="10991850" cy="9525"/>
          </a:xfrm>
          <a:prstGeom xmlns:a="http://schemas.openxmlformats.org/drawingml/2006/main" prst="rect">
            <a:avLst/>
          </a:prstGeom>
          <a:solidFill xmlns:a="http://schemas.openxmlformats.org/drawingml/2006/main">
            <a:srgbClr val="DCE5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0C7BD96-D7C4-42FA-8CE9-0D3902F2BDB7}"/>
              </a:ext>
            </a:extLst>
          </p:cNvPr>
          <p:cNvSpPr>
            <a:spLocks xmlns:a="http://schemas.openxmlformats.org/drawingml/2006/main" noGrp="1"/>
          </p:cNvSpPr>
          <p:nvPr/>
        </p:nvSpPr>
        <p:spPr>
          <a:xfrm xmlns:a="http://schemas.openxmlformats.org/drawingml/2006/main">
            <a:off x="59055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ANUDIP FOUNDATION  •  DATA ANALYTICS PROJECT</a:t>
            </a:r>
          </a:p>
        </p:txBody>
      </p:sp>
      <p:sp>
        <p:nvSpPr>
          <p:cNvPr id="7" name="">
            <a:extLst xmlns:a="http://schemas.openxmlformats.org/drawingml/2006/main">
              <a:ext uri="{FF2B5EF4-FFF2-40B4-BE49-F238E27FC236}">
                <a16:creationId xmlns:a16="http://schemas.microsoft.com/office/drawing/2014/main" id="{BCBF771C-B262-4834-B709-2D08A58414D4}"/>
              </a:ext>
            </a:extLst>
          </p:cNvPr>
          <p:cNvSpPr>
            <a:spLocks xmlns:a="http://schemas.openxmlformats.org/drawingml/2006/main" noGrp="1"/>
          </p:cNvSpPr>
          <p:nvPr/>
        </p:nvSpPr>
        <p:spPr>
          <a:xfrm xmlns:a="http://schemas.openxmlformats.org/drawingml/2006/main">
            <a:off x="112014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1">
                <a:solidFill>
                  <a:srgbClr val="61727E"/>
                </a:solidFill>
                <a:latin typeface="Aptos"/>
                <a:ea typeface="Aptos"/>
                <a:cs typeface="Aptos"/>
              </a:defRPr>
            </a:pPr>
            <a:r>
              <a:rPr sz="900" b="1">
                <a:solidFill>
                  <a:srgbClr val="61727E"/>
                </a:solidFill>
                <a:latin typeface="Aptos"/>
                <a:ea typeface="Aptos"/>
                <a:cs typeface="Aptos"/>
              </a:rPr>
              <a:t>10</a:t>
            </a:r>
          </a:p>
        </p:txBody>
      </p:sp>
      <p:sp>
        <p:nvSpPr>
          <p:cNvPr id="8" name="">
            <a:extLst xmlns:a="http://schemas.openxmlformats.org/drawingml/2006/main">
              <a:ext uri="{FF2B5EF4-FFF2-40B4-BE49-F238E27FC236}">
                <a16:creationId xmlns:a16="http://schemas.microsoft.com/office/drawing/2014/main" id="{124436AD-671B-4DCB-95A4-AD03EE40D2CB}"/>
              </a:ext>
            </a:extLst>
          </p:cNvPr>
          <p:cNvSpPr>
            <a:spLocks xmlns:a="http://schemas.openxmlformats.org/drawingml/2006/main" noGrp="1"/>
          </p:cNvSpPr>
          <p:nvPr/>
        </p:nvSpPr>
        <p:spPr>
          <a:xfrm xmlns:a="http://schemas.openxmlformats.org/drawingml/2006/main">
            <a:off x="666750" y="1685925"/>
            <a:ext cx="4905375"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DCE5EA"/>
            </a:solidFill>
          </a:ln>
        </p:spPr>
      </p:sp>
      <p:sp>
        <p:nvSpPr>
          <p:cNvPr id="9" name="">
            <a:extLst xmlns:a="http://schemas.openxmlformats.org/drawingml/2006/main">
              <a:ext uri="{FF2B5EF4-FFF2-40B4-BE49-F238E27FC236}">
                <a16:creationId xmlns:a16="http://schemas.microsoft.com/office/drawing/2014/main" id="{75B44B7A-B691-42BB-BF20-78E05B80F7E6}"/>
              </a:ext>
            </a:extLst>
          </p:cNvPr>
          <p:cNvSpPr>
            <a:spLocks xmlns:a="http://schemas.openxmlformats.org/drawingml/2006/main" noGrp="1"/>
          </p:cNvSpPr>
          <p:nvPr/>
        </p:nvSpPr>
        <p:spPr>
          <a:xfrm xmlns:a="http://schemas.openxmlformats.org/drawingml/2006/main">
            <a:off x="933450" y="192405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defRPr sz="1575" b="1">
                <a:solidFill>
                  <a:srgbClr val="123B5D"/>
                </a:solidFill>
                <a:latin typeface="Aptos"/>
                <a:ea typeface="Aptos"/>
                <a:cs typeface="Aptos"/>
              </a:defRPr>
            </a:pPr>
            <a:r>
              <a:rPr sz="1575" b="1">
                <a:solidFill>
                  <a:srgbClr val="123B5D"/>
                </a:solidFill>
                <a:latin typeface="Aptos"/>
                <a:ea typeface="Aptos"/>
                <a:cs typeface="Aptos"/>
              </a:rPr>
              <a:t>Selected measures</a:t>
            </a:r>
          </a:p>
        </p:txBody>
      </p:sp>
      <p:sp>
        <p:nvSpPr>
          <p:cNvPr id="10" name="">
            <a:extLst xmlns:a="http://schemas.openxmlformats.org/drawingml/2006/main">
              <a:ext uri="{FF2B5EF4-FFF2-40B4-BE49-F238E27FC236}">
                <a16:creationId xmlns:a16="http://schemas.microsoft.com/office/drawing/2014/main" id="{041B0582-9520-46AE-906B-F76AAA32D461}"/>
              </a:ext>
            </a:extLst>
          </p:cNvPr>
          <p:cNvSpPr>
            <a:spLocks xmlns:a="http://schemas.openxmlformats.org/drawingml/2006/main" noGrp="1"/>
          </p:cNvSpPr>
          <p:nvPr/>
        </p:nvSpPr>
        <p:spPr>
          <a:xfrm xmlns:a="http://schemas.openxmlformats.org/drawingml/2006/main">
            <a:off x="971550" y="2486025"/>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91F4544-7534-40EB-9F21-CA9481F90A07}"/>
              </a:ext>
            </a:extLst>
          </p:cNvPr>
          <p:cNvSpPr>
            <a:spLocks xmlns:a="http://schemas.openxmlformats.org/drawingml/2006/main" noGrp="1"/>
          </p:cNvSpPr>
          <p:nvPr/>
        </p:nvSpPr>
        <p:spPr>
          <a:xfrm xmlns:a="http://schemas.openxmlformats.org/drawingml/2006/main">
            <a:off x="1181100" y="2400300"/>
            <a:ext cx="3933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263238"/>
                </a:solidFill>
                <a:latin typeface="Aptos"/>
                <a:ea typeface="Aptos"/>
                <a:cs typeface="Aptos"/>
              </a:defRPr>
            </a:pPr>
            <a:r>
              <a:rPr sz="1200" b="0">
                <a:solidFill>
                  <a:srgbClr val="263238"/>
                </a:solidFill>
                <a:latin typeface="Aptos"/>
                <a:ea typeface="Aptos"/>
                <a:cs typeface="Aptos"/>
              </a:rPr>
              <a:t>Total Transactions</a:t>
            </a:r>
          </a:p>
        </p:txBody>
      </p:sp>
      <p:sp>
        <p:nvSpPr>
          <p:cNvPr id="12" name="">
            <a:extLst xmlns:a="http://schemas.openxmlformats.org/drawingml/2006/main">
              <a:ext uri="{FF2B5EF4-FFF2-40B4-BE49-F238E27FC236}">
                <a16:creationId xmlns:a16="http://schemas.microsoft.com/office/drawing/2014/main" id="{8EFA85BF-36C4-441C-A715-06338D818BFB}"/>
              </a:ext>
            </a:extLst>
          </p:cNvPr>
          <p:cNvSpPr>
            <a:spLocks xmlns:a="http://schemas.openxmlformats.org/drawingml/2006/main" noGrp="1"/>
          </p:cNvSpPr>
          <p:nvPr/>
        </p:nvSpPr>
        <p:spPr>
          <a:xfrm xmlns:a="http://schemas.openxmlformats.org/drawingml/2006/main">
            <a:off x="971550" y="2828925"/>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E1F58C3-C536-4EAF-BEDE-32DFD2C715A3}"/>
              </a:ext>
            </a:extLst>
          </p:cNvPr>
          <p:cNvSpPr>
            <a:spLocks xmlns:a="http://schemas.openxmlformats.org/drawingml/2006/main" noGrp="1"/>
          </p:cNvSpPr>
          <p:nvPr/>
        </p:nvSpPr>
        <p:spPr>
          <a:xfrm xmlns:a="http://schemas.openxmlformats.org/drawingml/2006/main">
            <a:off x="1181100" y="2743200"/>
            <a:ext cx="3933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263238"/>
                </a:solidFill>
                <a:latin typeface="Aptos"/>
                <a:ea typeface="Aptos"/>
                <a:cs typeface="Aptos"/>
              </a:defRPr>
            </a:pPr>
            <a:r>
              <a:rPr sz="1200" b="0">
                <a:solidFill>
                  <a:srgbClr val="263238"/>
                </a:solidFill>
                <a:latin typeface="Aptos"/>
                <a:ea typeface="Aptos"/>
                <a:cs typeface="Aptos"/>
              </a:rPr>
              <a:t>Total Transaction Value</a:t>
            </a:r>
          </a:p>
        </p:txBody>
      </p:sp>
      <p:sp>
        <p:nvSpPr>
          <p:cNvPr id="14" name="">
            <a:extLst xmlns:a="http://schemas.openxmlformats.org/drawingml/2006/main">
              <a:ext uri="{FF2B5EF4-FFF2-40B4-BE49-F238E27FC236}">
                <a16:creationId xmlns:a16="http://schemas.microsoft.com/office/drawing/2014/main" id="{CAEA86BB-2CC5-42AC-AEDF-7306EADA3F8D}"/>
              </a:ext>
            </a:extLst>
          </p:cNvPr>
          <p:cNvSpPr>
            <a:spLocks xmlns:a="http://schemas.openxmlformats.org/drawingml/2006/main" noGrp="1"/>
          </p:cNvSpPr>
          <p:nvPr/>
        </p:nvSpPr>
        <p:spPr>
          <a:xfrm xmlns:a="http://schemas.openxmlformats.org/drawingml/2006/main">
            <a:off x="971550" y="3171825"/>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FE724E2-A773-440F-9681-626A9DE6D501}"/>
              </a:ext>
            </a:extLst>
          </p:cNvPr>
          <p:cNvSpPr>
            <a:spLocks xmlns:a="http://schemas.openxmlformats.org/drawingml/2006/main" noGrp="1"/>
          </p:cNvSpPr>
          <p:nvPr/>
        </p:nvSpPr>
        <p:spPr>
          <a:xfrm xmlns:a="http://schemas.openxmlformats.org/drawingml/2006/main">
            <a:off x="1181100" y="3086100"/>
            <a:ext cx="3933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263238"/>
                </a:solidFill>
                <a:latin typeface="Aptos"/>
                <a:ea typeface="Aptos"/>
                <a:cs typeface="Aptos"/>
              </a:defRPr>
            </a:pPr>
            <a:r>
              <a:rPr sz="1200" b="0">
                <a:solidFill>
                  <a:srgbClr val="263238"/>
                </a:solidFill>
                <a:latin typeface="Aptos"/>
                <a:ea typeface="Aptos"/>
                <a:cs typeface="Aptos"/>
              </a:rPr>
              <a:t>Average Transaction Value</a:t>
            </a:r>
          </a:p>
        </p:txBody>
      </p:sp>
      <p:sp>
        <p:nvSpPr>
          <p:cNvPr id="16" name="">
            <a:extLst xmlns:a="http://schemas.openxmlformats.org/drawingml/2006/main">
              <a:ext uri="{FF2B5EF4-FFF2-40B4-BE49-F238E27FC236}">
                <a16:creationId xmlns:a16="http://schemas.microsoft.com/office/drawing/2014/main" id="{62FB12DD-60A7-46D5-B88E-ABC5B63CD4C0}"/>
              </a:ext>
            </a:extLst>
          </p:cNvPr>
          <p:cNvSpPr>
            <a:spLocks xmlns:a="http://schemas.openxmlformats.org/drawingml/2006/main" noGrp="1"/>
          </p:cNvSpPr>
          <p:nvPr/>
        </p:nvSpPr>
        <p:spPr>
          <a:xfrm xmlns:a="http://schemas.openxmlformats.org/drawingml/2006/main">
            <a:off x="971550" y="3514725"/>
            <a:ext cx="76200" cy="7620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D4DCD7D-F8A2-49AC-8785-1979E7D348BE}"/>
              </a:ext>
            </a:extLst>
          </p:cNvPr>
          <p:cNvSpPr>
            <a:spLocks xmlns:a="http://schemas.openxmlformats.org/drawingml/2006/main" noGrp="1"/>
          </p:cNvSpPr>
          <p:nvPr/>
        </p:nvSpPr>
        <p:spPr>
          <a:xfrm xmlns:a="http://schemas.openxmlformats.org/drawingml/2006/main">
            <a:off x="1181100" y="3429000"/>
            <a:ext cx="3933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263238"/>
                </a:solidFill>
                <a:latin typeface="Aptos"/>
                <a:ea typeface="Aptos"/>
                <a:cs typeface="Aptos"/>
              </a:defRPr>
            </a:pPr>
            <a:r>
              <a:rPr sz="1200" b="0">
                <a:solidFill>
                  <a:srgbClr val="263238"/>
                </a:solidFill>
                <a:latin typeface="Aptos"/>
                <a:ea typeface="Aptos"/>
                <a:cs typeface="Aptos"/>
              </a:rPr>
              <a:t>Success Rate</a:t>
            </a:r>
          </a:p>
        </p:txBody>
      </p:sp>
      <p:sp>
        <p:nvSpPr>
          <p:cNvPr id="18" name="">
            <a:extLst xmlns:a="http://schemas.openxmlformats.org/drawingml/2006/main">
              <a:ext uri="{FF2B5EF4-FFF2-40B4-BE49-F238E27FC236}">
                <a16:creationId xmlns:a16="http://schemas.microsoft.com/office/drawing/2014/main" id="{A204A36A-4A16-4D8E-8750-0EA2AEF2E470}"/>
              </a:ext>
            </a:extLst>
          </p:cNvPr>
          <p:cNvSpPr>
            <a:spLocks xmlns:a="http://schemas.openxmlformats.org/drawingml/2006/main" noGrp="1"/>
          </p:cNvSpPr>
          <p:nvPr/>
        </p:nvSpPr>
        <p:spPr>
          <a:xfrm xmlns:a="http://schemas.openxmlformats.org/drawingml/2006/main">
            <a:off x="971550" y="3857625"/>
            <a:ext cx="76200" cy="7620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B0D3609-E7B6-4BFA-BA7B-F20DF16EAEB8}"/>
              </a:ext>
            </a:extLst>
          </p:cNvPr>
          <p:cNvSpPr>
            <a:spLocks xmlns:a="http://schemas.openxmlformats.org/drawingml/2006/main" noGrp="1"/>
          </p:cNvSpPr>
          <p:nvPr/>
        </p:nvSpPr>
        <p:spPr>
          <a:xfrm xmlns:a="http://schemas.openxmlformats.org/drawingml/2006/main">
            <a:off x="1181100" y="3771900"/>
            <a:ext cx="3933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263238"/>
                </a:solidFill>
                <a:latin typeface="Aptos"/>
                <a:ea typeface="Aptos"/>
                <a:cs typeface="Aptos"/>
              </a:defRPr>
            </a:pPr>
            <a:r>
              <a:rPr sz="1200" b="0">
                <a:solidFill>
                  <a:srgbClr val="263238"/>
                </a:solidFill>
                <a:latin typeface="Aptos"/>
                <a:ea typeface="Aptos"/>
                <a:cs typeface="Aptos"/>
              </a:rPr>
              <a:t>Fraud Transactions</a:t>
            </a:r>
          </a:p>
        </p:txBody>
      </p:sp>
      <p:sp>
        <p:nvSpPr>
          <p:cNvPr id="20" name="">
            <a:extLst xmlns:a="http://schemas.openxmlformats.org/drawingml/2006/main">
              <a:ext uri="{FF2B5EF4-FFF2-40B4-BE49-F238E27FC236}">
                <a16:creationId xmlns:a16="http://schemas.microsoft.com/office/drawing/2014/main" id="{EF562B03-E0B8-4C55-B021-24A3BC7A6C2A}"/>
              </a:ext>
            </a:extLst>
          </p:cNvPr>
          <p:cNvSpPr>
            <a:spLocks xmlns:a="http://schemas.openxmlformats.org/drawingml/2006/main" noGrp="1"/>
          </p:cNvSpPr>
          <p:nvPr/>
        </p:nvSpPr>
        <p:spPr>
          <a:xfrm xmlns:a="http://schemas.openxmlformats.org/drawingml/2006/main">
            <a:off x="971550" y="4200525"/>
            <a:ext cx="76200" cy="7620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7B472A8-6823-4805-A6B4-61A680F1BAD6}"/>
              </a:ext>
            </a:extLst>
          </p:cNvPr>
          <p:cNvSpPr>
            <a:spLocks xmlns:a="http://schemas.openxmlformats.org/drawingml/2006/main" noGrp="1"/>
          </p:cNvSpPr>
          <p:nvPr/>
        </p:nvSpPr>
        <p:spPr>
          <a:xfrm xmlns:a="http://schemas.openxmlformats.org/drawingml/2006/main">
            <a:off x="1181100" y="4114800"/>
            <a:ext cx="3933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263238"/>
                </a:solidFill>
                <a:latin typeface="Aptos"/>
                <a:ea typeface="Aptos"/>
                <a:cs typeface="Aptos"/>
              </a:defRPr>
            </a:pPr>
            <a:r>
              <a:rPr sz="1200" b="0">
                <a:solidFill>
                  <a:srgbClr val="263238"/>
                </a:solidFill>
                <a:latin typeface="Aptos"/>
                <a:ea typeface="Aptos"/>
                <a:cs typeface="Aptos"/>
              </a:rPr>
              <a:t>Fraud Rate</a:t>
            </a:r>
          </a:p>
        </p:txBody>
      </p:sp>
      <p:sp>
        <p:nvSpPr>
          <p:cNvPr id="22" name="">
            <a:extLst xmlns:a="http://schemas.openxmlformats.org/drawingml/2006/main">
              <a:ext uri="{FF2B5EF4-FFF2-40B4-BE49-F238E27FC236}">
                <a16:creationId xmlns:a16="http://schemas.microsoft.com/office/drawing/2014/main" id="{4E4E8D47-FFB9-4DB6-B0D6-94E0179F9180}"/>
              </a:ext>
            </a:extLst>
          </p:cNvPr>
          <p:cNvSpPr>
            <a:spLocks xmlns:a="http://schemas.openxmlformats.org/drawingml/2006/main" noGrp="1"/>
          </p:cNvSpPr>
          <p:nvPr/>
        </p:nvSpPr>
        <p:spPr>
          <a:xfrm xmlns:a="http://schemas.openxmlformats.org/drawingml/2006/main">
            <a:off x="971550" y="4543425"/>
            <a:ext cx="76200" cy="7620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C8A2EF1-996D-443F-ADA3-68F3AE5DA804}"/>
              </a:ext>
            </a:extLst>
          </p:cNvPr>
          <p:cNvSpPr>
            <a:spLocks xmlns:a="http://schemas.openxmlformats.org/drawingml/2006/main" noGrp="1"/>
          </p:cNvSpPr>
          <p:nvPr/>
        </p:nvSpPr>
        <p:spPr>
          <a:xfrm xmlns:a="http://schemas.openxmlformats.org/drawingml/2006/main">
            <a:off x="1181100" y="4457700"/>
            <a:ext cx="3933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263238"/>
                </a:solidFill>
                <a:latin typeface="Aptos"/>
                <a:ea typeface="Aptos"/>
                <a:cs typeface="Aptos"/>
              </a:defRPr>
            </a:pPr>
            <a:r>
              <a:rPr sz="1200" b="0">
                <a:solidFill>
                  <a:srgbClr val="263238"/>
                </a:solidFill>
                <a:latin typeface="Aptos"/>
                <a:ea typeface="Aptos"/>
                <a:cs typeface="Aptos"/>
              </a:rPr>
              <a:t>Fraud Transaction Value</a:t>
            </a:r>
          </a:p>
        </p:txBody>
      </p:sp>
      <p:sp>
        <p:nvSpPr>
          <p:cNvPr id="24" name="">
            <a:extLst xmlns:a="http://schemas.openxmlformats.org/drawingml/2006/main">
              <a:ext uri="{FF2B5EF4-FFF2-40B4-BE49-F238E27FC236}">
                <a16:creationId xmlns:a16="http://schemas.microsoft.com/office/drawing/2014/main" id="{61B27E80-9A78-4D42-8F10-75E381F72973}"/>
              </a:ext>
            </a:extLst>
          </p:cNvPr>
          <p:cNvSpPr>
            <a:spLocks xmlns:a="http://schemas.openxmlformats.org/drawingml/2006/main" noGrp="1"/>
          </p:cNvSpPr>
          <p:nvPr/>
        </p:nvSpPr>
        <p:spPr>
          <a:xfrm xmlns:a="http://schemas.openxmlformats.org/drawingml/2006/main">
            <a:off x="971550" y="4886325"/>
            <a:ext cx="76200" cy="7620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0C36BB0-FAB3-44E8-B213-C9EC3DAA7813}"/>
              </a:ext>
            </a:extLst>
          </p:cNvPr>
          <p:cNvSpPr>
            <a:spLocks xmlns:a="http://schemas.openxmlformats.org/drawingml/2006/main" noGrp="1"/>
          </p:cNvSpPr>
          <p:nvPr/>
        </p:nvSpPr>
        <p:spPr>
          <a:xfrm xmlns:a="http://schemas.openxmlformats.org/drawingml/2006/main">
            <a:off x="1181100" y="4800600"/>
            <a:ext cx="3933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263238"/>
                </a:solidFill>
                <a:latin typeface="Aptos"/>
                <a:ea typeface="Aptos"/>
                <a:cs typeface="Aptos"/>
              </a:defRPr>
            </a:pPr>
            <a:r>
              <a:rPr sz="1200" b="0">
                <a:solidFill>
                  <a:srgbClr val="263238"/>
                </a:solidFill>
                <a:latin typeface="Aptos"/>
                <a:ea typeface="Aptos"/>
                <a:cs typeface="Aptos"/>
              </a:rPr>
              <a:t>Fraud Amount Rate</a:t>
            </a:r>
          </a:p>
        </p:txBody>
      </p:sp>
      <p:sp>
        <p:nvSpPr>
          <p:cNvPr id="26" name="">
            <a:extLst xmlns:a="http://schemas.openxmlformats.org/drawingml/2006/main">
              <a:ext uri="{FF2B5EF4-FFF2-40B4-BE49-F238E27FC236}">
                <a16:creationId xmlns:a16="http://schemas.microsoft.com/office/drawing/2014/main" id="{D3DB1D2F-8F3E-4848-8F44-93850E30B47A}"/>
              </a:ext>
            </a:extLst>
          </p:cNvPr>
          <p:cNvSpPr>
            <a:spLocks xmlns:a="http://schemas.openxmlformats.org/drawingml/2006/main" noGrp="1"/>
          </p:cNvSpPr>
          <p:nvPr/>
        </p:nvSpPr>
        <p:spPr>
          <a:xfrm xmlns:a="http://schemas.openxmlformats.org/drawingml/2006/main">
            <a:off x="6000750" y="1685925"/>
            <a:ext cx="5143500" cy="3714750"/>
          </a:xfrm>
          <a:prstGeom xmlns:a="http://schemas.openxmlformats.org/drawingml/2006/main" prst="roundRect">
            <a:avLst>
              <a:gd name="adj" fmla="val 2051"/>
            </a:avLst>
          </a:prstGeom>
          <a:solidFill xmlns:a="http://schemas.openxmlformats.org/drawingml/2006/main">
            <a:srgbClr val="EAF2F6"/>
          </a:solidFill>
          <a:ln xmlns:a="http://schemas.openxmlformats.org/drawingml/2006/main" w="9525">
            <a:solidFill>
              <a:srgbClr val="DCE5EA"/>
            </a:solidFill>
          </a:ln>
        </p:spPr>
      </p:sp>
      <p:sp>
        <p:nvSpPr>
          <p:cNvPr id="27" name="">
            <a:extLst xmlns:a="http://schemas.openxmlformats.org/drawingml/2006/main">
              <a:ext uri="{FF2B5EF4-FFF2-40B4-BE49-F238E27FC236}">
                <a16:creationId xmlns:a16="http://schemas.microsoft.com/office/drawing/2014/main" id="{1E46B646-3267-4ED8-80B2-505F79DBE131}"/>
              </a:ext>
            </a:extLst>
          </p:cNvPr>
          <p:cNvSpPr>
            <a:spLocks xmlns:a="http://schemas.openxmlformats.org/drawingml/2006/main" noGrp="1"/>
          </p:cNvSpPr>
          <p:nvPr/>
        </p:nvSpPr>
        <p:spPr>
          <a:xfrm xmlns:a="http://schemas.openxmlformats.org/drawingml/2006/main">
            <a:off x="6267450" y="192405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defRPr sz="1575" b="1">
                <a:solidFill>
                  <a:srgbClr val="123B5D"/>
                </a:solidFill>
                <a:latin typeface="Aptos"/>
                <a:ea typeface="Aptos"/>
                <a:cs typeface="Aptos"/>
              </a:defRPr>
            </a:pPr>
            <a:r>
              <a:rPr sz="1575" b="1">
                <a:solidFill>
                  <a:srgbClr val="123B5D"/>
                </a:solidFill>
                <a:latin typeface="Aptos"/>
                <a:ea typeface="Aptos"/>
                <a:cs typeface="Aptos"/>
              </a:rPr>
              <a:t>Short DAX examples</a:t>
            </a:r>
          </a:p>
        </p:txBody>
      </p:sp>
      <p:sp>
        <p:nvSpPr>
          <p:cNvPr id="28" name="">
            <a:extLst xmlns:a="http://schemas.openxmlformats.org/drawingml/2006/main">
              <a:ext uri="{FF2B5EF4-FFF2-40B4-BE49-F238E27FC236}">
                <a16:creationId xmlns:a16="http://schemas.microsoft.com/office/drawing/2014/main" id="{85B7276A-0EA6-4AE8-8D64-AA4B244CBD9C}"/>
              </a:ext>
            </a:extLst>
          </p:cNvPr>
          <p:cNvSpPr>
            <a:spLocks xmlns:a="http://schemas.openxmlformats.org/drawingml/2006/main" noGrp="1"/>
          </p:cNvSpPr>
          <p:nvPr/>
        </p:nvSpPr>
        <p:spPr>
          <a:xfrm xmlns:a="http://schemas.openxmlformats.org/drawingml/2006/main">
            <a:off x="6286500" y="2419350"/>
            <a:ext cx="4400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263238"/>
                </a:solidFill>
                <a:latin typeface="Aptos"/>
                <a:ea typeface="Aptos"/>
                <a:cs typeface="Aptos"/>
              </a:defRPr>
            </a:pPr>
            <a:r>
              <a:rPr sz="1500" b="1">
                <a:solidFill>
                  <a:srgbClr val="263238"/>
                </a:solidFill>
                <a:latin typeface="Aptos"/>
                <a:ea typeface="Aptos"/>
                <a:cs typeface="Aptos"/>
              </a:rPr>
              <a:t>Total Transactions =</a:t>
            </a:r>
          </a:p>
          <a:p xmlns:a="http://schemas.openxmlformats.org/drawingml/2006/main">
            <a:pPr>
              <a:defRPr sz="1500" b="1">
                <a:solidFill>
                  <a:srgbClr val="263238"/>
                </a:solidFill>
                <a:latin typeface="Aptos"/>
                <a:ea typeface="Aptos"/>
                <a:cs typeface="Aptos"/>
              </a:defRPr>
            </a:pPr>
            <a:r>
              <a:rPr sz="1500" b="1">
                <a:solidFill>
                  <a:srgbClr val="263238"/>
                </a:solidFill>
                <a:latin typeface="Aptos"/>
                <a:ea typeface="Aptos"/>
                <a:cs typeface="Aptos"/>
              </a:rPr>
              <a:t>COUNTROWS(Fact_Transactions)</a:t>
            </a:r>
          </a:p>
        </p:txBody>
      </p:sp>
      <p:sp>
        <p:nvSpPr>
          <p:cNvPr id="29" name="">
            <a:extLst xmlns:a="http://schemas.openxmlformats.org/drawingml/2006/main">
              <a:ext uri="{FF2B5EF4-FFF2-40B4-BE49-F238E27FC236}">
                <a16:creationId xmlns:a16="http://schemas.microsoft.com/office/drawing/2014/main" id="{23D35CD0-6B79-4FAA-8E18-EDA096EC596A}"/>
              </a:ext>
            </a:extLst>
          </p:cNvPr>
          <p:cNvSpPr>
            <a:spLocks xmlns:a="http://schemas.openxmlformats.org/drawingml/2006/main" noGrp="1"/>
          </p:cNvSpPr>
          <p:nvPr/>
        </p:nvSpPr>
        <p:spPr>
          <a:xfrm xmlns:a="http://schemas.openxmlformats.org/drawingml/2006/main">
            <a:off x="6286500" y="3324225"/>
            <a:ext cx="4095750" cy="9525"/>
          </a:xfrm>
          <a:prstGeom xmlns:a="http://schemas.openxmlformats.org/drawingml/2006/main" prst="rect">
            <a:avLst/>
          </a:prstGeom>
          <a:solidFill xmlns:a="http://schemas.openxmlformats.org/drawingml/2006/main">
            <a:srgbClr val="DCE5E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2062091-02AF-4732-8159-2D4101ADC57B}"/>
              </a:ext>
            </a:extLst>
          </p:cNvPr>
          <p:cNvSpPr>
            <a:spLocks xmlns:a="http://schemas.openxmlformats.org/drawingml/2006/main" noGrp="1"/>
          </p:cNvSpPr>
          <p:nvPr/>
        </p:nvSpPr>
        <p:spPr>
          <a:xfrm xmlns:a="http://schemas.openxmlformats.org/drawingml/2006/main">
            <a:off x="6286500" y="3543300"/>
            <a:ext cx="44005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263238"/>
                </a:solidFill>
                <a:latin typeface="Aptos"/>
                <a:ea typeface="Aptos"/>
                <a:cs typeface="Aptos"/>
              </a:defRPr>
            </a:pPr>
            <a:r>
              <a:rPr sz="1350" b="1">
                <a:solidFill>
                  <a:srgbClr val="263238"/>
                </a:solidFill>
                <a:latin typeface="Aptos"/>
                <a:ea typeface="Aptos"/>
                <a:cs typeface="Aptos"/>
              </a:rPr>
              <a:t>Success Rate =</a:t>
            </a:r>
          </a:p>
          <a:p xmlns:a="http://schemas.openxmlformats.org/drawingml/2006/main">
            <a:pPr>
              <a:defRPr sz="1350" b="1">
                <a:solidFill>
                  <a:srgbClr val="263238"/>
                </a:solidFill>
                <a:latin typeface="Aptos"/>
                <a:ea typeface="Aptos"/>
                <a:cs typeface="Aptos"/>
              </a:defRPr>
            </a:pPr>
            <a:r>
              <a:rPr sz="1350" b="1">
                <a:solidFill>
                  <a:srgbClr val="263238"/>
                </a:solidFill>
                <a:latin typeface="Aptos"/>
                <a:ea typeface="Aptos"/>
                <a:cs typeface="Aptos"/>
              </a:rPr>
              <a:t>DIVIDE([Successful Transactions],</a:t>
            </a:r>
          </a:p>
          <a:p xmlns:a="http://schemas.openxmlformats.org/drawingml/2006/main">
            <a:pPr>
              <a:defRPr sz="1350" b="1">
                <a:solidFill>
                  <a:srgbClr val="263238"/>
                </a:solidFill>
                <a:latin typeface="Aptos"/>
                <a:ea typeface="Aptos"/>
                <a:cs typeface="Aptos"/>
              </a:defRPr>
            </a:pPr>
            <a:r>
              <a:rPr sz="1350" b="1">
                <a:solidFill>
                  <a:srgbClr val="263238"/>
                </a:solidFill>
                <a:latin typeface="Aptos"/>
                <a:ea typeface="Aptos"/>
                <a:cs typeface="Aptos"/>
              </a:rPr>
              <a:t>       [Total Transactions], 0)</a:t>
            </a:r>
          </a:p>
        </p:txBody>
      </p:sp>
    </p:spTree>
    <p:extLst>
      <p:ext uri="{BB962C8B-B14F-4D97-AF65-F5344CB8AC3E}">
        <p14:creationId xmlns:p14="http://schemas.microsoft.com/office/powerpoint/2010/main" val="2132168639"/>
      </p:ext>
    </p:extLst>
  </p:cSld>
</p:sld>
</file>

<file path=ppt/slides/slide11.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379733D-E19B-4B80-859C-8AF1D961F8E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D8D711-DE8A-4D99-A690-C22C7F90919D}"/>
              </a:ext>
            </a:extLst>
          </p:cNvPr>
          <p:cNvSpPr>
            <a:spLocks xmlns:a="http://schemas.openxmlformats.org/drawingml/2006/main" noGrp="1"/>
          </p:cNvSpPr>
          <p:nvPr/>
        </p:nvSpPr>
        <p:spPr>
          <a:xfrm xmlns:a="http://schemas.openxmlformats.org/drawingml/2006/main">
            <a:off x="590550" y="266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04  |  DASHBOARD</a:t>
            </a:r>
          </a:p>
        </p:txBody>
      </p:sp>
      <p:sp>
        <p:nvSpPr>
          <p:cNvPr id="3" name="">
            <a:extLst xmlns:a="http://schemas.openxmlformats.org/drawingml/2006/main">
              <a:ext uri="{FF2B5EF4-FFF2-40B4-BE49-F238E27FC236}">
                <a16:creationId xmlns:a16="http://schemas.microsoft.com/office/drawing/2014/main" id="{CF85B243-A1C7-4876-B0EE-15FB65AF9DB8}"/>
              </a:ext>
            </a:extLst>
          </p:cNvPr>
          <p:cNvSpPr>
            <a:spLocks xmlns:a="http://schemas.openxmlformats.org/drawingml/2006/main" noGrp="1"/>
          </p:cNvSpPr>
          <p:nvPr/>
        </p:nvSpPr>
        <p:spPr>
          <a:xfrm xmlns:a="http://schemas.openxmlformats.org/drawingml/2006/main">
            <a:off x="590550" y="600075"/>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23B5D"/>
                </a:solidFill>
                <a:latin typeface="Aptos"/>
                <a:ea typeface="Aptos"/>
                <a:cs typeface="Aptos"/>
              </a:defRPr>
            </a:pPr>
            <a:r>
              <a:rPr sz="2550" b="1">
                <a:solidFill>
                  <a:srgbClr val="123B5D"/>
                </a:solidFill>
                <a:latin typeface="Aptos"/>
                <a:ea typeface="Aptos"/>
                <a:cs typeface="Aptos"/>
              </a:rPr>
              <a:t>UPI Transaction Overview</a:t>
            </a:r>
          </a:p>
        </p:txBody>
      </p:sp>
      <p:sp>
        <p:nvSpPr>
          <p:cNvPr id="4" name="">
            <a:extLst xmlns:a="http://schemas.openxmlformats.org/drawingml/2006/main">
              <a:ext uri="{FF2B5EF4-FFF2-40B4-BE49-F238E27FC236}">
                <a16:creationId xmlns:a16="http://schemas.microsoft.com/office/drawing/2014/main" id="{0541B20B-71B6-4555-A37C-6EAC7C5FAB4C}"/>
              </a:ext>
            </a:extLst>
          </p:cNvPr>
          <p:cNvSpPr>
            <a:spLocks xmlns:a="http://schemas.openxmlformats.org/drawingml/2006/main" noGrp="1"/>
          </p:cNvSpPr>
          <p:nvPr/>
        </p:nvSpPr>
        <p:spPr>
          <a:xfrm xmlns:a="http://schemas.openxmlformats.org/drawingml/2006/main">
            <a:off x="609600" y="11334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1727E"/>
                </a:solidFill>
                <a:latin typeface="Aptos"/>
                <a:ea typeface="Aptos"/>
                <a:cs typeface="Aptos"/>
              </a:defRPr>
            </a:pPr>
            <a:r>
              <a:rPr sz="1275" b="0">
                <a:solidFill>
                  <a:srgbClr val="61727E"/>
                </a:solidFill>
                <a:latin typeface="Aptos"/>
                <a:ea typeface="Aptos"/>
                <a:cs typeface="Aptos"/>
              </a:rPr>
              <a:t>Power BI page 1 • overall transaction landscape</a:t>
            </a:r>
          </a:p>
        </p:txBody>
      </p:sp>
      <p:sp>
        <p:nvSpPr>
          <p:cNvPr id="5" name="">
            <a:extLst xmlns:a="http://schemas.openxmlformats.org/drawingml/2006/main">
              <a:ext uri="{FF2B5EF4-FFF2-40B4-BE49-F238E27FC236}">
                <a16:creationId xmlns:a16="http://schemas.microsoft.com/office/drawing/2014/main" id="{D6E295D8-51B2-4339-873F-742B1171BEA4}"/>
              </a:ext>
            </a:extLst>
          </p:cNvPr>
          <p:cNvSpPr>
            <a:spLocks xmlns:a="http://schemas.openxmlformats.org/drawingml/2006/main" noGrp="1"/>
          </p:cNvSpPr>
          <p:nvPr/>
        </p:nvSpPr>
        <p:spPr>
          <a:xfrm xmlns:a="http://schemas.openxmlformats.org/drawingml/2006/main">
            <a:off x="590550" y="6419850"/>
            <a:ext cx="10991850" cy="9525"/>
          </a:xfrm>
          <a:prstGeom xmlns:a="http://schemas.openxmlformats.org/drawingml/2006/main" prst="rect">
            <a:avLst/>
          </a:prstGeom>
          <a:solidFill xmlns:a="http://schemas.openxmlformats.org/drawingml/2006/main">
            <a:srgbClr val="DCE5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1D15B30-48CB-4D79-AC85-7CB821EB38DC}"/>
              </a:ext>
            </a:extLst>
          </p:cNvPr>
          <p:cNvSpPr>
            <a:spLocks xmlns:a="http://schemas.openxmlformats.org/drawingml/2006/main" noGrp="1"/>
          </p:cNvSpPr>
          <p:nvPr/>
        </p:nvSpPr>
        <p:spPr>
          <a:xfrm xmlns:a="http://schemas.openxmlformats.org/drawingml/2006/main">
            <a:off x="59055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ANUDIP FOUNDATION  •  DATA ANALYTICS PROJECT</a:t>
            </a:r>
          </a:p>
        </p:txBody>
      </p:sp>
      <p:sp>
        <p:nvSpPr>
          <p:cNvPr id="7" name="">
            <a:extLst xmlns:a="http://schemas.openxmlformats.org/drawingml/2006/main">
              <a:ext uri="{FF2B5EF4-FFF2-40B4-BE49-F238E27FC236}">
                <a16:creationId xmlns:a16="http://schemas.microsoft.com/office/drawing/2014/main" id="{94EEFFF6-A973-4B70-BE55-4CF56AFEF4B2}"/>
              </a:ext>
            </a:extLst>
          </p:cNvPr>
          <p:cNvSpPr>
            <a:spLocks xmlns:a="http://schemas.openxmlformats.org/drawingml/2006/main" noGrp="1"/>
          </p:cNvSpPr>
          <p:nvPr/>
        </p:nvSpPr>
        <p:spPr>
          <a:xfrm xmlns:a="http://schemas.openxmlformats.org/drawingml/2006/main">
            <a:off x="112014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1">
                <a:solidFill>
                  <a:srgbClr val="61727E"/>
                </a:solidFill>
                <a:latin typeface="Aptos"/>
                <a:ea typeface="Aptos"/>
                <a:cs typeface="Aptos"/>
              </a:defRPr>
            </a:pPr>
            <a:r>
              <a:rPr sz="900" b="1">
                <a:solidFill>
                  <a:srgbClr val="61727E"/>
                </a:solidFill>
                <a:latin typeface="Aptos"/>
                <a:ea typeface="Aptos"/>
                <a:cs typeface="Aptos"/>
              </a:rPr>
              <a:t>11</a:t>
            </a:r>
          </a:p>
        </p:txBody>
      </p:sp>
      <p:sp>
        <p:nvSpPr>
          <p:cNvPr id="8" name="">
            <a:extLst xmlns:a="http://schemas.openxmlformats.org/drawingml/2006/main">
              <a:ext uri="{FF2B5EF4-FFF2-40B4-BE49-F238E27FC236}">
                <a16:creationId xmlns:a16="http://schemas.microsoft.com/office/drawing/2014/main" id="{8C8A2D24-55B0-4482-A4D5-FDFA9A665BD4}"/>
              </a:ext>
            </a:extLst>
          </p:cNvPr>
          <p:cNvSpPr>
            <a:spLocks xmlns:a="http://schemas.openxmlformats.org/drawingml/2006/main" noGrp="1"/>
          </p:cNvSpPr>
          <p:nvPr/>
        </p:nvSpPr>
        <p:spPr>
          <a:xfrm xmlns:a="http://schemas.openxmlformats.org/drawingml/2006/main">
            <a:off x="685800" y="1600200"/>
            <a:ext cx="10820400" cy="337185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19050">
            <a:solidFill>
              <a:srgbClr val="00A6A6"/>
            </a:solidFill>
          </a:ln>
        </p:spPr>
      </p:sp>
      <p:sp>
        <p:nvSpPr>
          <p:cNvPr id="9" name="">
            <a:extLst xmlns:a="http://schemas.openxmlformats.org/drawingml/2006/main">
              <a:ext uri="{FF2B5EF4-FFF2-40B4-BE49-F238E27FC236}">
                <a16:creationId xmlns:a16="http://schemas.microsoft.com/office/drawing/2014/main" id="{9A5563F8-5748-499E-AD17-2AF8FD8E6C41}"/>
              </a:ext>
            </a:extLst>
          </p:cNvPr>
          <p:cNvSpPr>
            <a:spLocks xmlns:a="http://schemas.openxmlformats.org/drawingml/2006/main" noGrp="1"/>
          </p:cNvSpPr>
          <p:nvPr/>
        </p:nvSpPr>
        <p:spPr>
          <a:xfrm xmlns:a="http://schemas.openxmlformats.org/drawingml/2006/main">
            <a:off x="1047750" y="2857500"/>
            <a:ext cx="1009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61727E"/>
                </a:solidFill>
                <a:latin typeface="Aptos"/>
                <a:ea typeface="Aptos"/>
                <a:cs typeface="Aptos"/>
              </a:defRPr>
            </a:pPr>
            <a:r>
              <a:rPr sz="1950" b="1">
                <a:solidFill>
                  <a:srgbClr val="61727E"/>
                </a:solidFill>
                <a:latin typeface="Aptos"/>
                <a:ea typeface="Aptos"/>
                <a:cs typeface="Aptos"/>
              </a:rPr>
              <a:t>[ INSERT PAGE 1 POWER BI SCREENSHOT HERE ]</a:t>
            </a:r>
          </a:p>
        </p:txBody>
      </p:sp>
      <p:sp>
        <p:nvSpPr>
          <p:cNvPr id="10" name="">
            <a:extLst xmlns:a="http://schemas.openxmlformats.org/drawingml/2006/main">
              <a:ext uri="{FF2B5EF4-FFF2-40B4-BE49-F238E27FC236}">
                <a16:creationId xmlns:a16="http://schemas.microsoft.com/office/drawing/2014/main" id="{DF854649-8B2A-4A09-9AAD-797091C0A4F8}"/>
              </a:ext>
            </a:extLst>
          </p:cNvPr>
          <p:cNvSpPr>
            <a:spLocks xmlns:a="http://schemas.openxmlformats.org/drawingml/2006/main" noGrp="1"/>
          </p:cNvSpPr>
          <p:nvPr/>
        </p:nvSpPr>
        <p:spPr>
          <a:xfrm xmlns:a="http://schemas.openxmlformats.org/drawingml/2006/main">
            <a:off x="1047750" y="3400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61727E"/>
                </a:solidFill>
                <a:latin typeface="Aptos"/>
                <a:ea typeface="Aptos"/>
                <a:cs typeface="Aptos"/>
              </a:defRPr>
            </a:pPr>
            <a:r>
              <a:rPr sz="1125" b="0">
                <a:solidFill>
                  <a:srgbClr val="61727E"/>
                </a:solidFill>
                <a:latin typeface="Aptos"/>
                <a:ea typeface="Aptos"/>
                <a:cs typeface="Aptos"/>
              </a:rPr>
              <a:t>Screenshot placeholder — replace with an actual dashboard capture</a:t>
            </a:r>
          </a:p>
        </p:txBody>
      </p:sp>
      <p:sp>
        <p:nvSpPr>
          <p:cNvPr id="11" name="">
            <a:extLst xmlns:a="http://schemas.openxmlformats.org/drawingml/2006/main">
              <a:ext uri="{FF2B5EF4-FFF2-40B4-BE49-F238E27FC236}">
                <a16:creationId xmlns:a16="http://schemas.microsoft.com/office/drawing/2014/main" id="{2077B6A0-FEEE-4A41-9A8B-BFD0F92DABF7}"/>
              </a:ext>
            </a:extLst>
          </p:cNvPr>
          <p:cNvSpPr>
            <a:spLocks xmlns:a="http://schemas.openxmlformats.org/drawingml/2006/main" noGrp="1"/>
          </p:cNvSpPr>
          <p:nvPr/>
        </p:nvSpPr>
        <p:spPr>
          <a:xfrm xmlns:a="http://schemas.openxmlformats.org/drawingml/2006/main">
            <a:off x="685800" y="5286375"/>
            <a:ext cx="20002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123B5D"/>
            </a:solidFill>
          </a:ln>
        </p:spPr>
      </p:sp>
      <p:sp>
        <p:nvSpPr>
          <p:cNvPr id="12" name="">
            <a:extLst xmlns:a="http://schemas.openxmlformats.org/drawingml/2006/main">
              <a:ext uri="{FF2B5EF4-FFF2-40B4-BE49-F238E27FC236}">
                <a16:creationId xmlns:a16="http://schemas.microsoft.com/office/drawing/2014/main" id="{3A471481-6F5A-4670-B7F5-1C87249F528A}"/>
              </a:ext>
            </a:extLst>
          </p:cNvPr>
          <p:cNvSpPr>
            <a:spLocks xmlns:a="http://schemas.openxmlformats.org/drawingml/2006/main" noGrp="1"/>
          </p:cNvSpPr>
          <p:nvPr/>
        </p:nvSpPr>
        <p:spPr>
          <a:xfrm xmlns:a="http://schemas.openxmlformats.org/drawingml/2006/main">
            <a:off x="762000" y="5305425"/>
            <a:ext cx="1847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123B5D"/>
                </a:solidFill>
                <a:latin typeface="Aptos"/>
                <a:ea typeface="Aptos"/>
                <a:cs typeface="Aptos"/>
              </a:defRPr>
            </a:pPr>
            <a:r>
              <a:rPr sz="975" b="1">
                <a:solidFill>
                  <a:srgbClr val="123B5D"/>
                </a:solidFill>
                <a:latin typeface="Aptos"/>
                <a:ea typeface="Aptos"/>
                <a:cs typeface="Aptos"/>
              </a:rPr>
              <a:t>4 transaction KPIs</a:t>
            </a:r>
          </a:p>
        </p:txBody>
      </p:sp>
      <p:sp>
        <p:nvSpPr>
          <p:cNvPr id="13" name="">
            <a:extLst xmlns:a="http://schemas.openxmlformats.org/drawingml/2006/main">
              <a:ext uri="{FF2B5EF4-FFF2-40B4-BE49-F238E27FC236}">
                <a16:creationId xmlns:a16="http://schemas.microsoft.com/office/drawing/2014/main" id="{CBE0FACC-D04E-429C-AC50-618B022F7553}"/>
              </a:ext>
            </a:extLst>
          </p:cNvPr>
          <p:cNvSpPr>
            <a:spLocks xmlns:a="http://schemas.openxmlformats.org/drawingml/2006/main" noGrp="1"/>
          </p:cNvSpPr>
          <p:nvPr/>
        </p:nvSpPr>
        <p:spPr>
          <a:xfrm xmlns:a="http://schemas.openxmlformats.org/drawingml/2006/main">
            <a:off x="2857500" y="5286375"/>
            <a:ext cx="20002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A6A6"/>
            </a:solidFill>
          </a:ln>
        </p:spPr>
      </p:sp>
      <p:sp>
        <p:nvSpPr>
          <p:cNvPr id="14" name="">
            <a:extLst xmlns:a="http://schemas.openxmlformats.org/drawingml/2006/main">
              <a:ext uri="{FF2B5EF4-FFF2-40B4-BE49-F238E27FC236}">
                <a16:creationId xmlns:a16="http://schemas.microsoft.com/office/drawing/2014/main" id="{21AD60F0-66B3-42CA-B8BD-D2D4825EA2C4}"/>
              </a:ext>
            </a:extLst>
          </p:cNvPr>
          <p:cNvSpPr>
            <a:spLocks xmlns:a="http://schemas.openxmlformats.org/drawingml/2006/main" noGrp="1"/>
          </p:cNvSpPr>
          <p:nvPr/>
        </p:nvSpPr>
        <p:spPr>
          <a:xfrm xmlns:a="http://schemas.openxmlformats.org/drawingml/2006/main">
            <a:off x="2933700" y="5305425"/>
            <a:ext cx="1847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Monthly trend</a:t>
            </a:r>
          </a:p>
        </p:txBody>
      </p:sp>
      <p:sp>
        <p:nvSpPr>
          <p:cNvPr id="15" name="">
            <a:extLst xmlns:a="http://schemas.openxmlformats.org/drawingml/2006/main">
              <a:ext uri="{FF2B5EF4-FFF2-40B4-BE49-F238E27FC236}">
                <a16:creationId xmlns:a16="http://schemas.microsoft.com/office/drawing/2014/main" id="{EFE31DD3-0681-49E7-8CB0-64C12749C625}"/>
              </a:ext>
            </a:extLst>
          </p:cNvPr>
          <p:cNvSpPr>
            <a:spLocks xmlns:a="http://schemas.openxmlformats.org/drawingml/2006/main" noGrp="1"/>
          </p:cNvSpPr>
          <p:nvPr/>
        </p:nvSpPr>
        <p:spPr>
          <a:xfrm xmlns:a="http://schemas.openxmlformats.org/drawingml/2006/main">
            <a:off x="5029200" y="5286375"/>
            <a:ext cx="20002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A6A6"/>
            </a:solidFill>
          </a:ln>
        </p:spPr>
      </p:sp>
      <p:sp>
        <p:nvSpPr>
          <p:cNvPr id="16" name="">
            <a:extLst xmlns:a="http://schemas.openxmlformats.org/drawingml/2006/main">
              <a:ext uri="{FF2B5EF4-FFF2-40B4-BE49-F238E27FC236}">
                <a16:creationId xmlns:a16="http://schemas.microsoft.com/office/drawing/2014/main" id="{F6C14509-6EF1-4398-BA09-FF8A7382BC34}"/>
              </a:ext>
            </a:extLst>
          </p:cNvPr>
          <p:cNvSpPr>
            <a:spLocks xmlns:a="http://schemas.openxmlformats.org/drawingml/2006/main" noGrp="1"/>
          </p:cNvSpPr>
          <p:nvPr/>
        </p:nvSpPr>
        <p:spPr>
          <a:xfrm xmlns:a="http://schemas.openxmlformats.org/drawingml/2006/main">
            <a:off x="5105400" y="5305425"/>
            <a:ext cx="1847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Transaction type</a:t>
            </a:r>
          </a:p>
        </p:txBody>
      </p:sp>
      <p:sp>
        <p:nvSpPr>
          <p:cNvPr id="17" name="">
            <a:extLst xmlns:a="http://schemas.openxmlformats.org/drawingml/2006/main">
              <a:ext uri="{FF2B5EF4-FFF2-40B4-BE49-F238E27FC236}">
                <a16:creationId xmlns:a16="http://schemas.microsoft.com/office/drawing/2014/main" id="{56F8A9E4-425F-4EAA-B2F1-13A9FC4006FE}"/>
              </a:ext>
            </a:extLst>
          </p:cNvPr>
          <p:cNvSpPr>
            <a:spLocks xmlns:a="http://schemas.openxmlformats.org/drawingml/2006/main" noGrp="1"/>
          </p:cNvSpPr>
          <p:nvPr/>
        </p:nvSpPr>
        <p:spPr>
          <a:xfrm xmlns:a="http://schemas.openxmlformats.org/drawingml/2006/main">
            <a:off x="7200900" y="5286375"/>
            <a:ext cx="20002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A6A6"/>
            </a:solidFill>
          </a:ln>
        </p:spPr>
      </p:sp>
      <p:sp>
        <p:nvSpPr>
          <p:cNvPr id="18" name="">
            <a:extLst xmlns:a="http://schemas.openxmlformats.org/drawingml/2006/main">
              <a:ext uri="{FF2B5EF4-FFF2-40B4-BE49-F238E27FC236}">
                <a16:creationId xmlns:a16="http://schemas.microsoft.com/office/drawing/2014/main" id="{EB33BA66-FF92-482E-AA5B-CF45300150A7}"/>
              </a:ext>
            </a:extLst>
          </p:cNvPr>
          <p:cNvSpPr>
            <a:spLocks xmlns:a="http://schemas.openxmlformats.org/drawingml/2006/main" noGrp="1"/>
          </p:cNvSpPr>
          <p:nvPr/>
        </p:nvSpPr>
        <p:spPr>
          <a:xfrm xmlns:a="http://schemas.openxmlformats.org/drawingml/2006/main">
            <a:off x="7277100" y="5305425"/>
            <a:ext cx="1847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Merchant category</a:t>
            </a:r>
          </a:p>
        </p:txBody>
      </p:sp>
      <p:sp>
        <p:nvSpPr>
          <p:cNvPr id="19" name="">
            <a:extLst xmlns:a="http://schemas.openxmlformats.org/drawingml/2006/main">
              <a:ext uri="{FF2B5EF4-FFF2-40B4-BE49-F238E27FC236}">
                <a16:creationId xmlns:a16="http://schemas.microsoft.com/office/drawing/2014/main" id="{6EDE2792-4043-441C-BE45-26BB63D23FA2}"/>
              </a:ext>
            </a:extLst>
          </p:cNvPr>
          <p:cNvSpPr>
            <a:spLocks xmlns:a="http://schemas.openxmlformats.org/drawingml/2006/main" noGrp="1"/>
          </p:cNvSpPr>
          <p:nvPr/>
        </p:nvSpPr>
        <p:spPr>
          <a:xfrm xmlns:a="http://schemas.openxmlformats.org/drawingml/2006/main">
            <a:off x="9372600" y="5286375"/>
            <a:ext cx="20002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A6A6"/>
            </a:solidFill>
          </a:ln>
        </p:spPr>
      </p:sp>
      <p:sp>
        <p:nvSpPr>
          <p:cNvPr id="20" name="">
            <a:extLst xmlns:a="http://schemas.openxmlformats.org/drawingml/2006/main">
              <a:ext uri="{FF2B5EF4-FFF2-40B4-BE49-F238E27FC236}">
                <a16:creationId xmlns:a16="http://schemas.microsoft.com/office/drawing/2014/main" id="{48CD8369-D236-4A67-8870-6D78E6B2F51C}"/>
              </a:ext>
            </a:extLst>
          </p:cNvPr>
          <p:cNvSpPr>
            <a:spLocks xmlns:a="http://schemas.openxmlformats.org/drawingml/2006/main" noGrp="1"/>
          </p:cNvSpPr>
          <p:nvPr/>
        </p:nvSpPr>
        <p:spPr>
          <a:xfrm xmlns:a="http://schemas.openxmlformats.org/drawingml/2006/main">
            <a:off x="9448800" y="5305425"/>
            <a:ext cx="1847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Sender State • Type • Month slicers</a:t>
            </a:r>
          </a:p>
        </p:txBody>
      </p:sp>
    </p:spTree>
    <p:extLst>
      <p:ext uri="{BB962C8B-B14F-4D97-AF65-F5344CB8AC3E}">
        <p14:creationId xmlns:p14="http://schemas.microsoft.com/office/powerpoint/2010/main" val="248388801"/>
      </p:ext>
    </p:extLst>
  </p:cSld>
</p:sld>
</file>

<file path=ppt/slides/slide12.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1E01CE4-7988-408C-8A34-E71505F36F3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663895-C1C3-4B1B-8DBD-ACB122350BBC}"/>
              </a:ext>
            </a:extLst>
          </p:cNvPr>
          <p:cNvSpPr>
            <a:spLocks xmlns:a="http://schemas.openxmlformats.org/drawingml/2006/main" noGrp="1"/>
          </p:cNvSpPr>
          <p:nvPr/>
        </p:nvSpPr>
        <p:spPr>
          <a:xfrm xmlns:a="http://schemas.openxmlformats.org/drawingml/2006/main">
            <a:off x="590550" y="266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04  |  DASHBOARD</a:t>
            </a:r>
          </a:p>
        </p:txBody>
      </p:sp>
      <p:sp>
        <p:nvSpPr>
          <p:cNvPr id="3" name="">
            <a:extLst xmlns:a="http://schemas.openxmlformats.org/drawingml/2006/main">
              <a:ext uri="{FF2B5EF4-FFF2-40B4-BE49-F238E27FC236}">
                <a16:creationId xmlns:a16="http://schemas.microsoft.com/office/drawing/2014/main" id="{F4ECAB87-016A-437C-8381-66806CF0EB91}"/>
              </a:ext>
            </a:extLst>
          </p:cNvPr>
          <p:cNvSpPr>
            <a:spLocks xmlns:a="http://schemas.openxmlformats.org/drawingml/2006/main" noGrp="1"/>
          </p:cNvSpPr>
          <p:nvPr/>
        </p:nvSpPr>
        <p:spPr>
          <a:xfrm xmlns:a="http://schemas.openxmlformats.org/drawingml/2006/main">
            <a:off x="590550" y="600075"/>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23B5D"/>
                </a:solidFill>
                <a:latin typeface="Aptos"/>
                <a:ea typeface="Aptos"/>
                <a:cs typeface="Aptos"/>
              </a:defRPr>
            </a:pPr>
            <a:r>
              <a:rPr sz="2550" b="1">
                <a:solidFill>
                  <a:srgbClr val="123B5D"/>
                </a:solidFill>
                <a:latin typeface="Aptos"/>
                <a:ea typeface="Aptos"/>
                <a:cs typeface="Aptos"/>
              </a:rPr>
              <a:t>Transaction overview findings</a:t>
            </a:r>
          </a:p>
        </p:txBody>
      </p:sp>
      <p:sp>
        <p:nvSpPr>
          <p:cNvPr id="4" name="">
            <a:extLst xmlns:a="http://schemas.openxmlformats.org/drawingml/2006/main">
              <a:ext uri="{FF2B5EF4-FFF2-40B4-BE49-F238E27FC236}">
                <a16:creationId xmlns:a16="http://schemas.microsoft.com/office/drawing/2014/main" id="{0900955E-4659-4F2D-8D72-8B007DA016DF}"/>
              </a:ext>
            </a:extLst>
          </p:cNvPr>
          <p:cNvSpPr>
            <a:spLocks xmlns:a="http://schemas.openxmlformats.org/drawingml/2006/main" noGrp="1"/>
          </p:cNvSpPr>
          <p:nvPr/>
        </p:nvSpPr>
        <p:spPr>
          <a:xfrm xmlns:a="http://schemas.openxmlformats.org/drawingml/2006/main">
            <a:off x="609600" y="11334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1727E"/>
                </a:solidFill>
                <a:latin typeface="Aptos"/>
                <a:ea typeface="Aptos"/>
                <a:cs typeface="Aptos"/>
              </a:defRPr>
            </a:pPr>
            <a:r>
              <a:rPr sz="1275" b="0">
                <a:solidFill>
                  <a:srgbClr val="61727E"/>
                </a:solidFill>
                <a:latin typeface="Aptos"/>
                <a:ea typeface="Aptos"/>
                <a:cs typeface="Aptos"/>
              </a:rPr>
              <a:t>Dataset-level results from the overview measures</a:t>
            </a:r>
          </a:p>
        </p:txBody>
      </p:sp>
      <p:sp>
        <p:nvSpPr>
          <p:cNvPr id="5" name="">
            <a:extLst xmlns:a="http://schemas.openxmlformats.org/drawingml/2006/main">
              <a:ext uri="{FF2B5EF4-FFF2-40B4-BE49-F238E27FC236}">
                <a16:creationId xmlns:a16="http://schemas.microsoft.com/office/drawing/2014/main" id="{685F37B3-8D08-4E4A-8C6B-ED24F3E3DBC0}"/>
              </a:ext>
            </a:extLst>
          </p:cNvPr>
          <p:cNvSpPr>
            <a:spLocks xmlns:a="http://schemas.openxmlformats.org/drawingml/2006/main" noGrp="1"/>
          </p:cNvSpPr>
          <p:nvPr/>
        </p:nvSpPr>
        <p:spPr>
          <a:xfrm xmlns:a="http://schemas.openxmlformats.org/drawingml/2006/main">
            <a:off x="590550" y="6419850"/>
            <a:ext cx="10991850" cy="9525"/>
          </a:xfrm>
          <a:prstGeom xmlns:a="http://schemas.openxmlformats.org/drawingml/2006/main" prst="rect">
            <a:avLst/>
          </a:prstGeom>
          <a:solidFill xmlns:a="http://schemas.openxmlformats.org/drawingml/2006/main">
            <a:srgbClr val="DCE5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4D038E0-7AA4-421B-81B9-7D7AD6BD7D82}"/>
              </a:ext>
            </a:extLst>
          </p:cNvPr>
          <p:cNvSpPr>
            <a:spLocks xmlns:a="http://schemas.openxmlformats.org/drawingml/2006/main" noGrp="1"/>
          </p:cNvSpPr>
          <p:nvPr/>
        </p:nvSpPr>
        <p:spPr>
          <a:xfrm xmlns:a="http://schemas.openxmlformats.org/drawingml/2006/main">
            <a:off x="59055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ANUDIP FOUNDATION  •  DATA ANALYTICS PROJECT</a:t>
            </a:r>
          </a:p>
        </p:txBody>
      </p:sp>
      <p:sp>
        <p:nvSpPr>
          <p:cNvPr id="7" name="">
            <a:extLst xmlns:a="http://schemas.openxmlformats.org/drawingml/2006/main">
              <a:ext uri="{FF2B5EF4-FFF2-40B4-BE49-F238E27FC236}">
                <a16:creationId xmlns:a16="http://schemas.microsoft.com/office/drawing/2014/main" id="{D3B0031F-56F2-4C9B-B04C-A31A000F2C95}"/>
              </a:ext>
            </a:extLst>
          </p:cNvPr>
          <p:cNvSpPr>
            <a:spLocks xmlns:a="http://schemas.openxmlformats.org/drawingml/2006/main" noGrp="1"/>
          </p:cNvSpPr>
          <p:nvPr/>
        </p:nvSpPr>
        <p:spPr>
          <a:xfrm xmlns:a="http://schemas.openxmlformats.org/drawingml/2006/main">
            <a:off x="112014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1">
                <a:solidFill>
                  <a:srgbClr val="61727E"/>
                </a:solidFill>
                <a:latin typeface="Aptos"/>
                <a:ea typeface="Aptos"/>
                <a:cs typeface="Aptos"/>
              </a:defRPr>
            </a:pPr>
            <a:r>
              <a:rPr sz="900" b="1">
                <a:solidFill>
                  <a:srgbClr val="61727E"/>
                </a:solidFill>
                <a:latin typeface="Aptos"/>
                <a:ea typeface="Aptos"/>
                <a:cs typeface="Aptos"/>
              </a:rPr>
              <a:t>12</a:t>
            </a:r>
          </a:p>
        </p:txBody>
      </p:sp>
      <p:sp>
        <p:nvSpPr>
          <p:cNvPr id="8" name="">
            <a:extLst xmlns:a="http://schemas.openxmlformats.org/drawingml/2006/main">
              <a:ext uri="{FF2B5EF4-FFF2-40B4-BE49-F238E27FC236}">
                <a16:creationId xmlns:a16="http://schemas.microsoft.com/office/drawing/2014/main" id="{BBB8A2A1-4E3D-435C-9834-F38805CB153A}"/>
              </a:ext>
            </a:extLst>
          </p:cNvPr>
          <p:cNvSpPr>
            <a:spLocks xmlns:a="http://schemas.openxmlformats.org/drawingml/2006/main" noGrp="1"/>
          </p:cNvSpPr>
          <p:nvPr/>
        </p:nvSpPr>
        <p:spPr>
          <a:xfrm xmlns:a="http://schemas.openxmlformats.org/drawingml/2006/main">
            <a:off x="685800" y="1809750"/>
            <a:ext cx="2381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9" name="">
            <a:extLst xmlns:a="http://schemas.openxmlformats.org/drawingml/2006/main">
              <a:ext uri="{FF2B5EF4-FFF2-40B4-BE49-F238E27FC236}">
                <a16:creationId xmlns:a16="http://schemas.microsoft.com/office/drawing/2014/main" id="{FD23491C-0FDE-4BA5-A24C-1403C2F9F786}"/>
              </a:ext>
            </a:extLst>
          </p:cNvPr>
          <p:cNvSpPr>
            <a:spLocks xmlns:a="http://schemas.openxmlformats.org/drawingml/2006/main" noGrp="1"/>
          </p:cNvSpPr>
          <p:nvPr/>
        </p:nvSpPr>
        <p:spPr>
          <a:xfrm xmlns:a="http://schemas.openxmlformats.org/drawingml/2006/main">
            <a:off x="685800" y="1809750"/>
            <a:ext cx="47625" cy="1028700"/>
          </a:xfrm>
          <a:prstGeom xmlns:a="http://schemas.openxmlformats.org/drawingml/2006/main" prst="rect">
            <a:avLst/>
          </a:prstGeom>
          <a:solidFill xmlns:a="http://schemas.openxmlformats.org/drawingml/2006/main">
            <a:srgbClr val="123B5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C4DACD4-E985-4851-8D4E-2C436C499BD7}"/>
              </a:ext>
            </a:extLst>
          </p:cNvPr>
          <p:cNvSpPr>
            <a:spLocks xmlns:a="http://schemas.openxmlformats.org/drawingml/2006/main" noGrp="1"/>
          </p:cNvSpPr>
          <p:nvPr/>
        </p:nvSpPr>
        <p:spPr>
          <a:xfrm xmlns:a="http://schemas.openxmlformats.org/drawingml/2006/main">
            <a:off x="876300" y="1943100"/>
            <a:ext cx="2019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123B5D"/>
                </a:solidFill>
                <a:latin typeface="Aptos"/>
                <a:ea typeface="Aptos"/>
                <a:cs typeface="Aptos"/>
              </a:defRPr>
            </a:pPr>
            <a:r>
              <a:rPr sz="2175" b="1">
                <a:solidFill>
                  <a:srgbClr val="123B5D"/>
                </a:solidFill>
                <a:latin typeface="Aptos"/>
                <a:ea typeface="Aptos"/>
                <a:cs typeface="Aptos"/>
              </a:rPr>
              <a:t>250,000</a:t>
            </a:r>
          </a:p>
        </p:txBody>
      </p:sp>
      <p:sp>
        <p:nvSpPr>
          <p:cNvPr id="11" name="">
            <a:extLst xmlns:a="http://schemas.openxmlformats.org/drawingml/2006/main">
              <a:ext uri="{FF2B5EF4-FFF2-40B4-BE49-F238E27FC236}">
                <a16:creationId xmlns:a16="http://schemas.microsoft.com/office/drawing/2014/main" id="{BD7BC750-4C17-409C-9F49-1CF62C012E02}"/>
              </a:ext>
            </a:extLst>
          </p:cNvPr>
          <p:cNvSpPr>
            <a:spLocks xmlns:a="http://schemas.openxmlformats.org/drawingml/2006/main" noGrp="1"/>
          </p:cNvSpPr>
          <p:nvPr/>
        </p:nvSpPr>
        <p:spPr>
          <a:xfrm xmlns:a="http://schemas.openxmlformats.org/drawingml/2006/main">
            <a:off x="876300" y="2362200"/>
            <a:ext cx="2019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total transactions</a:t>
            </a:r>
          </a:p>
        </p:txBody>
      </p:sp>
      <p:sp>
        <p:nvSpPr>
          <p:cNvPr id="12" name="">
            <a:extLst xmlns:a="http://schemas.openxmlformats.org/drawingml/2006/main">
              <a:ext uri="{FF2B5EF4-FFF2-40B4-BE49-F238E27FC236}">
                <a16:creationId xmlns:a16="http://schemas.microsoft.com/office/drawing/2014/main" id="{6A281015-53BF-4C46-B953-21075ED08294}"/>
              </a:ext>
            </a:extLst>
          </p:cNvPr>
          <p:cNvSpPr>
            <a:spLocks xmlns:a="http://schemas.openxmlformats.org/drawingml/2006/main" noGrp="1"/>
          </p:cNvSpPr>
          <p:nvPr/>
        </p:nvSpPr>
        <p:spPr>
          <a:xfrm xmlns:a="http://schemas.openxmlformats.org/drawingml/2006/main">
            <a:off x="3371850" y="1809750"/>
            <a:ext cx="2381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13" name="">
            <a:extLst xmlns:a="http://schemas.openxmlformats.org/drawingml/2006/main">
              <a:ext uri="{FF2B5EF4-FFF2-40B4-BE49-F238E27FC236}">
                <a16:creationId xmlns:a16="http://schemas.microsoft.com/office/drawing/2014/main" id="{26375B31-9F92-4EF2-9614-D6FD92A0E91F}"/>
              </a:ext>
            </a:extLst>
          </p:cNvPr>
          <p:cNvSpPr>
            <a:spLocks xmlns:a="http://schemas.openxmlformats.org/drawingml/2006/main" noGrp="1"/>
          </p:cNvSpPr>
          <p:nvPr/>
        </p:nvSpPr>
        <p:spPr>
          <a:xfrm xmlns:a="http://schemas.openxmlformats.org/drawingml/2006/main">
            <a:off x="3371850" y="1809750"/>
            <a:ext cx="47625" cy="10287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D860E77-78FC-43DE-B0F1-B198621832D5}"/>
              </a:ext>
            </a:extLst>
          </p:cNvPr>
          <p:cNvSpPr>
            <a:spLocks xmlns:a="http://schemas.openxmlformats.org/drawingml/2006/main" noGrp="1"/>
          </p:cNvSpPr>
          <p:nvPr/>
        </p:nvSpPr>
        <p:spPr>
          <a:xfrm xmlns:a="http://schemas.openxmlformats.org/drawingml/2006/main">
            <a:off x="3562350" y="1943100"/>
            <a:ext cx="2019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00A6A6"/>
                </a:solidFill>
                <a:latin typeface="Aptos"/>
                <a:ea typeface="Aptos"/>
                <a:cs typeface="Aptos"/>
              </a:defRPr>
            </a:pPr>
            <a:r>
              <a:rPr sz="2175" b="1">
                <a:solidFill>
                  <a:srgbClr val="00A6A6"/>
                </a:solidFill>
                <a:latin typeface="Aptos"/>
                <a:ea typeface="Aptos"/>
                <a:cs typeface="Aptos"/>
              </a:rPr>
              <a:t>INR 81.98T</a:t>
            </a:r>
          </a:p>
        </p:txBody>
      </p:sp>
      <p:sp>
        <p:nvSpPr>
          <p:cNvPr id="15" name="">
            <a:extLst xmlns:a="http://schemas.openxmlformats.org/drawingml/2006/main">
              <a:ext uri="{FF2B5EF4-FFF2-40B4-BE49-F238E27FC236}">
                <a16:creationId xmlns:a16="http://schemas.microsoft.com/office/drawing/2014/main" id="{60D1E427-DDDD-4C25-99EA-7572BBDE053F}"/>
              </a:ext>
            </a:extLst>
          </p:cNvPr>
          <p:cNvSpPr>
            <a:spLocks xmlns:a="http://schemas.openxmlformats.org/drawingml/2006/main" noGrp="1"/>
          </p:cNvSpPr>
          <p:nvPr/>
        </p:nvSpPr>
        <p:spPr>
          <a:xfrm xmlns:a="http://schemas.openxmlformats.org/drawingml/2006/main">
            <a:off x="3562350" y="2362200"/>
            <a:ext cx="2019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transaction value</a:t>
            </a:r>
          </a:p>
        </p:txBody>
      </p:sp>
      <p:sp>
        <p:nvSpPr>
          <p:cNvPr id="16" name="">
            <a:extLst xmlns:a="http://schemas.openxmlformats.org/drawingml/2006/main">
              <a:ext uri="{FF2B5EF4-FFF2-40B4-BE49-F238E27FC236}">
                <a16:creationId xmlns:a16="http://schemas.microsoft.com/office/drawing/2014/main" id="{6D91A1DA-4126-4EE5-B66D-EFB5A89CBC40}"/>
              </a:ext>
            </a:extLst>
          </p:cNvPr>
          <p:cNvSpPr>
            <a:spLocks xmlns:a="http://schemas.openxmlformats.org/drawingml/2006/main" noGrp="1"/>
          </p:cNvSpPr>
          <p:nvPr/>
        </p:nvSpPr>
        <p:spPr>
          <a:xfrm xmlns:a="http://schemas.openxmlformats.org/drawingml/2006/main">
            <a:off x="3562350" y="2609850"/>
            <a:ext cx="2019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approximately</a:t>
            </a:r>
          </a:p>
        </p:txBody>
      </p:sp>
      <p:sp>
        <p:nvSpPr>
          <p:cNvPr id="17" name="">
            <a:extLst xmlns:a="http://schemas.openxmlformats.org/drawingml/2006/main">
              <a:ext uri="{FF2B5EF4-FFF2-40B4-BE49-F238E27FC236}">
                <a16:creationId xmlns:a16="http://schemas.microsoft.com/office/drawing/2014/main" id="{EA0B1FCA-26A7-44F7-BFFE-6BD3F406C08D}"/>
              </a:ext>
            </a:extLst>
          </p:cNvPr>
          <p:cNvSpPr>
            <a:spLocks xmlns:a="http://schemas.openxmlformats.org/drawingml/2006/main" noGrp="1"/>
          </p:cNvSpPr>
          <p:nvPr/>
        </p:nvSpPr>
        <p:spPr>
          <a:xfrm xmlns:a="http://schemas.openxmlformats.org/drawingml/2006/main">
            <a:off x="6057900" y="1809750"/>
            <a:ext cx="2381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18" name="">
            <a:extLst xmlns:a="http://schemas.openxmlformats.org/drawingml/2006/main">
              <a:ext uri="{FF2B5EF4-FFF2-40B4-BE49-F238E27FC236}">
                <a16:creationId xmlns:a16="http://schemas.microsoft.com/office/drawing/2014/main" id="{6D690F5B-30BC-4961-AC7E-14AAA572056D}"/>
              </a:ext>
            </a:extLst>
          </p:cNvPr>
          <p:cNvSpPr>
            <a:spLocks xmlns:a="http://schemas.openxmlformats.org/drawingml/2006/main" noGrp="1"/>
          </p:cNvSpPr>
          <p:nvPr/>
        </p:nvSpPr>
        <p:spPr>
          <a:xfrm xmlns:a="http://schemas.openxmlformats.org/drawingml/2006/main">
            <a:off x="6057900" y="1809750"/>
            <a:ext cx="47625" cy="1028700"/>
          </a:xfrm>
          <a:prstGeom xmlns:a="http://schemas.openxmlformats.org/drawingml/2006/main" prst="rect">
            <a:avLst/>
          </a:prstGeom>
          <a:solidFill xmlns:a="http://schemas.openxmlformats.org/drawingml/2006/main">
            <a:srgbClr val="123B5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C89F585-7D1B-4762-8F4B-15CEE6527D14}"/>
              </a:ext>
            </a:extLst>
          </p:cNvPr>
          <p:cNvSpPr>
            <a:spLocks xmlns:a="http://schemas.openxmlformats.org/drawingml/2006/main" noGrp="1"/>
          </p:cNvSpPr>
          <p:nvPr/>
        </p:nvSpPr>
        <p:spPr>
          <a:xfrm xmlns:a="http://schemas.openxmlformats.org/drawingml/2006/main">
            <a:off x="6248400" y="1943100"/>
            <a:ext cx="2019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123B5D"/>
                </a:solidFill>
                <a:latin typeface="Aptos"/>
                <a:ea typeface="Aptos"/>
                <a:cs typeface="Aptos"/>
              </a:defRPr>
            </a:pPr>
            <a:r>
              <a:rPr sz="2175" b="1">
                <a:solidFill>
                  <a:srgbClr val="123B5D"/>
                </a:solidFill>
                <a:latin typeface="Aptos"/>
                <a:ea typeface="Aptos"/>
                <a:cs typeface="Aptos"/>
              </a:rPr>
              <a:t>INR 1,311.76</a:t>
            </a:r>
          </a:p>
        </p:txBody>
      </p:sp>
      <p:sp>
        <p:nvSpPr>
          <p:cNvPr id="20" name="">
            <a:extLst xmlns:a="http://schemas.openxmlformats.org/drawingml/2006/main">
              <a:ext uri="{FF2B5EF4-FFF2-40B4-BE49-F238E27FC236}">
                <a16:creationId xmlns:a16="http://schemas.microsoft.com/office/drawing/2014/main" id="{56B0B0C0-263C-46A6-B2F7-DC0BCFFD66E8}"/>
              </a:ext>
            </a:extLst>
          </p:cNvPr>
          <p:cNvSpPr>
            <a:spLocks xmlns:a="http://schemas.openxmlformats.org/drawingml/2006/main" noGrp="1"/>
          </p:cNvSpPr>
          <p:nvPr/>
        </p:nvSpPr>
        <p:spPr>
          <a:xfrm xmlns:a="http://schemas.openxmlformats.org/drawingml/2006/main">
            <a:off x="6248400" y="2362200"/>
            <a:ext cx="2019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average value</a:t>
            </a:r>
          </a:p>
        </p:txBody>
      </p:sp>
      <p:sp>
        <p:nvSpPr>
          <p:cNvPr id="21" name="">
            <a:extLst xmlns:a="http://schemas.openxmlformats.org/drawingml/2006/main">
              <a:ext uri="{FF2B5EF4-FFF2-40B4-BE49-F238E27FC236}">
                <a16:creationId xmlns:a16="http://schemas.microsoft.com/office/drawing/2014/main" id="{5D7E2163-3D66-4A1D-99CD-A3C81CE645B3}"/>
              </a:ext>
            </a:extLst>
          </p:cNvPr>
          <p:cNvSpPr>
            <a:spLocks xmlns:a="http://schemas.openxmlformats.org/drawingml/2006/main" noGrp="1"/>
          </p:cNvSpPr>
          <p:nvPr/>
        </p:nvSpPr>
        <p:spPr>
          <a:xfrm xmlns:a="http://schemas.openxmlformats.org/drawingml/2006/main">
            <a:off x="6248400" y="2609850"/>
            <a:ext cx="2019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approximately</a:t>
            </a:r>
          </a:p>
        </p:txBody>
      </p:sp>
      <p:sp>
        <p:nvSpPr>
          <p:cNvPr id="22" name="">
            <a:extLst xmlns:a="http://schemas.openxmlformats.org/drawingml/2006/main">
              <a:ext uri="{FF2B5EF4-FFF2-40B4-BE49-F238E27FC236}">
                <a16:creationId xmlns:a16="http://schemas.microsoft.com/office/drawing/2014/main" id="{F2F43B1E-DBA2-4518-A263-9D8609C1A874}"/>
              </a:ext>
            </a:extLst>
          </p:cNvPr>
          <p:cNvSpPr>
            <a:spLocks xmlns:a="http://schemas.openxmlformats.org/drawingml/2006/main" noGrp="1"/>
          </p:cNvSpPr>
          <p:nvPr/>
        </p:nvSpPr>
        <p:spPr>
          <a:xfrm xmlns:a="http://schemas.openxmlformats.org/drawingml/2006/main">
            <a:off x="8743950" y="1809750"/>
            <a:ext cx="2381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23" name="">
            <a:extLst xmlns:a="http://schemas.openxmlformats.org/drawingml/2006/main">
              <a:ext uri="{FF2B5EF4-FFF2-40B4-BE49-F238E27FC236}">
                <a16:creationId xmlns:a16="http://schemas.microsoft.com/office/drawing/2014/main" id="{D9B64E33-835A-43A6-B3CE-7A059F0DC6FB}"/>
              </a:ext>
            </a:extLst>
          </p:cNvPr>
          <p:cNvSpPr>
            <a:spLocks xmlns:a="http://schemas.openxmlformats.org/drawingml/2006/main" noGrp="1"/>
          </p:cNvSpPr>
          <p:nvPr/>
        </p:nvSpPr>
        <p:spPr>
          <a:xfrm xmlns:a="http://schemas.openxmlformats.org/drawingml/2006/main">
            <a:off x="8743950" y="1809750"/>
            <a:ext cx="47625" cy="1028700"/>
          </a:xfrm>
          <a:prstGeom xmlns:a="http://schemas.openxmlformats.org/drawingml/2006/main" prst="rect">
            <a:avLst/>
          </a:prstGeom>
          <a:solidFill xmlns:a="http://schemas.openxmlformats.org/drawingml/2006/main">
            <a:srgbClr val="2E8B5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603D97A-AFD7-4C6E-A943-EEC7C6370D7D}"/>
              </a:ext>
            </a:extLst>
          </p:cNvPr>
          <p:cNvSpPr>
            <a:spLocks xmlns:a="http://schemas.openxmlformats.org/drawingml/2006/main" noGrp="1"/>
          </p:cNvSpPr>
          <p:nvPr/>
        </p:nvSpPr>
        <p:spPr>
          <a:xfrm xmlns:a="http://schemas.openxmlformats.org/drawingml/2006/main">
            <a:off x="8934450" y="1943100"/>
            <a:ext cx="2019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2E8B57"/>
                </a:solidFill>
                <a:latin typeface="Aptos"/>
                <a:ea typeface="Aptos"/>
                <a:cs typeface="Aptos"/>
              </a:defRPr>
            </a:pPr>
            <a:r>
              <a:rPr sz="2175" b="1">
                <a:solidFill>
                  <a:srgbClr val="2E8B57"/>
                </a:solidFill>
                <a:latin typeface="Aptos"/>
                <a:ea typeface="Aptos"/>
                <a:cs typeface="Aptos"/>
              </a:rPr>
              <a:t>95.0%</a:t>
            </a:r>
          </a:p>
        </p:txBody>
      </p:sp>
      <p:sp>
        <p:nvSpPr>
          <p:cNvPr id="25" name="">
            <a:extLst xmlns:a="http://schemas.openxmlformats.org/drawingml/2006/main">
              <a:ext uri="{FF2B5EF4-FFF2-40B4-BE49-F238E27FC236}">
                <a16:creationId xmlns:a16="http://schemas.microsoft.com/office/drawing/2014/main" id="{515E1491-1ADD-40AE-842D-3AD8D6E52B9D}"/>
              </a:ext>
            </a:extLst>
          </p:cNvPr>
          <p:cNvSpPr>
            <a:spLocks xmlns:a="http://schemas.openxmlformats.org/drawingml/2006/main" noGrp="1"/>
          </p:cNvSpPr>
          <p:nvPr/>
        </p:nvSpPr>
        <p:spPr>
          <a:xfrm xmlns:a="http://schemas.openxmlformats.org/drawingml/2006/main">
            <a:off x="8934450" y="2362200"/>
            <a:ext cx="2019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success rate</a:t>
            </a:r>
          </a:p>
        </p:txBody>
      </p:sp>
      <p:sp>
        <p:nvSpPr>
          <p:cNvPr id="26" name="">
            <a:extLst xmlns:a="http://schemas.openxmlformats.org/drawingml/2006/main">
              <a:ext uri="{FF2B5EF4-FFF2-40B4-BE49-F238E27FC236}">
                <a16:creationId xmlns:a16="http://schemas.microsoft.com/office/drawing/2014/main" id="{FBD19343-32C4-4207-9679-65F9EB819DD2}"/>
              </a:ext>
            </a:extLst>
          </p:cNvPr>
          <p:cNvSpPr>
            <a:spLocks xmlns:a="http://schemas.openxmlformats.org/drawingml/2006/main" noGrp="1"/>
          </p:cNvSpPr>
          <p:nvPr/>
        </p:nvSpPr>
        <p:spPr>
          <a:xfrm xmlns:a="http://schemas.openxmlformats.org/drawingml/2006/main">
            <a:off x="685800" y="3581400"/>
            <a:ext cx="10439400" cy="1123950"/>
          </a:xfrm>
          <a:prstGeom xmlns:a="http://schemas.openxmlformats.org/drawingml/2006/main" prst="roundRect">
            <a:avLst>
              <a:gd name="adj" fmla="val 6780"/>
            </a:avLst>
          </a:prstGeom>
          <a:solidFill xmlns:a="http://schemas.openxmlformats.org/drawingml/2006/main">
            <a:srgbClr val="EAF2F6"/>
          </a:solidFill>
          <a:ln xmlns:a="http://schemas.openxmlformats.org/drawingml/2006/main" w="9525">
            <a:solidFill>
              <a:srgbClr val="DCE5EA"/>
            </a:solidFill>
          </a:ln>
        </p:spPr>
      </p:sp>
      <p:sp>
        <p:nvSpPr>
          <p:cNvPr id="27" name="">
            <a:extLst xmlns:a="http://schemas.openxmlformats.org/drawingml/2006/main">
              <a:ext uri="{FF2B5EF4-FFF2-40B4-BE49-F238E27FC236}">
                <a16:creationId xmlns:a16="http://schemas.microsoft.com/office/drawing/2014/main" id="{4C8E8500-62D9-4144-90B1-47B0541F1A4B}"/>
              </a:ext>
            </a:extLst>
          </p:cNvPr>
          <p:cNvSpPr>
            <a:spLocks xmlns:a="http://schemas.openxmlformats.org/drawingml/2006/main" noGrp="1"/>
          </p:cNvSpPr>
          <p:nvPr/>
        </p:nvSpPr>
        <p:spPr>
          <a:xfrm xmlns:a="http://schemas.openxmlformats.org/drawingml/2006/main">
            <a:off x="933450" y="373380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defRPr sz="1350" b="1">
                <a:solidFill>
                  <a:srgbClr val="123B5D"/>
                </a:solidFill>
                <a:latin typeface="Aptos"/>
                <a:ea typeface="Aptos"/>
                <a:cs typeface="Aptos"/>
              </a:defRPr>
            </a:pPr>
            <a:r>
              <a:rPr sz="1350" b="1">
                <a:solidFill>
                  <a:srgbClr val="123B5D"/>
                </a:solidFill>
                <a:latin typeface="Aptos"/>
                <a:ea typeface="Aptos"/>
                <a:cs typeface="Aptos"/>
              </a:rPr>
              <a:t>Transaction outcomes</a:t>
            </a:r>
          </a:p>
        </p:txBody>
      </p:sp>
      <p:sp>
        <p:nvSpPr>
          <p:cNvPr id="28" name="">
            <a:extLst xmlns:a="http://schemas.openxmlformats.org/drawingml/2006/main">
              <a:ext uri="{FF2B5EF4-FFF2-40B4-BE49-F238E27FC236}">
                <a16:creationId xmlns:a16="http://schemas.microsoft.com/office/drawing/2014/main" id="{5C091BDE-6E1E-4781-98BB-8C40B1D55BEB}"/>
              </a:ext>
            </a:extLst>
          </p:cNvPr>
          <p:cNvSpPr>
            <a:spLocks xmlns:a="http://schemas.openxmlformats.org/drawingml/2006/main" noGrp="1"/>
          </p:cNvSpPr>
          <p:nvPr/>
        </p:nvSpPr>
        <p:spPr>
          <a:xfrm xmlns:a="http://schemas.openxmlformats.org/drawingml/2006/main">
            <a:off x="933450" y="411480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667"/>
          </a:bodyPr>
          <a:lstStyle xmlns:a="http://schemas.openxmlformats.org/drawingml/2006/main"/>
          <a:p xmlns:a="http://schemas.openxmlformats.org/drawingml/2006/main">
            <a:pPr>
              <a:defRPr sz="1875" b="1">
                <a:solidFill>
                  <a:srgbClr val="263238"/>
                </a:solidFill>
                <a:latin typeface="Aptos"/>
                <a:ea typeface="Aptos"/>
                <a:cs typeface="Aptos"/>
              </a:defRPr>
            </a:pPr>
            <a:r>
              <a:rPr sz="1875" b="1">
                <a:solidFill>
                  <a:srgbClr val="263238"/>
                </a:solidFill>
                <a:latin typeface="Aptos"/>
                <a:ea typeface="Aptos"/>
                <a:cs typeface="Aptos"/>
              </a:rPr>
              <a:t>237,624 successful  •  12,376 failed</a:t>
            </a:r>
          </a:p>
        </p:txBody>
      </p:sp>
      <p:sp>
        <p:nvSpPr>
          <p:cNvPr id="29" name="">
            <a:extLst xmlns:a="http://schemas.openxmlformats.org/drawingml/2006/main">
              <a:ext uri="{FF2B5EF4-FFF2-40B4-BE49-F238E27FC236}">
                <a16:creationId xmlns:a16="http://schemas.microsoft.com/office/drawing/2014/main" id="{53BD2809-44BD-4A24-9B15-4ADBABA90ACB}"/>
              </a:ext>
            </a:extLst>
          </p:cNvPr>
          <p:cNvSpPr>
            <a:spLocks xmlns:a="http://schemas.openxmlformats.org/drawingml/2006/main" noGrp="1"/>
          </p:cNvSpPr>
          <p:nvPr/>
        </p:nvSpPr>
        <p:spPr>
          <a:xfrm xmlns:a="http://schemas.openxmlformats.org/drawingml/2006/main">
            <a:off x="704850" y="520065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61727E"/>
                </a:solidFill>
                <a:latin typeface="Aptos"/>
                <a:ea typeface="Aptos"/>
                <a:cs typeface="Aptos"/>
              </a:defRPr>
            </a:pPr>
            <a:r>
              <a:rPr sz="1200" b="0">
                <a:solidFill>
                  <a:srgbClr val="61727E"/>
                </a:solidFill>
                <a:latin typeface="Aptos"/>
                <a:ea typeface="Aptos"/>
                <a:cs typeface="Aptos"/>
              </a:rPr>
              <a:t>All figures describe this project dataset; they are not nationwide UPI statistics.</a:t>
            </a:r>
          </a:p>
        </p:txBody>
      </p:sp>
    </p:spTree>
    <p:extLst>
      <p:ext uri="{BB962C8B-B14F-4D97-AF65-F5344CB8AC3E}">
        <p14:creationId xmlns:p14="http://schemas.microsoft.com/office/powerpoint/2010/main" val="193313012"/>
      </p:ext>
    </p:extLst>
  </p:cSld>
</p:sld>
</file>

<file path=ppt/slides/slide13.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B927E1A-ED80-4AC0-8B56-BE5C4C44470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B662FF-BC33-47C7-8D0B-1E47DCC67B7F}"/>
              </a:ext>
            </a:extLst>
          </p:cNvPr>
          <p:cNvSpPr>
            <a:spLocks xmlns:a="http://schemas.openxmlformats.org/drawingml/2006/main" noGrp="1"/>
          </p:cNvSpPr>
          <p:nvPr/>
        </p:nvSpPr>
        <p:spPr>
          <a:xfrm xmlns:a="http://schemas.openxmlformats.org/drawingml/2006/main">
            <a:off x="590550" y="266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04  |  DASHBOARD</a:t>
            </a:r>
          </a:p>
        </p:txBody>
      </p:sp>
      <p:sp>
        <p:nvSpPr>
          <p:cNvPr id="3" name="">
            <a:extLst xmlns:a="http://schemas.openxmlformats.org/drawingml/2006/main">
              <a:ext uri="{FF2B5EF4-FFF2-40B4-BE49-F238E27FC236}">
                <a16:creationId xmlns:a16="http://schemas.microsoft.com/office/drawing/2014/main" id="{18800D42-0627-4F7F-BFAC-97E859B0853D}"/>
              </a:ext>
            </a:extLst>
          </p:cNvPr>
          <p:cNvSpPr>
            <a:spLocks xmlns:a="http://schemas.openxmlformats.org/drawingml/2006/main" noGrp="1"/>
          </p:cNvSpPr>
          <p:nvPr/>
        </p:nvSpPr>
        <p:spPr>
          <a:xfrm xmlns:a="http://schemas.openxmlformats.org/drawingml/2006/main">
            <a:off x="590550" y="600075"/>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23B5D"/>
                </a:solidFill>
                <a:latin typeface="Aptos"/>
                <a:ea typeface="Aptos"/>
                <a:cs typeface="Aptos"/>
              </a:defRPr>
            </a:pPr>
            <a:r>
              <a:rPr sz="2550" b="1">
                <a:solidFill>
                  <a:srgbClr val="123B5D"/>
                </a:solidFill>
                <a:latin typeface="Aptos"/>
                <a:ea typeface="Aptos"/>
                <a:cs typeface="Aptos"/>
              </a:rPr>
              <a:t>Fraud &amp; Risk Analysis</a:t>
            </a:r>
          </a:p>
        </p:txBody>
      </p:sp>
      <p:sp>
        <p:nvSpPr>
          <p:cNvPr id="4" name="">
            <a:extLst xmlns:a="http://schemas.openxmlformats.org/drawingml/2006/main">
              <a:ext uri="{FF2B5EF4-FFF2-40B4-BE49-F238E27FC236}">
                <a16:creationId xmlns:a16="http://schemas.microsoft.com/office/drawing/2014/main" id="{A50DC0E5-CEF4-468F-8C19-B2AA20536471}"/>
              </a:ext>
            </a:extLst>
          </p:cNvPr>
          <p:cNvSpPr>
            <a:spLocks xmlns:a="http://schemas.openxmlformats.org/drawingml/2006/main" noGrp="1"/>
          </p:cNvSpPr>
          <p:nvPr/>
        </p:nvSpPr>
        <p:spPr>
          <a:xfrm xmlns:a="http://schemas.openxmlformats.org/drawingml/2006/main">
            <a:off x="609600" y="11334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1727E"/>
                </a:solidFill>
                <a:latin typeface="Aptos"/>
                <a:ea typeface="Aptos"/>
                <a:cs typeface="Aptos"/>
              </a:defRPr>
            </a:pPr>
            <a:r>
              <a:rPr sz="1275" b="0">
                <a:solidFill>
                  <a:srgbClr val="61727E"/>
                </a:solidFill>
                <a:latin typeface="Aptos"/>
                <a:ea typeface="Aptos"/>
                <a:cs typeface="Aptos"/>
              </a:rPr>
              <a:t>Power BI page 2 • where flagged records are concentrated</a:t>
            </a:r>
          </a:p>
        </p:txBody>
      </p:sp>
      <p:sp>
        <p:nvSpPr>
          <p:cNvPr id="5" name="">
            <a:extLst xmlns:a="http://schemas.openxmlformats.org/drawingml/2006/main">
              <a:ext uri="{FF2B5EF4-FFF2-40B4-BE49-F238E27FC236}">
                <a16:creationId xmlns:a16="http://schemas.microsoft.com/office/drawing/2014/main" id="{62B2A838-1202-4519-8C06-090C0C12D20D}"/>
              </a:ext>
            </a:extLst>
          </p:cNvPr>
          <p:cNvSpPr>
            <a:spLocks xmlns:a="http://schemas.openxmlformats.org/drawingml/2006/main" noGrp="1"/>
          </p:cNvSpPr>
          <p:nvPr/>
        </p:nvSpPr>
        <p:spPr>
          <a:xfrm xmlns:a="http://schemas.openxmlformats.org/drawingml/2006/main">
            <a:off x="590550" y="6419850"/>
            <a:ext cx="10991850" cy="9525"/>
          </a:xfrm>
          <a:prstGeom xmlns:a="http://schemas.openxmlformats.org/drawingml/2006/main" prst="rect">
            <a:avLst/>
          </a:prstGeom>
          <a:solidFill xmlns:a="http://schemas.openxmlformats.org/drawingml/2006/main">
            <a:srgbClr val="DCE5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87DD4F6-00C4-43CE-A6EF-D016BF64EC4E}"/>
              </a:ext>
            </a:extLst>
          </p:cNvPr>
          <p:cNvSpPr>
            <a:spLocks xmlns:a="http://schemas.openxmlformats.org/drawingml/2006/main" noGrp="1"/>
          </p:cNvSpPr>
          <p:nvPr/>
        </p:nvSpPr>
        <p:spPr>
          <a:xfrm xmlns:a="http://schemas.openxmlformats.org/drawingml/2006/main">
            <a:off x="59055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ANUDIP FOUNDATION  •  DATA ANALYTICS PROJECT</a:t>
            </a:r>
          </a:p>
        </p:txBody>
      </p:sp>
      <p:sp>
        <p:nvSpPr>
          <p:cNvPr id="7" name="">
            <a:extLst xmlns:a="http://schemas.openxmlformats.org/drawingml/2006/main">
              <a:ext uri="{FF2B5EF4-FFF2-40B4-BE49-F238E27FC236}">
                <a16:creationId xmlns:a16="http://schemas.microsoft.com/office/drawing/2014/main" id="{4B2596F3-9924-42D7-AD90-D8CFC8308FFC}"/>
              </a:ext>
            </a:extLst>
          </p:cNvPr>
          <p:cNvSpPr>
            <a:spLocks xmlns:a="http://schemas.openxmlformats.org/drawingml/2006/main" noGrp="1"/>
          </p:cNvSpPr>
          <p:nvPr/>
        </p:nvSpPr>
        <p:spPr>
          <a:xfrm xmlns:a="http://schemas.openxmlformats.org/drawingml/2006/main">
            <a:off x="112014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1">
                <a:solidFill>
                  <a:srgbClr val="61727E"/>
                </a:solidFill>
                <a:latin typeface="Aptos"/>
                <a:ea typeface="Aptos"/>
                <a:cs typeface="Aptos"/>
              </a:defRPr>
            </a:pPr>
            <a:r>
              <a:rPr sz="900" b="1">
                <a:solidFill>
                  <a:srgbClr val="61727E"/>
                </a:solidFill>
                <a:latin typeface="Aptos"/>
                <a:ea typeface="Aptos"/>
                <a:cs typeface="Aptos"/>
              </a:rPr>
              <a:t>13</a:t>
            </a:r>
          </a:p>
        </p:txBody>
      </p:sp>
      <p:sp>
        <p:nvSpPr>
          <p:cNvPr id="8" name="">
            <a:extLst xmlns:a="http://schemas.openxmlformats.org/drawingml/2006/main">
              <a:ext uri="{FF2B5EF4-FFF2-40B4-BE49-F238E27FC236}">
                <a16:creationId xmlns:a16="http://schemas.microsoft.com/office/drawing/2014/main" id="{15A95F80-3D69-4996-A644-C8D180F8E11B}"/>
              </a:ext>
            </a:extLst>
          </p:cNvPr>
          <p:cNvSpPr>
            <a:spLocks xmlns:a="http://schemas.openxmlformats.org/drawingml/2006/main" noGrp="1"/>
          </p:cNvSpPr>
          <p:nvPr/>
        </p:nvSpPr>
        <p:spPr>
          <a:xfrm xmlns:a="http://schemas.openxmlformats.org/drawingml/2006/main">
            <a:off x="685800" y="1600200"/>
            <a:ext cx="10820400" cy="337185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19050">
            <a:solidFill>
              <a:srgbClr val="D64545"/>
            </a:solidFill>
          </a:ln>
        </p:spPr>
      </p:sp>
      <p:sp>
        <p:nvSpPr>
          <p:cNvPr id="9" name="">
            <a:extLst xmlns:a="http://schemas.openxmlformats.org/drawingml/2006/main">
              <a:ext uri="{FF2B5EF4-FFF2-40B4-BE49-F238E27FC236}">
                <a16:creationId xmlns:a16="http://schemas.microsoft.com/office/drawing/2014/main" id="{4D19A16D-1F71-49F3-8D19-6E17132F8C42}"/>
              </a:ext>
            </a:extLst>
          </p:cNvPr>
          <p:cNvSpPr>
            <a:spLocks xmlns:a="http://schemas.openxmlformats.org/drawingml/2006/main" noGrp="1"/>
          </p:cNvSpPr>
          <p:nvPr/>
        </p:nvSpPr>
        <p:spPr>
          <a:xfrm xmlns:a="http://schemas.openxmlformats.org/drawingml/2006/main">
            <a:off x="1047750" y="2857500"/>
            <a:ext cx="1009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61727E"/>
                </a:solidFill>
                <a:latin typeface="Aptos"/>
                <a:ea typeface="Aptos"/>
                <a:cs typeface="Aptos"/>
              </a:defRPr>
            </a:pPr>
            <a:r>
              <a:rPr sz="1950" b="1">
                <a:solidFill>
                  <a:srgbClr val="61727E"/>
                </a:solidFill>
                <a:latin typeface="Aptos"/>
                <a:ea typeface="Aptos"/>
                <a:cs typeface="Aptos"/>
              </a:rPr>
              <a:t>[ INSERT PAGE 2 POWER BI SCREENSHOT HERE ]</a:t>
            </a:r>
          </a:p>
        </p:txBody>
      </p:sp>
      <p:sp>
        <p:nvSpPr>
          <p:cNvPr id="10" name="">
            <a:extLst xmlns:a="http://schemas.openxmlformats.org/drawingml/2006/main">
              <a:ext uri="{FF2B5EF4-FFF2-40B4-BE49-F238E27FC236}">
                <a16:creationId xmlns:a16="http://schemas.microsoft.com/office/drawing/2014/main" id="{6DDF8C13-A32E-44C7-8DA0-88C372408D50}"/>
              </a:ext>
            </a:extLst>
          </p:cNvPr>
          <p:cNvSpPr>
            <a:spLocks xmlns:a="http://schemas.openxmlformats.org/drawingml/2006/main" noGrp="1"/>
          </p:cNvSpPr>
          <p:nvPr/>
        </p:nvSpPr>
        <p:spPr>
          <a:xfrm xmlns:a="http://schemas.openxmlformats.org/drawingml/2006/main">
            <a:off x="1047750" y="3400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61727E"/>
                </a:solidFill>
                <a:latin typeface="Aptos"/>
                <a:ea typeface="Aptos"/>
                <a:cs typeface="Aptos"/>
              </a:defRPr>
            </a:pPr>
            <a:r>
              <a:rPr sz="1125" b="0">
                <a:solidFill>
                  <a:srgbClr val="61727E"/>
                </a:solidFill>
                <a:latin typeface="Aptos"/>
                <a:ea typeface="Aptos"/>
                <a:cs typeface="Aptos"/>
              </a:rPr>
              <a:t>Screenshot placeholder — replace with an actual dashboard capture</a:t>
            </a:r>
          </a:p>
        </p:txBody>
      </p:sp>
      <p:sp>
        <p:nvSpPr>
          <p:cNvPr id="11" name="">
            <a:extLst xmlns:a="http://schemas.openxmlformats.org/drawingml/2006/main">
              <a:ext uri="{FF2B5EF4-FFF2-40B4-BE49-F238E27FC236}">
                <a16:creationId xmlns:a16="http://schemas.microsoft.com/office/drawing/2014/main" id="{A9612E81-3AFA-498A-B6C1-96D43CFBC990}"/>
              </a:ext>
            </a:extLst>
          </p:cNvPr>
          <p:cNvSpPr>
            <a:spLocks xmlns:a="http://schemas.openxmlformats.org/drawingml/2006/main" noGrp="1"/>
          </p:cNvSpPr>
          <p:nvPr/>
        </p:nvSpPr>
        <p:spPr>
          <a:xfrm xmlns:a="http://schemas.openxmlformats.org/drawingml/2006/main">
            <a:off x="685800" y="5286375"/>
            <a:ext cx="20002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D64545"/>
            </a:solidFill>
          </a:ln>
        </p:spPr>
      </p:sp>
      <p:sp>
        <p:nvSpPr>
          <p:cNvPr id="12" name="">
            <a:extLst xmlns:a="http://schemas.openxmlformats.org/drawingml/2006/main">
              <a:ext uri="{FF2B5EF4-FFF2-40B4-BE49-F238E27FC236}">
                <a16:creationId xmlns:a16="http://schemas.microsoft.com/office/drawing/2014/main" id="{AA8FB558-5816-43F2-AC30-0D3C2095E540}"/>
              </a:ext>
            </a:extLst>
          </p:cNvPr>
          <p:cNvSpPr>
            <a:spLocks xmlns:a="http://schemas.openxmlformats.org/drawingml/2006/main" noGrp="1"/>
          </p:cNvSpPr>
          <p:nvPr/>
        </p:nvSpPr>
        <p:spPr>
          <a:xfrm xmlns:a="http://schemas.openxmlformats.org/drawingml/2006/main">
            <a:off x="762000" y="5305425"/>
            <a:ext cx="1847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D64545"/>
                </a:solidFill>
                <a:latin typeface="Aptos"/>
                <a:ea typeface="Aptos"/>
                <a:cs typeface="Aptos"/>
              </a:defRPr>
            </a:pPr>
            <a:r>
              <a:rPr sz="975" b="1">
                <a:solidFill>
                  <a:srgbClr val="D64545"/>
                </a:solidFill>
                <a:latin typeface="Aptos"/>
                <a:ea typeface="Aptos"/>
                <a:cs typeface="Aptos"/>
              </a:rPr>
              <a:t>Fraud KPIs</a:t>
            </a:r>
          </a:p>
        </p:txBody>
      </p:sp>
      <p:sp>
        <p:nvSpPr>
          <p:cNvPr id="13" name="">
            <a:extLst xmlns:a="http://schemas.openxmlformats.org/drawingml/2006/main">
              <a:ext uri="{FF2B5EF4-FFF2-40B4-BE49-F238E27FC236}">
                <a16:creationId xmlns:a16="http://schemas.microsoft.com/office/drawing/2014/main" id="{73C977B4-E581-4E3B-BB76-0AAFCCC88DBE}"/>
              </a:ext>
            </a:extLst>
          </p:cNvPr>
          <p:cNvSpPr>
            <a:spLocks xmlns:a="http://schemas.openxmlformats.org/drawingml/2006/main" noGrp="1"/>
          </p:cNvSpPr>
          <p:nvPr/>
        </p:nvSpPr>
        <p:spPr>
          <a:xfrm xmlns:a="http://schemas.openxmlformats.org/drawingml/2006/main">
            <a:off x="2857500" y="5286375"/>
            <a:ext cx="20002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A6A6"/>
            </a:solidFill>
          </a:ln>
        </p:spPr>
      </p:sp>
      <p:sp>
        <p:nvSpPr>
          <p:cNvPr id="14" name="">
            <a:extLst xmlns:a="http://schemas.openxmlformats.org/drawingml/2006/main">
              <a:ext uri="{FF2B5EF4-FFF2-40B4-BE49-F238E27FC236}">
                <a16:creationId xmlns:a16="http://schemas.microsoft.com/office/drawing/2014/main" id="{18A07F29-29D0-49A7-99F3-A17ED49F82CD}"/>
              </a:ext>
            </a:extLst>
          </p:cNvPr>
          <p:cNvSpPr>
            <a:spLocks xmlns:a="http://schemas.openxmlformats.org/drawingml/2006/main" noGrp="1"/>
          </p:cNvSpPr>
          <p:nvPr/>
        </p:nvSpPr>
        <p:spPr>
          <a:xfrm xmlns:a="http://schemas.openxmlformats.org/drawingml/2006/main">
            <a:off x="2933700" y="5305425"/>
            <a:ext cx="1847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By transaction type</a:t>
            </a:r>
          </a:p>
        </p:txBody>
      </p:sp>
      <p:sp>
        <p:nvSpPr>
          <p:cNvPr id="15" name="">
            <a:extLst xmlns:a="http://schemas.openxmlformats.org/drawingml/2006/main">
              <a:ext uri="{FF2B5EF4-FFF2-40B4-BE49-F238E27FC236}">
                <a16:creationId xmlns:a16="http://schemas.microsoft.com/office/drawing/2014/main" id="{80B7732A-AF4F-464E-888C-4FAC98592471}"/>
              </a:ext>
            </a:extLst>
          </p:cNvPr>
          <p:cNvSpPr>
            <a:spLocks xmlns:a="http://schemas.openxmlformats.org/drawingml/2006/main" noGrp="1"/>
          </p:cNvSpPr>
          <p:nvPr/>
        </p:nvSpPr>
        <p:spPr>
          <a:xfrm xmlns:a="http://schemas.openxmlformats.org/drawingml/2006/main">
            <a:off x="5029200" y="5286375"/>
            <a:ext cx="20002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A6A6"/>
            </a:solidFill>
          </a:ln>
        </p:spPr>
      </p:sp>
      <p:sp>
        <p:nvSpPr>
          <p:cNvPr id="16" name="">
            <a:extLst xmlns:a="http://schemas.openxmlformats.org/drawingml/2006/main">
              <a:ext uri="{FF2B5EF4-FFF2-40B4-BE49-F238E27FC236}">
                <a16:creationId xmlns:a16="http://schemas.microsoft.com/office/drawing/2014/main" id="{4B6323D8-687B-460C-AFE8-75CCF709B44F}"/>
              </a:ext>
            </a:extLst>
          </p:cNvPr>
          <p:cNvSpPr>
            <a:spLocks xmlns:a="http://schemas.openxmlformats.org/drawingml/2006/main" noGrp="1"/>
          </p:cNvSpPr>
          <p:nvPr/>
        </p:nvSpPr>
        <p:spPr>
          <a:xfrm xmlns:a="http://schemas.openxmlformats.org/drawingml/2006/main">
            <a:off x="5105400" y="5305425"/>
            <a:ext cx="1847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By merchant category</a:t>
            </a:r>
          </a:p>
        </p:txBody>
      </p:sp>
      <p:sp>
        <p:nvSpPr>
          <p:cNvPr id="17" name="">
            <a:extLst xmlns:a="http://schemas.openxmlformats.org/drawingml/2006/main">
              <a:ext uri="{FF2B5EF4-FFF2-40B4-BE49-F238E27FC236}">
                <a16:creationId xmlns:a16="http://schemas.microsoft.com/office/drawing/2014/main" id="{AFD047AA-CFC5-43E7-B448-F1E2F7B32693}"/>
              </a:ext>
            </a:extLst>
          </p:cNvPr>
          <p:cNvSpPr>
            <a:spLocks xmlns:a="http://schemas.openxmlformats.org/drawingml/2006/main" noGrp="1"/>
          </p:cNvSpPr>
          <p:nvPr/>
        </p:nvSpPr>
        <p:spPr>
          <a:xfrm xmlns:a="http://schemas.openxmlformats.org/drawingml/2006/main">
            <a:off x="7200900" y="5286375"/>
            <a:ext cx="20002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A6A6"/>
            </a:solidFill>
          </a:ln>
        </p:spPr>
      </p:sp>
      <p:sp>
        <p:nvSpPr>
          <p:cNvPr id="18" name="">
            <a:extLst xmlns:a="http://schemas.openxmlformats.org/drawingml/2006/main">
              <a:ext uri="{FF2B5EF4-FFF2-40B4-BE49-F238E27FC236}">
                <a16:creationId xmlns:a16="http://schemas.microsoft.com/office/drawing/2014/main" id="{0A2479CB-E016-4623-AF3E-0BEE89B55FD9}"/>
              </a:ext>
            </a:extLst>
          </p:cNvPr>
          <p:cNvSpPr>
            <a:spLocks xmlns:a="http://schemas.openxmlformats.org/drawingml/2006/main" noGrp="1"/>
          </p:cNvSpPr>
          <p:nvPr/>
        </p:nvSpPr>
        <p:spPr>
          <a:xfrm xmlns:a="http://schemas.openxmlformats.org/drawingml/2006/main">
            <a:off x="7277100" y="5305425"/>
            <a:ext cx="1847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By sender state</a:t>
            </a:r>
          </a:p>
        </p:txBody>
      </p:sp>
      <p:sp>
        <p:nvSpPr>
          <p:cNvPr id="19" name="">
            <a:extLst xmlns:a="http://schemas.openxmlformats.org/drawingml/2006/main">
              <a:ext uri="{FF2B5EF4-FFF2-40B4-BE49-F238E27FC236}">
                <a16:creationId xmlns:a16="http://schemas.microsoft.com/office/drawing/2014/main" id="{EC625B27-90BE-4739-9BE6-25DA735EC9AF}"/>
              </a:ext>
            </a:extLst>
          </p:cNvPr>
          <p:cNvSpPr>
            <a:spLocks xmlns:a="http://schemas.openxmlformats.org/drawingml/2006/main" noGrp="1"/>
          </p:cNvSpPr>
          <p:nvPr/>
        </p:nvSpPr>
        <p:spPr>
          <a:xfrm xmlns:a="http://schemas.openxmlformats.org/drawingml/2006/main">
            <a:off x="9372600" y="5286375"/>
            <a:ext cx="20002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A6A6"/>
            </a:solidFill>
          </a:ln>
        </p:spPr>
      </p:sp>
      <p:sp>
        <p:nvSpPr>
          <p:cNvPr id="20" name="">
            <a:extLst xmlns:a="http://schemas.openxmlformats.org/drawingml/2006/main">
              <a:ext uri="{FF2B5EF4-FFF2-40B4-BE49-F238E27FC236}">
                <a16:creationId xmlns:a16="http://schemas.microsoft.com/office/drawing/2014/main" id="{FD52CF39-3B2C-42E0-883E-3B44BFD2802B}"/>
              </a:ext>
            </a:extLst>
          </p:cNvPr>
          <p:cNvSpPr>
            <a:spLocks xmlns:a="http://schemas.openxmlformats.org/drawingml/2006/main" noGrp="1"/>
          </p:cNvSpPr>
          <p:nvPr/>
        </p:nvSpPr>
        <p:spPr>
          <a:xfrm xmlns:a="http://schemas.openxmlformats.org/drawingml/2006/main">
            <a:off x="9448800" y="5305425"/>
            <a:ext cx="1847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By device • State • Type slicers</a:t>
            </a:r>
          </a:p>
        </p:txBody>
      </p:sp>
    </p:spTree>
    <p:extLst>
      <p:ext uri="{BB962C8B-B14F-4D97-AF65-F5344CB8AC3E}">
        <p14:creationId xmlns:p14="http://schemas.microsoft.com/office/powerpoint/2010/main" val="349534243"/>
      </p:ext>
    </p:extLst>
  </p:cSld>
</p:sld>
</file>

<file path=ppt/slides/slide14.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E7A264D5-F3CE-4394-AE38-5A1C6144594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FE75C0-44CC-4BB8-8148-EA695BECBE3C}"/>
              </a:ext>
            </a:extLst>
          </p:cNvPr>
          <p:cNvSpPr>
            <a:spLocks xmlns:a="http://schemas.openxmlformats.org/drawingml/2006/main" noGrp="1"/>
          </p:cNvSpPr>
          <p:nvPr/>
        </p:nvSpPr>
        <p:spPr>
          <a:xfrm xmlns:a="http://schemas.openxmlformats.org/drawingml/2006/main">
            <a:off x="590550" y="266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05  |  RISK</a:t>
            </a:r>
          </a:p>
        </p:txBody>
      </p:sp>
      <p:sp>
        <p:nvSpPr>
          <p:cNvPr id="3" name="">
            <a:extLst xmlns:a="http://schemas.openxmlformats.org/drawingml/2006/main">
              <a:ext uri="{FF2B5EF4-FFF2-40B4-BE49-F238E27FC236}">
                <a16:creationId xmlns:a16="http://schemas.microsoft.com/office/drawing/2014/main" id="{C7AD76A2-D98E-4FAE-84E1-365AC3D97E60}"/>
              </a:ext>
            </a:extLst>
          </p:cNvPr>
          <p:cNvSpPr>
            <a:spLocks xmlns:a="http://schemas.openxmlformats.org/drawingml/2006/main" noGrp="1"/>
          </p:cNvSpPr>
          <p:nvPr/>
        </p:nvSpPr>
        <p:spPr>
          <a:xfrm xmlns:a="http://schemas.openxmlformats.org/drawingml/2006/main">
            <a:off x="590550" y="600075"/>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23B5D"/>
                </a:solidFill>
                <a:latin typeface="Aptos"/>
                <a:ea typeface="Aptos"/>
                <a:cs typeface="Aptos"/>
              </a:defRPr>
            </a:pPr>
            <a:r>
              <a:rPr sz="2550" b="1">
                <a:solidFill>
                  <a:srgbClr val="123B5D"/>
                </a:solidFill>
                <a:latin typeface="Aptos"/>
                <a:ea typeface="Aptos"/>
                <a:cs typeface="Aptos"/>
              </a:rPr>
              <a:t>Fraud analysis findings</a:t>
            </a:r>
          </a:p>
        </p:txBody>
      </p:sp>
      <p:sp>
        <p:nvSpPr>
          <p:cNvPr id="4" name="">
            <a:extLst xmlns:a="http://schemas.openxmlformats.org/drawingml/2006/main">
              <a:ext uri="{FF2B5EF4-FFF2-40B4-BE49-F238E27FC236}">
                <a16:creationId xmlns:a16="http://schemas.microsoft.com/office/drawing/2014/main" id="{C79BEC3C-D139-4830-A38B-8C3FD69988BE}"/>
              </a:ext>
            </a:extLst>
          </p:cNvPr>
          <p:cNvSpPr>
            <a:spLocks xmlns:a="http://schemas.openxmlformats.org/drawingml/2006/main" noGrp="1"/>
          </p:cNvSpPr>
          <p:nvPr/>
        </p:nvSpPr>
        <p:spPr>
          <a:xfrm xmlns:a="http://schemas.openxmlformats.org/drawingml/2006/main">
            <a:off x="609600" y="11334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1727E"/>
                </a:solidFill>
                <a:latin typeface="Aptos"/>
                <a:ea typeface="Aptos"/>
                <a:cs typeface="Aptos"/>
              </a:defRPr>
            </a:pPr>
            <a:r>
              <a:rPr sz="1275" b="0">
                <a:solidFill>
                  <a:srgbClr val="61727E"/>
                </a:solidFill>
                <a:latin typeface="Aptos"/>
                <a:ea typeface="Aptos"/>
                <a:cs typeface="Aptos"/>
              </a:rPr>
              <a:t>Flagged transaction patterns within the project dataset</a:t>
            </a:r>
          </a:p>
        </p:txBody>
      </p:sp>
      <p:sp>
        <p:nvSpPr>
          <p:cNvPr id="5" name="">
            <a:extLst xmlns:a="http://schemas.openxmlformats.org/drawingml/2006/main">
              <a:ext uri="{FF2B5EF4-FFF2-40B4-BE49-F238E27FC236}">
                <a16:creationId xmlns:a16="http://schemas.microsoft.com/office/drawing/2014/main" id="{4092024F-5B87-474C-B1F3-1D9FAEEA3266}"/>
              </a:ext>
            </a:extLst>
          </p:cNvPr>
          <p:cNvSpPr>
            <a:spLocks xmlns:a="http://schemas.openxmlformats.org/drawingml/2006/main" noGrp="1"/>
          </p:cNvSpPr>
          <p:nvPr/>
        </p:nvSpPr>
        <p:spPr>
          <a:xfrm xmlns:a="http://schemas.openxmlformats.org/drawingml/2006/main">
            <a:off x="590550" y="6419850"/>
            <a:ext cx="10991850" cy="9525"/>
          </a:xfrm>
          <a:prstGeom xmlns:a="http://schemas.openxmlformats.org/drawingml/2006/main" prst="rect">
            <a:avLst/>
          </a:prstGeom>
          <a:solidFill xmlns:a="http://schemas.openxmlformats.org/drawingml/2006/main">
            <a:srgbClr val="DCE5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D01EE98-050D-4E00-8ACD-0A1DFFD89A12}"/>
              </a:ext>
            </a:extLst>
          </p:cNvPr>
          <p:cNvSpPr>
            <a:spLocks xmlns:a="http://schemas.openxmlformats.org/drawingml/2006/main" noGrp="1"/>
          </p:cNvSpPr>
          <p:nvPr/>
        </p:nvSpPr>
        <p:spPr>
          <a:xfrm xmlns:a="http://schemas.openxmlformats.org/drawingml/2006/main">
            <a:off x="59055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ANUDIP FOUNDATION  •  DATA ANALYTICS PROJECT</a:t>
            </a:r>
          </a:p>
        </p:txBody>
      </p:sp>
      <p:sp>
        <p:nvSpPr>
          <p:cNvPr id="7" name="">
            <a:extLst xmlns:a="http://schemas.openxmlformats.org/drawingml/2006/main">
              <a:ext uri="{FF2B5EF4-FFF2-40B4-BE49-F238E27FC236}">
                <a16:creationId xmlns:a16="http://schemas.microsoft.com/office/drawing/2014/main" id="{9A704395-E540-48B9-938E-53C57F8F67B9}"/>
              </a:ext>
            </a:extLst>
          </p:cNvPr>
          <p:cNvSpPr>
            <a:spLocks xmlns:a="http://schemas.openxmlformats.org/drawingml/2006/main" noGrp="1"/>
          </p:cNvSpPr>
          <p:nvPr/>
        </p:nvSpPr>
        <p:spPr>
          <a:xfrm xmlns:a="http://schemas.openxmlformats.org/drawingml/2006/main">
            <a:off x="112014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1">
                <a:solidFill>
                  <a:srgbClr val="61727E"/>
                </a:solidFill>
                <a:latin typeface="Aptos"/>
                <a:ea typeface="Aptos"/>
                <a:cs typeface="Aptos"/>
              </a:defRPr>
            </a:pPr>
            <a:r>
              <a:rPr sz="900" b="1">
                <a:solidFill>
                  <a:srgbClr val="61727E"/>
                </a:solidFill>
                <a:latin typeface="Aptos"/>
                <a:ea typeface="Aptos"/>
                <a:cs typeface="Aptos"/>
              </a:rPr>
              <a:t>14</a:t>
            </a:r>
          </a:p>
        </p:txBody>
      </p:sp>
      <p:sp>
        <p:nvSpPr>
          <p:cNvPr id="8" name="">
            <a:extLst xmlns:a="http://schemas.openxmlformats.org/drawingml/2006/main">
              <a:ext uri="{FF2B5EF4-FFF2-40B4-BE49-F238E27FC236}">
                <a16:creationId xmlns:a16="http://schemas.microsoft.com/office/drawing/2014/main" id="{3D139E5D-46D3-49EC-959B-7BF5F63EF15A}"/>
              </a:ext>
            </a:extLst>
          </p:cNvPr>
          <p:cNvSpPr>
            <a:spLocks xmlns:a="http://schemas.openxmlformats.org/drawingml/2006/main" noGrp="1"/>
          </p:cNvSpPr>
          <p:nvPr/>
        </p:nvSpPr>
        <p:spPr>
          <a:xfrm xmlns:a="http://schemas.openxmlformats.org/drawingml/2006/main">
            <a:off x="685800" y="1619250"/>
            <a:ext cx="2381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9" name="">
            <a:extLst xmlns:a="http://schemas.openxmlformats.org/drawingml/2006/main">
              <a:ext uri="{FF2B5EF4-FFF2-40B4-BE49-F238E27FC236}">
                <a16:creationId xmlns:a16="http://schemas.microsoft.com/office/drawing/2014/main" id="{9F1BE5FA-6454-43E5-85A9-FF598F5E6D95}"/>
              </a:ext>
            </a:extLst>
          </p:cNvPr>
          <p:cNvSpPr>
            <a:spLocks xmlns:a="http://schemas.openxmlformats.org/drawingml/2006/main" noGrp="1"/>
          </p:cNvSpPr>
          <p:nvPr/>
        </p:nvSpPr>
        <p:spPr>
          <a:xfrm xmlns:a="http://schemas.openxmlformats.org/drawingml/2006/main">
            <a:off x="685800" y="1619250"/>
            <a:ext cx="47625" cy="1028700"/>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966F34B-DBDB-440D-977E-19DF37F06B9E}"/>
              </a:ext>
            </a:extLst>
          </p:cNvPr>
          <p:cNvSpPr>
            <a:spLocks xmlns:a="http://schemas.openxmlformats.org/drawingml/2006/main" noGrp="1"/>
          </p:cNvSpPr>
          <p:nvPr/>
        </p:nvSpPr>
        <p:spPr>
          <a:xfrm xmlns:a="http://schemas.openxmlformats.org/drawingml/2006/main">
            <a:off x="876300" y="1752600"/>
            <a:ext cx="2019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D64545"/>
                </a:solidFill>
                <a:latin typeface="Aptos"/>
                <a:ea typeface="Aptos"/>
                <a:cs typeface="Aptos"/>
              </a:defRPr>
            </a:pPr>
            <a:r>
              <a:rPr sz="2175" b="1">
                <a:solidFill>
                  <a:srgbClr val="D64545"/>
                </a:solidFill>
                <a:latin typeface="Aptos"/>
                <a:ea typeface="Aptos"/>
                <a:cs typeface="Aptos"/>
              </a:rPr>
              <a:t>480</a:t>
            </a:r>
          </a:p>
        </p:txBody>
      </p:sp>
      <p:sp>
        <p:nvSpPr>
          <p:cNvPr id="11" name="">
            <a:extLst xmlns:a="http://schemas.openxmlformats.org/drawingml/2006/main">
              <a:ext uri="{FF2B5EF4-FFF2-40B4-BE49-F238E27FC236}">
                <a16:creationId xmlns:a16="http://schemas.microsoft.com/office/drawing/2014/main" id="{B79B2C6D-12F4-466F-9357-3A3962FFCA05}"/>
              </a:ext>
            </a:extLst>
          </p:cNvPr>
          <p:cNvSpPr>
            <a:spLocks xmlns:a="http://schemas.openxmlformats.org/drawingml/2006/main" noGrp="1"/>
          </p:cNvSpPr>
          <p:nvPr/>
        </p:nvSpPr>
        <p:spPr>
          <a:xfrm xmlns:a="http://schemas.openxmlformats.org/drawingml/2006/main">
            <a:off x="876300" y="2171700"/>
            <a:ext cx="2019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flagged transactions</a:t>
            </a:r>
          </a:p>
        </p:txBody>
      </p:sp>
      <p:sp>
        <p:nvSpPr>
          <p:cNvPr id="12" name="">
            <a:extLst xmlns:a="http://schemas.openxmlformats.org/drawingml/2006/main">
              <a:ext uri="{FF2B5EF4-FFF2-40B4-BE49-F238E27FC236}">
                <a16:creationId xmlns:a16="http://schemas.microsoft.com/office/drawing/2014/main" id="{920715DB-8C8C-4C47-8CE8-3DC49E126459}"/>
              </a:ext>
            </a:extLst>
          </p:cNvPr>
          <p:cNvSpPr>
            <a:spLocks xmlns:a="http://schemas.openxmlformats.org/drawingml/2006/main" noGrp="1"/>
          </p:cNvSpPr>
          <p:nvPr/>
        </p:nvSpPr>
        <p:spPr>
          <a:xfrm xmlns:a="http://schemas.openxmlformats.org/drawingml/2006/main">
            <a:off x="3371850" y="1619250"/>
            <a:ext cx="2381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13" name="">
            <a:extLst xmlns:a="http://schemas.openxmlformats.org/drawingml/2006/main">
              <a:ext uri="{FF2B5EF4-FFF2-40B4-BE49-F238E27FC236}">
                <a16:creationId xmlns:a16="http://schemas.microsoft.com/office/drawing/2014/main" id="{DF9083AD-6E45-410C-B5A1-7770C02134A9}"/>
              </a:ext>
            </a:extLst>
          </p:cNvPr>
          <p:cNvSpPr>
            <a:spLocks xmlns:a="http://schemas.openxmlformats.org/drawingml/2006/main" noGrp="1"/>
          </p:cNvSpPr>
          <p:nvPr/>
        </p:nvSpPr>
        <p:spPr>
          <a:xfrm xmlns:a="http://schemas.openxmlformats.org/drawingml/2006/main">
            <a:off x="3371850" y="1619250"/>
            <a:ext cx="47625" cy="1028700"/>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1523094-F84A-4DAF-AD35-0F7FB5D92DED}"/>
              </a:ext>
            </a:extLst>
          </p:cNvPr>
          <p:cNvSpPr>
            <a:spLocks xmlns:a="http://schemas.openxmlformats.org/drawingml/2006/main" noGrp="1"/>
          </p:cNvSpPr>
          <p:nvPr/>
        </p:nvSpPr>
        <p:spPr>
          <a:xfrm xmlns:a="http://schemas.openxmlformats.org/drawingml/2006/main">
            <a:off x="3562350" y="1752600"/>
            <a:ext cx="2019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D64545"/>
                </a:solidFill>
                <a:latin typeface="Aptos"/>
                <a:ea typeface="Aptos"/>
                <a:cs typeface="Aptos"/>
              </a:defRPr>
            </a:pPr>
            <a:r>
              <a:rPr sz="2175" b="1">
                <a:solidFill>
                  <a:srgbClr val="D64545"/>
                </a:solidFill>
                <a:latin typeface="Aptos"/>
                <a:ea typeface="Aptos"/>
                <a:cs typeface="Aptos"/>
              </a:rPr>
              <a:t>0.192%</a:t>
            </a:r>
          </a:p>
        </p:txBody>
      </p:sp>
      <p:sp>
        <p:nvSpPr>
          <p:cNvPr id="15" name="">
            <a:extLst xmlns:a="http://schemas.openxmlformats.org/drawingml/2006/main">
              <a:ext uri="{FF2B5EF4-FFF2-40B4-BE49-F238E27FC236}">
                <a16:creationId xmlns:a16="http://schemas.microsoft.com/office/drawing/2014/main" id="{DDFA2842-916C-4860-8C1F-E65E5CB1711A}"/>
              </a:ext>
            </a:extLst>
          </p:cNvPr>
          <p:cNvSpPr>
            <a:spLocks xmlns:a="http://schemas.openxmlformats.org/drawingml/2006/main" noGrp="1"/>
          </p:cNvSpPr>
          <p:nvPr/>
        </p:nvSpPr>
        <p:spPr>
          <a:xfrm xmlns:a="http://schemas.openxmlformats.org/drawingml/2006/main">
            <a:off x="3562350" y="2171700"/>
            <a:ext cx="2019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fraud rate</a:t>
            </a:r>
          </a:p>
        </p:txBody>
      </p:sp>
      <p:sp>
        <p:nvSpPr>
          <p:cNvPr id="16" name="">
            <a:extLst xmlns:a="http://schemas.openxmlformats.org/drawingml/2006/main">
              <a:ext uri="{FF2B5EF4-FFF2-40B4-BE49-F238E27FC236}">
                <a16:creationId xmlns:a16="http://schemas.microsoft.com/office/drawing/2014/main" id="{F71B591C-503F-47B4-B258-7294992B2E56}"/>
              </a:ext>
            </a:extLst>
          </p:cNvPr>
          <p:cNvSpPr>
            <a:spLocks xmlns:a="http://schemas.openxmlformats.org/drawingml/2006/main" noGrp="1"/>
          </p:cNvSpPr>
          <p:nvPr/>
        </p:nvSpPr>
        <p:spPr>
          <a:xfrm xmlns:a="http://schemas.openxmlformats.org/drawingml/2006/main">
            <a:off x="6057900" y="1619250"/>
            <a:ext cx="2381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17" name="">
            <a:extLst xmlns:a="http://schemas.openxmlformats.org/drawingml/2006/main">
              <a:ext uri="{FF2B5EF4-FFF2-40B4-BE49-F238E27FC236}">
                <a16:creationId xmlns:a16="http://schemas.microsoft.com/office/drawing/2014/main" id="{2557C9C6-A398-40C1-928E-3CAC1C642F4C}"/>
              </a:ext>
            </a:extLst>
          </p:cNvPr>
          <p:cNvSpPr>
            <a:spLocks xmlns:a="http://schemas.openxmlformats.org/drawingml/2006/main" noGrp="1"/>
          </p:cNvSpPr>
          <p:nvPr/>
        </p:nvSpPr>
        <p:spPr>
          <a:xfrm xmlns:a="http://schemas.openxmlformats.org/drawingml/2006/main">
            <a:off x="6057900" y="1619250"/>
            <a:ext cx="47625" cy="1028700"/>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87FD95F-7AF5-4C09-9EB5-29DA3B4F7C38}"/>
              </a:ext>
            </a:extLst>
          </p:cNvPr>
          <p:cNvSpPr>
            <a:spLocks xmlns:a="http://schemas.openxmlformats.org/drawingml/2006/main" noGrp="1"/>
          </p:cNvSpPr>
          <p:nvPr/>
        </p:nvSpPr>
        <p:spPr>
          <a:xfrm xmlns:a="http://schemas.openxmlformats.org/drawingml/2006/main">
            <a:off x="6248400" y="1752600"/>
            <a:ext cx="2019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D64545"/>
                </a:solidFill>
                <a:latin typeface="Aptos"/>
                <a:ea typeface="Aptos"/>
                <a:cs typeface="Aptos"/>
              </a:defRPr>
            </a:pPr>
            <a:r>
              <a:rPr sz="2175" b="1">
                <a:solidFill>
                  <a:srgbClr val="D64545"/>
                </a:solidFill>
                <a:latin typeface="Aptos"/>
                <a:ea typeface="Aptos"/>
                <a:cs typeface="Aptos"/>
              </a:rPr>
              <a:t>INR 720K</a:t>
            </a:r>
          </a:p>
        </p:txBody>
      </p:sp>
      <p:sp>
        <p:nvSpPr>
          <p:cNvPr id="19" name="">
            <a:extLst xmlns:a="http://schemas.openxmlformats.org/drawingml/2006/main">
              <a:ext uri="{FF2B5EF4-FFF2-40B4-BE49-F238E27FC236}">
                <a16:creationId xmlns:a16="http://schemas.microsoft.com/office/drawing/2014/main" id="{10DD6522-5785-494D-BF5F-5704B50EA78E}"/>
              </a:ext>
            </a:extLst>
          </p:cNvPr>
          <p:cNvSpPr>
            <a:spLocks xmlns:a="http://schemas.openxmlformats.org/drawingml/2006/main" noGrp="1"/>
          </p:cNvSpPr>
          <p:nvPr/>
        </p:nvSpPr>
        <p:spPr>
          <a:xfrm xmlns:a="http://schemas.openxmlformats.org/drawingml/2006/main">
            <a:off x="6248400" y="2171700"/>
            <a:ext cx="2019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fraud transaction value</a:t>
            </a:r>
          </a:p>
        </p:txBody>
      </p:sp>
      <p:sp>
        <p:nvSpPr>
          <p:cNvPr id="20" name="">
            <a:extLst xmlns:a="http://schemas.openxmlformats.org/drawingml/2006/main">
              <a:ext uri="{FF2B5EF4-FFF2-40B4-BE49-F238E27FC236}">
                <a16:creationId xmlns:a16="http://schemas.microsoft.com/office/drawing/2014/main" id="{A5EB38F5-2971-4C07-86A4-F0B28BA92664}"/>
              </a:ext>
            </a:extLst>
          </p:cNvPr>
          <p:cNvSpPr>
            <a:spLocks xmlns:a="http://schemas.openxmlformats.org/drawingml/2006/main" noGrp="1"/>
          </p:cNvSpPr>
          <p:nvPr/>
        </p:nvSpPr>
        <p:spPr>
          <a:xfrm xmlns:a="http://schemas.openxmlformats.org/drawingml/2006/main">
            <a:off x="6248400" y="2419350"/>
            <a:ext cx="2019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approximately</a:t>
            </a:r>
          </a:p>
        </p:txBody>
      </p:sp>
      <p:sp>
        <p:nvSpPr>
          <p:cNvPr id="21" name="">
            <a:extLst xmlns:a="http://schemas.openxmlformats.org/drawingml/2006/main">
              <a:ext uri="{FF2B5EF4-FFF2-40B4-BE49-F238E27FC236}">
                <a16:creationId xmlns:a16="http://schemas.microsoft.com/office/drawing/2014/main" id="{4E704CD9-83E0-4852-9BA8-C829D00AC83C}"/>
              </a:ext>
            </a:extLst>
          </p:cNvPr>
          <p:cNvSpPr>
            <a:spLocks xmlns:a="http://schemas.openxmlformats.org/drawingml/2006/main" noGrp="1"/>
          </p:cNvSpPr>
          <p:nvPr/>
        </p:nvSpPr>
        <p:spPr>
          <a:xfrm xmlns:a="http://schemas.openxmlformats.org/drawingml/2006/main">
            <a:off x="8743950" y="1619250"/>
            <a:ext cx="2381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22" name="">
            <a:extLst xmlns:a="http://schemas.openxmlformats.org/drawingml/2006/main">
              <a:ext uri="{FF2B5EF4-FFF2-40B4-BE49-F238E27FC236}">
                <a16:creationId xmlns:a16="http://schemas.microsoft.com/office/drawing/2014/main" id="{53941DFD-F276-4648-B7A4-E4FAFE96A5EB}"/>
              </a:ext>
            </a:extLst>
          </p:cNvPr>
          <p:cNvSpPr>
            <a:spLocks xmlns:a="http://schemas.openxmlformats.org/drawingml/2006/main" noGrp="1"/>
          </p:cNvSpPr>
          <p:nvPr/>
        </p:nvSpPr>
        <p:spPr>
          <a:xfrm xmlns:a="http://schemas.openxmlformats.org/drawingml/2006/main">
            <a:off x="8743950" y="1619250"/>
            <a:ext cx="47625" cy="1028700"/>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69CE145-AAF3-4DEF-948B-5872CB08D466}"/>
              </a:ext>
            </a:extLst>
          </p:cNvPr>
          <p:cNvSpPr>
            <a:spLocks xmlns:a="http://schemas.openxmlformats.org/drawingml/2006/main" noGrp="1"/>
          </p:cNvSpPr>
          <p:nvPr/>
        </p:nvSpPr>
        <p:spPr>
          <a:xfrm xmlns:a="http://schemas.openxmlformats.org/drawingml/2006/main">
            <a:off x="8934450" y="1752600"/>
            <a:ext cx="2019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D64545"/>
                </a:solidFill>
                <a:latin typeface="Aptos"/>
                <a:ea typeface="Aptos"/>
                <a:cs typeface="Aptos"/>
              </a:defRPr>
            </a:pPr>
            <a:r>
              <a:rPr sz="2175" b="1">
                <a:solidFill>
                  <a:srgbClr val="D64545"/>
                </a:solidFill>
                <a:latin typeface="Aptos"/>
                <a:ea typeface="Aptos"/>
                <a:cs typeface="Aptos"/>
              </a:rPr>
              <a:t>0.219%</a:t>
            </a:r>
          </a:p>
        </p:txBody>
      </p:sp>
      <p:sp>
        <p:nvSpPr>
          <p:cNvPr id="24" name="">
            <a:extLst xmlns:a="http://schemas.openxmlformats.org/drawingml/2006/main">
              <a:ext uri="{FF2B5EF4-FFF2-40B4-BE49-F238E27FC236}">
                <a16:creationId xmlns:a16="http://schemas.microsoft.com/office/drawing/2014/main" id="{9BECB4C1-3ADB-407A-A75F-C11A53DC0C5F}"/>
              </a:ext>
            </a:extLst>
          </p:cNvPr>
          <p:cNvSpPr>
            <a:spLocks xmlns:a="http://schemas.openxmlformats.org/drawingml/2006/main" noGrp="1"/>
          </p:cNvSpPr>
          <p:nvPr/>
        </p:nvSpPr>
        <p:spPr>
          <a:xfrm xmlns:a="http://schemas.openxmlformats.org/drawingml/2006/main">
            <a:off x="8934450" y="2171700"/>
            <a:ext cx="2019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fraud amount rate</a:t>
            </a:r>
          </a:p>
        </p:txBody>
      </p:sp>
      <p:sp>
        <p:nvSpPr>
          <p:cNvPr id="25" name="">
            <a:extLst xmlns:a="http://schemas.openxmlformats.org/drawingml/2006/main">
              <a:ext uri="{FF2B5EF4-FFF2-40B4-BE49-F238E27FC236}">
                <a16:creationId xmlns:a16="http://schemas.microsoft.com/office/drawing/2014/main" id="{D48A7D5C-C70A-477F-B201-08AD9091769E}"/>
              </a:ext>
            </a:extLst>
          </p:cNvPr>
          <p:cNvSpPr>
            <a:spLocks xmlns:a="http://schemas.openxmlformats.org/drawingml/2006/main" noGrp="1"/>
          </p:cNvSpPr>
          <p:nvPr/>
        </p:nvSpPr>
        <p:spPr>
          <a:xfrm xmlns:a="http://schemas.openxmlformats.org/drawingml/2006/main">
            <a:off x="2038350" y="3086100"/>
            <a:ext cx="28575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26" name="">
            <a:extLst xmlns:a="http://schemas.openxmlformats.org/drawingml/2006/main">
              <a:ext uri="{FF2B5EF4-FFF2-40B4-BE49-F238E27FC236}">
                <a16:creationId xmlns:a16="http://schemas.microsoft.com/office/drawing/2014/main" id="{0C76B80A-5F4C-4F0C-9DFF-A6603CF7F984}"/>
              </a:ext>
            </a:extLst>
          </p:cNvPr>
          <p:cNvSpPr>
            <a:spLocks xmlns:a="http://schemas.openxmlformats.org/drawingml/2006/main" noGrp="1"/>
          </p:cNvSpPr>
          <p:nvPr/>
        </p:nvSpPr>
        <p:spPr>
          <a:xfrm xmlns:a="http://schemas.openxmlformats.org/drawingml/2006/main">
            <a:off x="2038350" y="3086100"/>
            <a:ext cx="47625" cy="1028700"/>
          </a:xfrm>
          <a:prstGeom xmlns:a="http://schemas.openxmlformats.org/drawingml/2006/main" prst="rect">
            <a:avLst/>
          </a:prstGeom>
          <a:solidFill xmlns:a="http://schemas.openxmlformats.org/drawingml/2006/main">
            <a:srgbClr val="123B5D"/>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46F330D-A43D-4F95-8AB8-F36382BE09DF}"/>
              </a:ext>
            </a:extLst>
          </p:cNvPr>
          <p:cNvSpPr>
            <a:spLocks xmlns:a="http://schemas.openxmlformats.org/drawingml/2006/main" noGrp="1"/>
          </p:cNvSpPr>
          <p:nvPr/>
        </p:nvSpPr>
        <p:spPr>
          <a:xfrm xmlns:a="http://schemas.openxmlformats.org/drawingml/2006/main">
            <a:off x="2228850" y="3219450"/>
            <a:ext cx="2495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123B5D"/>
                </a:solidFill>
                <a:latin typeface="Aptos"/>
                <a:ea typeface="Aptos"/>
                <a:cs typeface="Aptos"/>
              </a:defRPr>
            </a:pPr>
            <a:r>
              <a:rPr sz="2175" b="1">
                <a:solidFill>
                  <a:srgbClr val="123B5D"/>
                </a:solidFill>
                <a:latin typeface="Aptos"/>
                <a:ea typeface="Aptos"/>
                <a:cs typeface="Aptos"/>
              </a:rPr>
              <a:t>INR 1.50K</a:t>
            </a:r>
          </a:p>
        </p:txBody>
      </p:sp>
      <p:sp>
        <p:nvSpPr>
          <p:cNvPr id="28" name="">
            <a:extLst xmlns:a="http://schemas.openxmlformats.org/drawingml/2006/main">
              <a:ext uri="{FF2B5EF4-FFF2-40B4-BE49-F238E27FC236}">
                <a16:creationId xmlns:a16="http://schemas.microsoft.com/office/drawing/2014/main" id="{53FE6DAE-43DE-422E-9741-941A8F263300}"/>
              </a:ext>
            </a:extLst>
          </p:cNvPr>
          <p:cNvSpPr>
            <a:spLocks xmlns:a="http://schemas.openxmlformats.org/drawingml/2006/main" noGrp="1"/>
          </p:cNvSpPr>
          <p:nvPr/>
        </p:nvSpPr>
        <p:spPr>
          <a:xfrm xmlns:a="http://schemas.openxmlformats.org/drawingml/2006/main">
            <a:off x="2228850" y="3638550"/>
            <a:ext cx="2495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average fraud value</a:t>
            </a:r>
          </a:p>
        </p:txBody>
      </p:sp>
      <p:sp>
        <p:nvSpPr>
          <p:cNvPr id="29" name="">
            <a:extLst xmlns:a="http://schemas.openxmlformats.org/drawingml/2006/main">
              <a:ext uri="{FF2B5EF4-FFF2-40B4-BE49-F238E27FC236}">
                <a16:creationId xmlns:a16="http://schemas.microsoft.com/office/drawing/2014/main" id="{5C58D892-D1D5-46E5-B2FF-FA68FAFAC3A3}"/>
              </a:ext>
            </a:extLst>
          </p:cNvPr>
          <p:cNvSpPr>
            <a:spLocks xmlns:a="http://schemas.openxmlformats.org/drawingml/2006/main" noGrp="1"/>
          </p:cNvSpPr>
          <p:nvPr/>
        </p:nvSpPr>
        <p:spPr>
          <a:xfrm xmlns:a="http://schemas.openxmlformats.org/drawingml/2006/main">
            <a:off x="2228850" y="3886200"/>
            <a:ext cx="2495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approximately</a:t>
            </a:r>
          </a:p>
        </p:txBody>
      </p:sp>
      <p:sp>
        <p:nvSpPr>
          <p:cNvPr id="30" name="">
            <a:extLst xmlns:a="http://schemas.openxmlformats.org/drawingml/2006/main">
              <a:ext uri="{FF2B5EF4-FFF2-40B4-BE49-F238E27FC236}">
                <a16:creationId xmlns:a16="http://schemas.microsoft.com/office/drawing/2014/main" id="{06831BF1-435A-4564-9693-1AB6CDED3595}"/>
              </a:ext>
            </a:extLst>
          </p:cNvPr>
          <p:cNvSpPr>
            <a:spLocks xmlns:a="http://schemas.openxmlformats.org/drawingml/2006/main" noGrp="1"/>
          </p:cNvSpPr>
          <p:nvPr/>
        </p:nvSpPr>
        <p:spPr>
          <a:xfrm xmlns:a="http://schemas.openxmlformats.org/drawingml/2006/main">
            <a:off x="5391150" y="3086100"/>
            <a:ext cx="28575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31" name="">
            <a:extLst xmlns:a="http://schemas.openxmlformats.org/drawingml/2006/main">
              <a:ext uri="{FF2B5EF4-FFF2-40B4-BE49-F238E27FC236}">
                <a16:creationId xmlns:a16="http://schemas.microsoft.com/office/drawing/2014/main" id="{6928F7F8-DB4F-4926-955C-7BFC38A05BFC}"/>
              </a:ext>
            </a:extLst>
          </p:cNvPr>
          <p:cNvSpPr>
            <a:spLocks xmlns:a="http://schemas.openxmlformats.org/drawingml/2006/main" noGrp="1"/>
          </p:cNvSpPr>
          <p:nvPr/>
        </p:nvSpPr>
        <p:spPr>
          <a:xfrm xmlns:a="http://schemas.openxmlformats.org/drawingml/2006/main">
            <a:off x="5391150" y="3086100"/>
            <a:ext cx="47625" cy="10287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BDF15E0-AAA0-489E-B26A-3CACA9A2FD01}"/>
              </a:ext>
            </a:extLst>
          </p:cNvPr>
          <p:cNvSpPr>
            <a:spLocks xmlns:a="http://schemas.openxmlformats.org/drawingml/2006/main" noGrp="1"/>
          </p:cNvSpPr>
          <p:nvPr/>
        </p:nvSpPr>
        <p:spPr>
          <a:xfrm xmlns:a="http://schemas.openxmlformats.org/drawingml/2006/main">
            <a:off x="5581650" y="3219450"/>
            <a:ext cx="2495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00A6A6"/>
                </a:solidFill>
                <a:latin typeface="Aptos"/>
                <a:ea typeface="Aptos"/>
                <a:cs typeface="Aptos"/>
              </a:defRPr>
            </a:pPr>
            <a:r>
              <a:rPr sz="2175" b="1">
                <a:solidFill>
                  <a:srgbClr val="00A6A6"/>
                </a:solidFill>
                <a:latin typeface="Aptos"/>
                <a:ea typeface="Aptos"/>
                <a:cs typeface="Aptos"/>
              </a:rPr>
              <a:t>42.9%</a:t>
            </a:r>
          </a:p>
        </p:txBody>
      </p:sp>
      <p:sp>
        <p:nvSpPr>
          <p:cNvPr id="33" name="">
            <a:extLst xmlns:a="http://schemas.openxmlformats.org/drawingml/2006/main">
              <a:ext uri="{FF2B5EF4-FFF2-40B4-BE49-F238E27FC236}">
                <a16:creationId xmlns:a16="http://schemas.microsoft.com/office/drawing/2014/main" id="{77C67E61-7DCD-4FE4-B1F8-0B5BB9A7FF04}"/>
              </a:ext>
            </a:extLst>
          </p:cNvPr>
          <p:cNvSpPr>
            <a:spLocks xmlns:a="http://schemas.openxmlformats.org/drawingml/2006/main" noGrp="1"/>
          </p:cNvSpPr>
          <p:nvPr/>
        </p:nvSpPr>
        <p:spPr>
          <a:xfrm xmlns:a="http://schemas.openxmlformats.org/drawingml/2006/main">
            <a:off x="5581650" y="3638550"/>
            <a:ext cx="2495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P2P share (206 / 480)</a:t>
            </a:r>
          </a:p>
        </p:txBody>
      </p:sp>
      <p:sp>
        <p:nvSpPr>
          <p:cNvPr id="34" name="">
            <a:extLst xmlns:a="http://schemas.openxmlformats.org/drawingml/2006/main">
              <a:ext uri="{FF2B5EF4-FFF2-40B4-BE49-F238E27FC236}">
                <a16:creationId xmlns:a16="http://schemas.microsoft.com/office/drawing/2014/main" id="{17BF9C0B-843E-4272-BA08-63C35C314017}"/>
              </a:ext>
            </a:extLst>
          </p:cNvPr>
          <p:cNvSpPr>
            <a:spLocks xmlns:a="http://schemas.openxmlformats.org/drawingml/2006/main" noGrp="1"/>
          </p:cNvSpPr>
          <p:nvPr/>
        </p:nvSpPr>
        <p:spPr>
          <a:xfrm xmlns:a="http://schemas.openxmlformats.org/drawingml/2006/main">
            <a:off x="8743950" y="3086100"/>
            <a:ext cx="2381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CE5EA"/>
            </a:solidFill>
          </a:ln>
        </p:spPr>
      </p:sp>
      <p:sp>
        <p:nvSpPr>
          <p:cNvPr id="35" name="">
            <a:extLst xmlns:a="http://schemas.openxmlformats.org/drawingml/2006/main">
              <a:ext uri="{FF2B5EF4-FFF2-40B4-BE49-F238E27FC236}">
                <a16:creationId xmlns:a16="http://schemas.microsoft.com/office/drawing/2014/main" id="{F821319A-502C-41B0-9758-6DDA1B1180D5}"/>
              </a:ext>
            </a:extLst>
          </p:cNvPr>
          <p:cNvSpPr>
            <a:spLocks xmlns:a="http://schemas.openxmlformats.org/drawingml/2006/main" noGrp="1"/>
          </p:cNvSpPr>
          <p:nvPr/>
        </p:nvSpPr>
        <p:spPr>
          <a:xfrm xmlns:a="http://schemas.openxmlformats.org/drawingml/2006/main">
            <a:off x="8743950" y="3086100"/>
            <a:ext cx="47625" cy="10287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AF1BAE5-4ACF-401D-8849-43FEBC7EC29A}"/>
              </a:ext>
            </a:extLst>
          </p:cNvPr>
          <p:cNvSpPr>
            <a:spLocks xmlns:a="http://schemas.openxmlformats.org/drawingml/2006/main" noGrp="1"/>
          </p:cNvSpPr>
          <p:nvPr/>
        </p:nvSpPr>
        <p:spPr>
          <a:xfrm xmlns:a="http://schemas.openxmlformats.org/drawingml/2006/main">
            <a:off x="8934450" y="3219450"/>
            <a:ext cx="2019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51"/>
          </a:bodyPr>
          <a:lstStyle xmlns:a="http://schemas.openxmlformats.org/drawingml/2006/main"/>
          <a:p xmlns:a="http://schemas.openxmlformats.org/drawingml/2006/main">
            <a:pPr>
              <a:defRPr sz="2175" b="1">
                <a:solidFill>
                  <a:srgbClr val="00A6A6"/>
                </a:solidFill>
                <a:latin typeface="Aptos"/>
                <a:ea typeface="Aptos"/>
                <a:cs typeface="Aptos"/>
              </a:defRPr>
            </a:pPr>
            <a:r>
              <a:rPr sz="2175" b="1">
                <a:solidFill>
                  <a:srgbClr val="00A6A6"/>
                </a:solidFill>
                <a:latin typeface="Aptos"/>
                <a:ea typeface="Aptos"/>
                <a:cs typeface="Aptos"/>
              </a:rPr>
              <a:t>77.7%</a:t>
            </a:r>
          </a:p>
        </p:txBody>
      </p:sp>
      <p:sp>
        <p:nvSpPr>
          <p:cNvPr id="37" name="">
            <a:extLst xmlns:a="http://schemas.openxmlformats.org/drawingml/2006/main">
              <a:ext uri="{FF2B5EF4-FFF2-40B4-BE49-F238E27FC236}">
                <a16:creationId xmlns:a16="http://schemas.microsoft.com/office/drawing/2014/main" id="{49FCD0F8-8C08-4C5C-944C-817D3592A4A2}"/>
              </a:ext>
            </a:extLst>
          </p:cNvPr>
          <p:cNvSpPr>
            <a:spLocks xmlns:a="http://schemas.openxmlformats.org/drawingml/2006/main" noGrp="1"/>
          </p:cNvSpPr>
          <p:nvPr/>
        </p:nvSpPr>
        <p:spPr>
          <a:xfrm xmlns:a="http://schemas.openxmlformats.org/drawingml/2006/main">
            <a:off x="8934450" y="3638550"/>
            <a:ext cx="2019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263238"/>
                </a:solidFill>
                <a:latin typeface="Aptos"/>
                <a:ea typeface="Aptos"/>
                <a:cs typeface="Aptos"/>
              </a:defRPr>
            </a:pPr>
            <a:r>
              <a:rPr sz="1125" b="1">
                <a:solidFill>
                  <a:srgbClr val="263238"/>
                </a:solidFill>
                <a:latin typeface="Aptos"/>
                <a:ea typeface="Aptos"/>
                <a:cs typeface="Aptos"/>
              </a:rPr>
              <a:t>P2P + P2M share</a:t>
            </a:r>
          </a:p>
        </p:txBody>
      </p:sp>
      <p:sp>
        <p:nvSpPr>
          <p:cNvPr id="38" name="">
            <a:extLst xmlns:a="http://schemas.openxmlformats.org/drawingml/2006/main">
              <a:ext uri="{FF2B5EF4-FFF2-40B4-BE49-F238E27FC236}">
                <a16:creationId xmlns:a16="http://schemas.microsoft.com/office/drawing/2014/main" id="{428E3633-8234-4546-8846-19F640A90D16}"/>
              </a:ext>
            </a:extLst>
          </p:cNvPr>
          <p:cNvSpPr>
            <a:spLocks xmlns:a="http://schemas.openxmlformats.org/drawingml/2006/main" noGrp="1"/>
          </p:cNvSpPr>
          <p:nvPr/>
        </p:nvSpPr>
        <p:spPr>
          <a:xfrm xmlns:a="http://schemas.openxmlformats.org/drawingml/2006/main">
            <a:off x="685800" y="4695825"/>
            <a:ext cx="10439400" cy="609600"/>
          </a:xfrm>
          <a:prstGeom xmlns:a="http://schemas.openxmlformats.org/drawingml/2006/main" prst="roundRect">
            <a:avLst>
              <a:gd name="adj" fmla="val 12500"/>
            </a:avLst>
          </a:prstGeom>
          <a:solidFill xmlns:a="http://schemas.openxmlformats.org/drawingml/2006/main">
            <a:srgbClr val="FCEEEE"/>
          </a:solidFill>
          <a:ln xmlns:a="http://schemas.openxmlformats.org/drawingml/2006/main" w="9525">
            <a:solidFill>
              <a:srgbClr val="DCE5EA"/>
            </a:solidFill>
          </a:ln>
        </p:spPr>
      </p:sp>
      <p:sp>
        <p:nvSpPr>
          <p:cNvPr id="39" name="">
            <a:extLst xmlns:a="http://schemas.openxmlformats.org/drawingml/2006/main">
              <a:ext uri="{FF2B5EF4-FFF2-40B4-BE49-F238E27FC236}">
                <a16:creationId xmlns:a16="http://schemas.microsoft.com/office/drawing/2014/main" id="{E8A393ED-DD92-46FF-9204-F571A46B3692}"/>
              </a:ext>
            </a:extLst>
          </p:cNvPr>
          <p:cNvSpPr>
            <a:spLocks xmlns:a="http://schemas.openxmlformats.org/drawingml/2006/main" noGrp="1"/>
          </p:cNvSpPr>
          <p:nvPr/>
        </p:nvSpPr>
        <p:spPr>
          <a:xfrm xmlns:a="http://schemas.openxmlformats.org/drawingml/2006/main">
            <a:off x="876300" y="4762500"/>
            <a:ext cx="10058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63238"/>
                </a:solidFill>
                <a:latin typeface="Aptos"/>
                <a:ea typeface="Aptos"/>
                <a:cs typeface="Aptos"/>
              </a:defRPr>
            </a:pPr>
            <a:r>
              <a:rPr sz="1350" b="1">
                <a:solidFill>
                  <a:srgbClr val="263238"/>
                </a:solidFill>
                <a:latin typeface="Aptos"/>
                <a:ea typeface="Aptos"/>
                <a:cs typeface="Aptos"/>
              </a:rPr>
              <a:t>Fraud amount share is slightly higher than fraud transaction share in this dataset.</a:t>
            </a:r>
          </a:p>
        </p:txBody>
      </p:sp>
    </p:spTree>
    <p:extLst>
      <p:ext uri="{BB962C8B-B14F-4D97-AF65-F5344CB8AC3E}">
        <p14:creationId xmlns:p14="http://schemas.microsoft.com/office/powerpoint/2010/main" val="792154976"/>
      </p:ext>
    </p:extLst>
  </p:cSld>
</p:sld>
</file>

<file path=ppt/slides/slide15.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092F20B-7685-4D79-B31E-4864706736C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78F910-6974-40CB-AB58-C56340342387}"/>
              </a:ext>
            </a:extLst>
          </p:cNvPr>
          <p:cNvSpPr>
            <a:spLocks xmlns:a="http://schemas.openxmlformats.org/drawingml/2006/main" noGrp="1"/>
          </p:cNvSpPr>
          <p:nvPr/>
        </p:nvSpPr>
        <p:spPr>
          <a:xfrm xmlns:a="http://schemas.openxmlformats.org/drawingml/2006/main">
            <a:off x="590550" y="266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05  |  RISK</a:t>
            </a:r>
          </a:p>
        </p:txBody>
      </p:sp>
      <p:sp>
        <p:nvSpPr>
          <p:cNvPr id="3" name="">
            <a:extLst xmlns:a="http://schemas.openxmlformats.org/drawingml/2006/main">
              <a:ext uri="{FF2B5EF4-FFF2-40B4-BE49-F238E27FC236}">
                <a16:creationId xmlns:a16="http://schemas.microsoft.com/office/drawing/2014/main" id="{B929DA70-6B37-4AFC-94AD-01F1D3730FDB}"/>
              </a:ext>
            </a:extLst>
          </p:cNvPr>
          <p:cNvSpPr>
            <a:spLocks xmlns:a="http://schemas.openxmlformats.org/drawingml/2006/main" noGrp="1"/>
          </p:cNvSpPr>
          <p:nvPr/>
        </p:nvSpPr>
        <p:spPr>
          <a:xfrm xmlns:a="http://schemas.openxmlformats.org/drawingml/2006/main">
            <a:off x="590550" y="600075"/>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23B5D"/>
                </a:solidFill>
                <a:latin typeface="Aptos"/>
                <a:ea typeface="Aptos"/>
                <a:cs typeface="Aptos"/>
              </a:defRPr>
            </a:pPr>
            <a:r>
              <a:rPr sz="2550" b="1">
                <a:solidFill>
                  <a:srgbClr val="123B5D"/>
                </a:solidFill>
                <a:latin typeface="Aptos"/>
                <a:ea typeface="Aptos"/>
                <a:cs typeface="Aptos"/>
              </a:rPr>
              <a:t>Business insights</a:t>
            </a:r>
          </a:p>
        </p:txBody>
      </p:sp>
      <p:sp>
        <p:nvSpPr>
          <p:cNvPr id="4" name="">
            <a:extLst xmlns:a="http://schemas.openxmlformats.org/drawingml/2006/main">
              <a:ext uri="{FF2B5EF4-FFF2-40B4-BE49-F238E27FC236}">
                <a16:creationId xmlns:a16="http://schemas.microsoft.com/office/drawing/2014/main" id="{00324809-CF16-43BD-8AD4-F16D129F9E7C}"/>
              </a:ext>
            </a:extLst>
          </p:cNvPr>
          <p:cNvSpPr>
            <a:spLocks xmlns:a="http://schemas.openxmlformats.org/drawingml/2006/main" noGrp="1"/>
          </p:cNvSpPr>
          <p:nvPr/>
        </p:nvSpPr>
        <p:spPr>
          <a:xfrm xmlns:a="http://schemas.openxmlformats.org/drawingml/2006/main">
            <a:off x="609600" y="11334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1727E"/>
                </a:solidFill>
                <a:latin typeface="Aptos"/>
                <a:ea typeface="Aptos"/>
                <a:cs typeface="Aptos"/>
              </a:defRPr>
            </a:pPr>
            <a:r>
              <a:rPr sz="1275" b="0">
                <a:solidFill>
                  <a:srgbClr val="61727E"/>
                </a:solidFill>
                <a:latin typeface="Aptos"/>
                <a:ea typeface="Aptos"/>
                <a:cs typeface="Aptos"/>
              </a:rPr>
              <a:t>Patterns can guide questions for targeted monitoring</a:t>
            </a:r>
          </a:p>
        </p:txBody>
      </p:sp>
      <p:sp>
        <p:nvSpPr>
          <p:cNvPr id="5" name="">
            <a:extLst xmlns:a="http://schemas.openxmlformats.org/drawingml/2006/main">
              <a:ext uri="{FF2B5EF4-FFF2-40B4-BE49-F238E27FC236}">
                <a16:creationId xmlns:a16="http://schemas.microsoft.com/office/drawing/2014/main" id="{48120E68-C9AB-466B-9B85-AD22AA91F1EA}"/>
              </a:ext>
            </a:extLst>
          </p:cNvPr>
          <p:cNvSpPr>
            <a:spLocks xmlns:a="http://schemas.openxmlformats.org/drawingml/2006/main" noGrp="1"/>
          </p:cNvSpPr>
          <p:nvPr/>
        </p:nvSpPr>
        <p:spPr>
          <a:xfrm xmlns:a="http://schemas.openxmlformats.org/drawingml/2006/main">
            <a:off x="590550" y="6419850"/>
            <a:ext cx="10991850" cy="9525"/>
          </a:xfrm>
          <a:prstGeom xmlns:a="http://schemas.openxmlformats.org/drawingml/2006/main" prst="rect">
            <a:avLst/>
          </a:prstGeom>
          <a:solidFill xmlns:a="http://schemas.openxmlformats.org/drawingml/2006/main">
            <a:srgbClr val="DCE5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B9DC2DF-19F6-48B6-81AB-DFCEB3C448C9}"/>
              </a:ext>
            </a:extLst>
          </p:cNvPr>
          <p:cNvSpPr>
            <a:spLocks xmlns:a="http://schemas.openxmlformats.org/drawingml/2006/main" noGrp="1"/>
          </p:cNvSpPr>
          <p:nvPr/>
        </p:nvSpPr>
        <p:spPr>
          <a:xfrm xmlns:a="http://schemas.openxmlformats.org/drawingml/2006/main">
            <a:off x="59055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ANUDIP FOUNDATION  •  DATA ANALYTICS PROJECT</a:t>
            </a:r>
          </a:p>
        </p:txBody>
      </p:sp>
      <p:sp>
        <p:nvSpPr>
          <p:cNvPr id="7" name="">
            <a:extLst xmlns:a="http://schemas.openxmlformats.org/drawingml/2006/main">
              <a:ext uri="{FF2B5EF4-FFF2-40B4-BE49-F238E27FC236}">
                <a16:creationId xmlns:a16="http://schemas.microsoft.com/office/drawing/2014/main" id="{40E2CADE-DDB9-46C6-97C6-FAC32804F163}"/>
              </a:ext>
            </a:extLst>
          </p:cNvPr>
          <p:cNvSpPr>
            <a:spLocks xmlns:a="http://schemas.openxmlformats.org/drawingml/2006/main" noGrp="1"/>
          </p:cNvSpPr>
          <p:nvPr/>
        </p:nvSpPr>
        <p:spPr>
          <a:xfrm xmlns:a="http://schemas.openxmlformats.org/drawingml/2006/main">
            <a:off x="112014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1">
                <a:solidFill>
                  <a:srgbClr val="61727E"/>
                </a:solidFill>
                <a:latin typeface="Aptos"/>
                <a:ea typeface="Aptos"/>
                <a:cs typeface="Aptos"/>
              </a:defRPr>
            </a:pPr>
            <a:r>
              <a:rPr sz="900" b="1">
                <a:solidFill>
                  <a:srgbClr val="61727E"/>
                </a:solidFill>
                <a:latin typeface="Aptos"/>
                <a:ea typeface="Aptos"/>
                <a:cs typeface="Aptos"/>
              </a:rPr>
              <a:t>15</a:t>
            </a:r>
          </a:p>
        </p:txBody>
      </p:sp>
      <p:sp>
        <p:nvSpPr>
          <p:cNvPr id="8" name="">
            <a:extLst xmlns:a="http://schemas.openxmlformats.org/drawingml/2006/main">
              <a:ext uri="{FF2B5EF4-FFF2-40B4-BE49-F238E27FC236}">
                <a16:creationId xmlns:a16="http://schemas.microsoft.com/office/drawing/2014/main" id="{7B6E2CFC-6954-42D2-951B-44390C6EF5F1}"/>
              </a:ext>
            </a:extLst>
          </p:cNvPr>
          <p:cNvSpPr>
            <a:spLocks xmlns:a="http://schemas.openxmlformats.org/drawingml/2006/main" noGrp="1"/>
          </p:cNvSpPr>
          <p:nvPr/>
        </p:nvSpPr>
        <p:spPr>
          <a:xfrm xmlns:a="http://schemas.openxmlformats.org/drawingml/2006/main">
            <a:off x="685800" y="1657350"/>
            <a:ext cx="331470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DCE5EA"/>
            </a:solidFill>
          </a:ln>
        </p:spPr>
      </p:sp>
      <p:sp>
        <p:nvSpPr>
          <p:cNvPr id="9" name="">
            <a:extLst xmlns:a="http://schemas.openxmlformats.org/drawingml/2006/main">
              <a:ext uri="{FF2B5EF4-FFF2-40B4-BE49-F238E27FC236}">
                <a16:creationId xmlns:a16="http://schemas.microsoft.com/office/drawing/2014/main" id="{33F59861-6F41-4AE6-80B5-8E86061E70B4}"/>
              </a:ext>
            </a:extLst>
          </p:cNvPr>
          <p:cNvSpPr>
            <a:spLocks xmlns:a="http://schemas.openxmlformats.org/drawingml/2006/main" noGrp="1"/>
          </p:cNvSpPr>
          <p:nvPr/>
        </p:nvSpPr>
        <p:spPr>
          <a:xfrm xmlns:a="http://schemas.openxmlformats.org/drawingml/2006/main">
            <a:off x="685800" y="1657350"/>
            <a:ext cx="47625" cy="14478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E0641E8-3B00-451C-BF8E-2C3F0CF93E55}"/>
              </a:ext>
            </a:extLst>
          </p:cNvPr>
          <p:cNvSpPr>
            <a:spLocks xmlns:a="http://schemas.openxmlformats.org/drawingml/2006/main" noGrp="1"/>
          </p:cNvSpPr>
          <p:nvPr/>
        </p:nvSpPr>
        <p:spPr>
          <a:xfrm xmlns:a="http://schemas.openxmlformats.org/drawingml/2006/main">
            <a:off x="876300" y="1828800"/>
            <a:ext cx="2933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defRPr sz="1350" b="1">
                <a:solidFill>
                  <a:srgbClr val="123B5D"/>
                </a:solidFill>
                <a:latin typeface="Aptos"/>
                <a:ea typeface="Aptos"/>
                <a:cs typeface="Aptos"/>
              </a:defRPr>
            </a:pPr>
            <a:r>
              <a:rPr sz="1350" b="1">
                <a:solidFill>
                  <a:srgbClr val="123B5D"/>
                </a:solidFill>
                <a:latin typeface="Aptos"/>
                <a:ea typeface="Aptos"/>
                <a:cs typeface="Aptos"/>
              </a:rPr>
              <a:t>P2P leads</a:t>
            </a:r>
          </a:p>
        </p:txBody>
      </p:sp>
      <p:sp>
        <p:nvSpPr>
          <p:cNvPr id="11" name="">
            <a:extLst xmlns:a="http://schemas.openxmlformats.org/drawingml/2006/main">
              <a:ext uri="{FF2B5EF4-FFF2-40B4-BE49-F238E27FC236}">
                <a16:creationId xmlns:a16="http://schemas.microsoft.com/office/drawing/2014/main" id="{4E44611B-F1CB-4A6A-A964-9A04B92FC4B9}"/>
              </a:ext>
            </a:extLst>
          </p:cNvPr>
          <p:cNvSpPr>
            <a:spLocks xmlns:a="http://schemas.openxmlformats.org/drawingml/2006/main" noGrp="1"/>
          </p:cNvSpPr>
          <p:nvPr/>
        </p:nvSpPr>
        <p:spPr>
          <a:xfrm xmlns:a="http://schemas.openxmlformats.org/drawingml/2006/main">
            <a:off x="876300" y="2181225"/>
            <a:ext cx="2933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263238"/>
                </a:solidFill>
                <a:latin typeface="Aptos"/>
                <a:ea typeface="Aptos"/>
                <a:cs typeface="Aptos"/>
              </a:defRPr>
            </a:pPr>
            <a:r>
              <a:rPr sz="1275" b="0">
                <a:solidFill>
                  <a:srgbClr val="263238"/>
                </a:solidFill>
                <a:latin typeface="Aptos"/>
                <a:ea typeface="Aptos"/>
                <a:cs typeface="Aptos"/>
              </a:rPr>
              <a:t>206 of 480 flagged records are P2P.</a:t>
            </a:r>
          </a:p>
        </p:txBody>
      </p:sp>
      <p:sp>
        <p:nvSpPr>
          <p:cNvPr id="12" name="">
            <a:extLst xmlns:a="http://schemas.openxmlformats.org/drawingml/2006/main">
              <a:ext uri="{FF2B5EF4-FFF2-40B4-BE49-F238E27FC236}">
                <a16:creationId xmlns:a16="http://schemas.microsoft.com/office/drawing/2014/main" id="{4A3BF5D9-5B30-4ACA-AE53-FF1E5A6CDE5E}"/>
              </a:ext>
            </a:extLst>
          </p:cNvPr>
          <p:cNvSpPr>
            <a:spLocks xmlns:a="http://schemas.openxmlformats.org/drawingml/2006/main" noGrp="1"/>
          </p:cNvSpPr>
          <p:nvPr/>
        </p:nvSpPr>
        <p:spPr>
          <a:xfrm xmlns:a="http://schemas.openxmlformats.org/drawingml/2006/main">
            <a:off x="4286250" y="1657350"/>
            <a:ext cx="331470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DCE5EA"/>
            </a:solidFill>
          </a:ln>
        </p:spPr>
      </p:sp>
      <p:sp>
        <p:nvSpPr>
          <p:cNvPr id="13" name="">
            <a:extLst xmlns:a="http://schemas.openxmlformats.org/drawingml/2006/main">
              <a:ext uri="{FF2B5EF4-FFF2-40B4-BE49-F238E27FC236}">
                <a16:creationId xmlns:a16="http://schemas.microsoft.com/office/drawing/2014/main" id="{8BED38AE-DD1B-4FDF-AFD1-6A5145AB31F7}"/>
              </a:ext>
            </a:extLst>
          </p:cNvPr>
          <p:cNvSpPr>
            <a:spLocks xmlns:a="http://schemas.openxmlformats.org/drawingml/2006/main" noGrp="1"/>
          </p:cNvSpPr>
          <p:nvPr/>
        </p:nvSpPr>
        <p:spPr>
          <a:xfrm xmlns:a="http://schemas.openxmlformats.org/drawingml/2006/main">
            <a:off x="4286250" y="1657350"/>
            <a:ext cx="47625" cy="14478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0D3EF8B-655D-4196-BF13-19F0E58B6AE4}"/>
              </a:ext>
            </a:extLst>
          </p:cNvPr>
          <p:cNvSpPr>
            <a:spLocks xmlns:a="http://schemas.openxmlformats.org/drawingml/2006/main" noGrp="1"/>
          </p:cNvSpPr>
          <p:nvPr/>
        </p:nvSpPr>
        <p:spPr>
          <a:xfrm xmlns:a="http://schemas.openxmlformats.org/drawingml/2006/main">
            <a:off x="4476750" y="1828800"/>
            <a:ext cx="2933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defRPr sz="1350" b="1">
                <a:solidFill>
                  <a:srgbClr val="123B5D"/>
                </a:solidFill>
                <a:latin typeface="Aptos"/>
                <a:ea typeface="Aptos"/>
                <a:cs typeface="Aptos"/>
              </a:defRPr>
            </a:pPr>
            <a:r>
              <a:rPr sz="1350" b="1">
                <a:solidFill>
                  <a:srgbClr val="123B5D"/>
                </a:solidFill>
                <a:latin typeface="Aptos"/>
                <a:ea typeface="Aptos"/>
                <a:cs typeface="Aptos"/>
              </a:rPr>
              <a:t>P2P + P2M</a:t>
            </a:r>
          </a:p>
        </p:txBody>
      </p:sp>
      <p:sp>
        <p:nvSpPr>
          <p:cNvPr id="15" name="">
            <a:extLst xmlns:a="http://schemas.openxmlformats.org/drawingml/2006/main">
              <a:ext uri="{FF2B5EF4-FFF2-40B4-BE49-F238E27FC236}">
                <a16:creationId xmlns:a16="http://schemas.microsoft.com/office/drawing/2014/main" id="{9497D97F-46EC-4860-9F7F-D29348C4131F}"/>
              </a:ext>
            </a:extLst>
          </p:cNvPr>
          <p:cNvSpPr>
            <a:spLocks xmlns:a="http://schemas.openxmlformats.org/drawingml/2006/main" noGrp="1"/>
          </p:cNvSpPr>
          <p:nvPr/>
        </p:nvSpPr>
        <p:spPr>
          <a:xfrm xmlns:a="http://schemas.openxmlformats.org/drawingml/2006/main">
            <a:off x="4476750" y="2181225"/>
            <a:ext cx="2933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263238"/>
                </a:solidFill>
                <a:latin typeface="Aptos"/>
                <a:ea typeface="Aptos"/>
                <a:cs typeface="Aptos"/>
              </a:defRPr>
            </a:pPr>
            <a:r>
              <a:rPr sz="1275" b="0">
                <a:solidFill>
                  <a:srgbClr val="263238"/>
                </a:solidFill>
                <a:latin typeface="Aptos"/>
                <a:ea typeface="Aptos"/>
                <a:cs typeface="Aptos"/>
              </a:rPr>
              <a:t>Together they account for approximately 77.7%.</a:t>
            </a:r>
          </a:p>
        </p:txBody>
      </p:sp>
      <p:sp>
        <p:nvSpPr>
          <p:cNvPr id="16" name="">
            <a:extLst xmlns:a="http://schemas.openxmlformats.org/drawingml/2006/main">
              <a:ext uri="{FF2B5EF4-FFF2-40B4-BE49-F238E27FC236}">
                <a16:creationId xmlns:a16="http://schemas.microsoft.com/office/drawing/2014/main" id="{F6BACA35-C4E7-4746-B426-7099458420D3}"/>
              </a:ext>
            </a:extLst>
          </p:cNvPr>
          <p:cNvSpPr>
            <a:spLocks xmlns:a="http://schemas.openxmlformats.org/drawingml/2006/main" noGrp="1"/>
          </p:cNvSpPr>
          <p:nvPr/>
        </p:nvSpPr>
        <p:spPr>
          <a:xfrm xmlns:a="http://schemas.openxmlformats.org/drawingml/2006/main">
            <a:off x="7886700" y="1657350"/>
            <a:ext cx="331470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DCE5EA"/>
            </a:solidFill>
          </a:ln>
        </p:spPr>
      </p:sp>
      <p:sp>
        <p:nvSpPr>
          <p:cNvPr id="17" name="">
            <a:extLst xmlns:a="http://schemas.openxmlformats.org/drawingml/2006/main">
              <a:ext uri="{FF2B5EF4-FFF2-40B4-BE49-F238E27FC236}">
                <a16:creationId xmlns:a16="http://schemas.microsoft.com/office/drawing/2014/main" id="{B0CE2682-026D-46AF-83DD-625ACC8DC84A}"/>
              </a:ext>
            </a:extLst>
          </p:cNvPr>
          <p:cNvSpPr>
            <a:spLocks xmlns:a="http://schemas.openxmlformats.org/drawingml/2006/main" noGrp="1"/>
          </p:cNvSpPr>
          <p:nvPr/>
        </p:nvSpPr>
        <p:spPr>
          <a:xfrm xmlns:a="http://schemas.openxmlformats.org/drawingml/2006/main">
            <a:off x="7886700" y="1657350"/>
            <a:ext cx="47625" cy="14478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A358D14-E0DA-4E0C-83CF-565883CEE206}"/>
              </a:ext>
            </a:extLst>
          </p:cNvPr>
          <p:cNvSpPr>
            <a:spLocks xmlns:a="http://schemas.openxmlformats.org/drawingml/2006/main" noGrp="1"/>
          </p:cNvSpPr>
          <p:nvPr/>
        </p:nvSpPr>
        <p:spPr>
          <a:xfrm xmlns:a="http://schemas.openxmlformats.org/drawingml/2006/main">
            <a:off x="8077200" y="1828800"/>
            <a:ext cx="2933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defRPr sz="1350" b="1">
                <a:solidFill>
                  <a:srgbClr val="123B5D"/>
                </a:solidFill>
                <a:latin typeface="Aptos"/>
                <a:ea typeface="Aptos"/>
                <a:cs typeface="Aptos"/>
              </a:defRPr>
            </a:pPr>
            <a:r>
              <a:rPr sz="1350" b="1">
                <a:solidFill>
                  <a:srgbClr val="123B5D"/>
                </a:solidFill>
                <a:latin typeface="Aptos"/>
                <a:ea typeface="Aptos"/>
                <a:cs typeface="Aptos"/>
              </a:rPr>
              <a:t>Merchant mix</a:t>
            </a:r>
          </a:p>
        </p:txBody>
      </p:sp>
      <p:sp>
        <p:nvSpPr>
          <p:cNvPr id="19" name="">
            <a:extLst xmlns:a="http://schemas.openxmlformats.org/drawingml/2006/main">
              <a:ext uri="{FF2B5EF4-FFF2-40B4-BE49-F238E27FC236}">
                <a16:creationId xmlns:a16="http://schemas.microsoft.com/office/drawing/2014/main" id="{EDE6E191-728F-489E-A77B-58D896EF1E69}"/>
              </a:ext>
            </a:extLst>
          </p:cNvPr>
          <p:cNvSpPr>
            <a:spLocks xmlns:a="http://schemas.openxmlformats.org/drawingml/2006/main" noGrp="1"/>
          </p:cNvSpPr>
          <p:nvPr/>
        </p:nvSpPr>
        <p:spPr>
          <a:xfrm xmlns:a="http://schemas.openxmlformats.org/drawingml/2006/main">
            <a:off x="8077200" y="2181225"/>
            <a:ext cx="2933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263238"/>
                </a:solidFill>
                <a:latin typeface="Aptos"/>
                <a:ea typeface="Aptos"/>
                <a:cs typeface="Aptos"/>
              </a:defRPr>
            </a:pPr>
            <a:r>
              <a:rPr sz="1275" b="0">
                <a:solidFill>
                  <a:srgbClr val="263238"/>
                </a:solidFill>
                <a:latin typeface="Aptos"/>
                <a:ea typeface="Aptos"/>
                <a:cs typeface="Aptos"/>
              </a:rPr>
              <a:t>Grocery is highest (94), followed by Food (73).</a:t>
            </a:r>
          </a:p>
        </p:txBody>
      </p:sp>
      <p:sp>
        <p:nvSpPr>
          <p:cNvPr id="20" name="">
            <a:extLst xmlns:a="http://schemas.openxmlformats.org/drawingml/2006/main">
              <a:ext uri="{FF2B5EF4-FFF2-40B4-BE49-F238E27FC236}">
                <a16:creationId xmlns:a16="http://schemas.microsoft.com/office/drawing/2014/main" id="{95C9E2A8-0960-4AB4-BF5E-A0F8A7F3D572}"/>
              </a:ext>
            </a:extLst>
          </p:cNvPr>
          <p:cNvSpPr>
            <a:spLocks xmlns:a="http://schemas.openxmlformats.org/drawingml/2006/main" noGrp="1"/>
          </p:cNvSpPr>
          <p:nvPr/>
        </p:nvSpPr>
        <p:spPr>
          <a:xfrm xmlns:a="http://schemas.openxmlformats.org/drawingml/2006/main">
            <a:off x="685800" y="3505200"/>
            <a:ext cx="331470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DCE5EA"/>
            </a:solidFill>
          </a:ln>
        </p:spPr>
      </p:sp>
      <p:sp>
        <p:nvSpPr>
          <p:cNvPr id="21" name="">
            <a:extLst xmlns:a="http://schemas.openxmlformats.org/drawingml/2006/main">
              <a:ext uri="{FF2B5EF4-FFF2-40B4-BE49-F238E27FC236}">
                <a16:creationId xmlns:a16="http://schemas.microsoft.com/office/drawing/2014/main" id="{4B919F8C-912D-4B58-B5B9-0B1BCCA05D95}"/>
              </a:ext>
            </a:extLst>
          </p:cNvPr>
          <p:cNvSpPr>
            <a:spLocks xmlns:a="http://schemas.openxmlformats.org/drawingml/2006/main" noGrp="1"/>
          </p:cNvSpPr>
          <p:nvPr/>
        </p:nvSpPr>
        <p:spPr>
          <a:xfrm xmlns:a="http://schemas.openxmlformats.org/drawingml/2006/main">
            <a:off x="685800" y="3505200"/>
            <a:ext cx="47625" cy="14478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BABF863-421F-427A-940D-739415784B85}"/>
              </a:ext>
            </a:extLst>
          </p:cNvPr>
          <p:cNvSpPr>
            <a:spLocks xmlns:a="http://schemas.openxmlformats.org/drawingml/2006/main" noGrp="1"/>
          </p:cNvSpPr>
          <p:nvPr/>
        </p:nvSpPr>
        <p:spPr>
          <a:xfrm xmlns:a="http://schemas.openxmlformats.org/drawingml/2006/main">
            <a:off x="876300" y="3676650"/>
            <a:ext cx="2933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defRPr sz="1350" b="1">
                <a:solidFill>
                  <a:srgbClr val="123B5D"/>
                </a:solidFill>
                <a:latin typeface="Aptos"/>
                <a:ea typeface="Aptos"/>
                <a:cs typeface="Aptos"/>
              </a:defRPr>
            </a:pPr>
            <a:r>
              <a:rPr sz="1350" b="1">
                <a:solidFill>
                  <a:srgbClr val="123B5D"/>
                </a:solidFill>
                <a:latin typeface="Aptos"/>
                <a:ea typeface="Aptos"/>
                <a:cs typeface="Aptos"/>
              </a:rPr>
              <a:t>Sender states</a:t>
            </a:r>
          </a:p>
        </p:txBody>
      </p:sp>
      <p:sp>
        <p:nvSpPr>
          <p:cNvPr id="23" name="">
            <a:extLst xmlns:a="http://schemas.openxmlformats.org/drawingml/2006/main">
              <a:ext uri="{FF2B5EF4-FFF2-40B4-BE49-F238E27FC236}">
                <a16:creationId xmlns:a16="http://schemas.microsoft.com/office/drawing/2014/main" id="{762DB75A-9A8D-4E90-A55E-E0AD28D06FAB}"/>
              </a:ext>
            </a:extLst>
          </p:cNvPr>
          <p:cNvSpPr>
            <a:spLocks xmlns:a="http://schemas.openxmlformats.org/drawingml/2006/main" noGrp="1"/>
          </p:cNvSpPr>
          <p:nvPr/>
        </p:nvSpPr>
        <p:spPr>
          <a:xfrm xmlns:a="http://schemas.openxmlformats.org/drawingml/2006/main">
            <a:off x="876300" y="4029075"/>
            <a:ext cx="2933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263238"/>
                </a:solidFill>
                <a:latin typeface="Aptos"/>
                <a:ea typeface="Aptos"/>
                <a:cs typeface="Aptos"/>
              </a:defRPr>
            </a:pPr>
            <a:r>
              <a:rPr sz="1275" b="0">
                <a:solidFill>
                  <a:srgbClr val="263238"/>
                </a:solidFill>
                <a:latin typeface="Aptos"/>
                <a:ea typeface="Aptos"/>
                <a:cs typeface="Aptos"/>
              </a:rPr>
              <a:t>Maharashtra (71) and Karnataka (69) have the highest counts.</a:t>
            </a:r>
          </a:p>
        </p:txBody>
      </p:sp>
      <p:sp>
        <p:nvSpPr>
          <p:cNvPr id="24" name="">
            <a:extLst xmlns:a="http://schemas.openxmlformats.org/drawingml/2006/main">
              <a:ext uri="{FF2B5EF4-FFF2-40B4-BE49-F238E27FC236}">
                <a16:creationId xmlns:a16="http://schemas.microsoft.com/office/drawing/2014/main" id="{AB0C90BB-B9C8-42E5-9B7B-4CD300021D4E}"/>
              </a:ext>
            </a:extLst>
          </p:cNvPr>
          <p:cNvSpPr>
            <a:spLocks xmlns:a="http://schemas.openxmlformats.org/drawingml/2006/main" noGrp="1"/>
          </p:cNvSpPr>
          <p:nvPr/>
        </p:nvSpPr>
        <p:spPr>
          <a:xfrm xmlns:a="http://schemas.openxmlformats.org/drawingml/2006/main">
            <a:off x="4286250" y="3505200"/>
            <a:ext cx="331470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DCE5EA"/>
            </a:solidFill>
          </a:ln>
        </p:spPr>
      </p:sp>
      <p:sp>
        <p:nvSpPr>
          <p:cNvPr id="25" name="">
            <a:extLst xmlns:a="http://schemas.openxmlformats.org/drawingml/2006/main">
              <a:ext uri="{FF2B5EF4-FFF2-40B4-BE49-F238E27FC236}">
                <a16:creationId xmlns:a16="http://schemas.microsoft.com/office/drawing/2014/main" id="{C53C7854-2BAB-4099-A086-587377217ACF}"/>
              </a:ext>
            </a:extLst>
          </p:cNvPr>
          <p:cNvSpPr>
            <a:spLocks xmlns:a="http://schemas.openxmlformats.org/drawingml/2006/main" noGrp="1"/>
          </p:cNvSpPr>
          <p:nvPr/>
        </p:nvSpPr>
        <p:spPr>
          <a:xfrm xmlns:a="http://schemas.openxmlformats.org/drawingml/2006/main">
            <a:off x="4286250" y="3505200"/>
            <a:ext cx="47625" cy="14478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B39FEBB-B77D-45ED-8CD3-1247263AA416}"/>
              </a:ext>
            </a:extLst>
          </p:cNvPr>
          <p:cNvSpPr>
            <a:spLocks xmlns:a="http://schemas.openxmlformats.org/drawingml/2006/main" noGrp="1"/>
          </p:cNvSpPr>
          <p:nvPr/>
        </p:nvSpPr>
        <p:spPr>
          <a:xfrm xmlns:a="http://schemas.openxmlformats.org/drawingml/2006/main">
            <a:off x="4476750" y="3676650"/>
            <a:ext cx="2933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defRPr sz="1350" b="1">
                <a:solidFill>
                  <a:srgbClr val="123B5D"/>
                </a:solidFill>
                <a:latin typeface="Aptos"/>
                <a:ea typeface="Aptos"/>
                <a:cs typeface="Aptos"/>
              </a:defRPr>
            </a:pPr>
            <a:r>
              <a:rPr sz="1350" b="1">
                <a:solidFill>
                  <a:srgbClr val="123B5D"/>
                </a:solidFill>
                <a:latin typeface="Aptos"/>
                <a:ea typeface="Aptos"/>
                <a:cs typeface="Aptos"/>
              </a:rPr>
              <a:t>Device mix</a:t>
            </a:r>
          </a:p>
        </p:txBody>
      </p:sp>
      <p:sp>
        <p:nvSpPr>
          <p:cNvPr id="27" name="">
            <a:extLst xmlns:a="http://schemas.openxmlformats.org/drawingml/2006/main">
              <a:ext uri="{FF2B5EF4-FFF2-40B4-BE49-F238E27FC236}">
                <a16:creationId xmlns:a16="http://schemas.microsoft.com/office/drawing/2014/main" id="{2A6AE3F0-BA12-4F8C-B5B1-14692F0C6E52}"/>
              </a:ext>
            </a:extLst>
          </p:cNvPr>
          <p:cNvSpPr>
            <a:spLocks xmlns:a="http://schemas.openxmlformats.org/drawingml/2006/main" noGrp="1"/>
          </p:cNvSpPr>
          <p:nvPr/>
        </p:nvSpPr>
        <p:spPr>
          <a:xfrm xmlns:a="http://schemas.openxmlformats.org/drawingml/2006/main">
            <a:off x="4476750" y="4029075"/>
            <a:ext cx="2933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263238"/>
                </a:solidFill>
                <a:latin typeface="Aptos"/>
                <a:ea typeface="Aptos"/>
                <a:cs typeface="Aptos"/>
              </a:defRPr>
            </a:pPr>
            <a:r>
              <a:rPr sz="1275" b="0">
                <a:solidFill>
                  <a:srgbClr val="263238"/>
                </a:solidFill>
                <a:latin typeface="Aptos"/>
                <a:ea typeface="Aptos"/>
                <a:cs typeface="Aptos"/>
              </a:rPr>
              <a:t>Android represents approximately 75.8% of flagged records.</a:t>
            </a:r>
          </a:p>
        </p:txBody>
      </p:sp>
      <p:sp>
        <p:nvSpPr>
          <p:cNvPr id="28" name="">
            <a:extLst xmlns:a="http://schemas.openxmlformats.org/drawingml/2006/main">
              <a:ext uri="{FF2B5EF4-FFF2-40B4-BE49-F238E27FC236}">
                <a16:creationId xmlns:a16="http://schemas.microsoft.com/office/drawing/2014/main" id="{47512FDD-6D7E-42FC-9C73-B36EFF8CE63F}"/>
              </a:ext>
            </a:extLst>
          </p:cNvPr>
          <p:cNvSpPr>
            <a:spLocks xmlns:a="http://schemas.openxmlformats.org/drawingml/2006/main" noGrp="1"/>
          </p:cNvSpPr>
          <p:nvPr/>
        </p:nvSpPr>
        <p:spPr>
          <a:xfrm xmlns:a="http://schemas.openxmlformats.org/drawingml/2006/main">
            <a:off x="7886700" y="3505200"/>
            <a:ext cx="331470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DCE5EA"/>
            </a:solidFill>
          </a:ln>
        </p:spPr>
      </p:sp>
      <p:sp>
        <p:nvSpPr>
          <p:cNvPr id="29" name="">
            <a:extLst xmlns:a="http://schemas.openxmlformats.org/drawingml/2006/main">
              <a:ext uri="{FF2B5EF4-FFF2-40B4-BE49-F238E27FC236}">
                <a16:creationId xmlns:a16="http://schemas.microsoft.com/office/drawing/2014/main" id="{FE166380-E320-4CA5-8C6D-D8626B4B568F}"/>
              </a:ext>
            </a:extLst>
          </p:cNvPr>
          <p:cNvSpPr>
            <a:spLocks xmlns:a="http://schemas.openxmlformats.org/drawingml/2006/main" noGrp="1"/>
          </p:cNvSpPr>
          <p:nvPr/>
        </p:nvSpPr>
        <p:spPr>
          <a:xfrm xmlns:a="http://schemas.openxmlformats.org/drawingml/2006/main">
            <a:off x="7886700" y="3505200"/>
            <a:ext cx="47625" cy="1447800"/>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E84B5CF3-7F04-46AF-B55A-7AE9B891FD8C}"/>
              </a:ext>
            </a:extLst>
          </p:cNvPr>
          <p:cNvSpPr>
            <a:spLocks xmlns:a="http://schemas.openxmlformats.org/drawingml/2006/main" noGrp="1"/>
          </p:cNvSpPr>
          <p:nvPr/>
        </p:nvSpPr>
        <p:spPr>
          <a:xfrm xmlns:a="http://schemas.openxmlformats.org/drawingml/2006/main">
            <a:off x="8077200" y="3676650"/>
            <a:ext cx="2933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defRPr sz="1350" b="1">
                <a:solidFill>
                  <a:srgbClr val="D64545"/>
                </a:solidFill>
                <a:latin typeface="Aptos"/>
                <a:ea typeface="Aptos"/>
                <a:cs typeface="Aptos"/>
              </a:defRPr>
            </a:pPr>
            <a:r>
              <a:rPr sz="1350" b="1">
                <a:solidFill>
                  <a:srgbClr val="D64545"/>
                </a:solidFill>
                <a:latin typeface="Aptos"/>
                <a:ea typeface="Aptos"/>
                <a:cs typeface="Aptos"/>
              </a:rPr>
              <a:t>Value share</a:t>
            </a:r>
          </a:p>
        </p:txBody>
      </p:sp>
      <p:sp>
        <p:nvSpPr>
          <p:cNvPr id="31" name="">
            <a:extLst xmlns:a="http://schemas.openxmlformats.org/drawingml/2006/main">
              <a:ext uri="{FF2B5EF4-FFF2-40B4-BE49-F238E27FC236}">
                <a16:creationId xmlns:a16="http://schemas.microsoft.com/office/drawing/2014/main" id="{407CB57D-D1C0-4BD0-86DE-4D9553531DFB}"/>
              </a:ext>
            </a:extLst>
          </p:cNvPr>
          <p:cNvSpPr>
            <a:spLocks xmlns:a="http://schemas.openxmlformats.org/drawingml/2006/main" noGrp="1"/>
          </p:cNvSpPr>
          <p:nvPr/>
        </p:nvSpPr>
        <p:spPr>
          <a:xfrm xmlns:a="http://schemas.openxmlformats.org/drawingml/2006/main">
            <a:off x="8077200" y="4029075"/>
            <a:ext cx="2933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263238"/>
                </a:solidFill>
                <a:latin typeface="Aptos"/>
                <a:ea typeface="Aptos"/>
                <a:cs typeface="Aptos"/>
              </a:defRPr>
            </a:pPr>
            <a:r>
              <a:rPr sz="1275" b="0">
                <a:solidFill>
                  <a:srgbClr val="263238"/>
                </a:solidFill>
                <a:latin typeface="Aptos"/>
                <a:ea typeface="Aptos"/>
                <a:cs typeface="Aptos"/>
              </a:rPr>
              <a:t>Fraud amount rate (0.219%) is above fraud rate (0.192%).</a:t>
            </a:r>
          </a:p>
        </p:txBody>
      </p:sp>
      <p:sp>
        <p:nvSpPr>
          <p:cNvPr id="32" name="">
            <a:extLst xmlns:a="http://schemas.openxmlformats.org/drawingml/2006/main">
              <a:ext uri="{FF2B5EF4-FFF2-40B4-BE49-F238E27FC236}">
                <a16:creationId xmlns:a16="http://schemas.microsoft.com/office/drawing/2014/main" id="{5CC381D4-2388-49A0-9ED0-669CA1BBDDB4}"/>
              </a:ext>
            </a:extLst>
          </p:cNvPr>
          <p:cNvSpPr>
            <a:spLocks xmlns:a="http://schemas.openxmlformats.org/drawingml/2006/main" noGrp="1"/>
          </p:cNvSpPr>
          <p:nvPr/>
        </p:nvSpPr>
        <p:spPr>
          <a:xfrm xmlns:a="http://schemas.openxmlformats.org/drawingml/2006/main">
            <a:off x="704850" y="54768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61727E"/>
                </a:solidFill>
                <a:latin typeface="Aptos"/>
                <a:ea typeface="Aptos"/>
                <a:cs typeface="Aptos"/>
              </a:defRPr>
            </a:pPr>
            <a:r>
              <a:rPr sz="1125" b="0">
                <a:solidFill>
                  <a:srgbClr val="61727E"/>
                </a:solidFill>
                <a:latin typeface="Aptos"/>
                <a:ea typeface="Aptos"/>
                <a:cs typeface="Aptos"/>
              </a:rPr>
              <a:t>Concentrations describe flagged records in this dataset; they do not establish that a category, state or device is unsafe.</a:t>
            </a:r>
          </a:p>
        </p:txBody>
      </p:sp>
    </p:spTree>
    <p:extLst>
      <p:ext uri="{BB962C8B-B14F-4D97-AF65-F5344CB8AC3E}">
        <p14:creationId xmlns:p14="http://schemas.microsoft.com/office/powerpoint/2010/main" val="542470199"/>
      </p:ext>
    </p:extLst>
  </p:cSld>
</p:sld>
</file>

<file path=ppt/slides/slide16.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13E6B09-3901-407F-97F2-95F5C488168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840D09-1BEE-4CA6-837F-74A84D9E20A7}"/>
              </a:ext>
            </a:extLst>
          </p:cNvPr>
          <p:cNvSpPr>
            <a:spLocks xmlns:a="http://schemas.openxmlformats.org/drawingml/2006/main" noGrp="1"/>
          </p:cNvSpPr>
          <p:nvPr/>
        </p:nvSpPr>
        <p:spPr>
          <a:xfrm xmlns:a="http://schemas.openxmlformats.org/drawingml/2006/main">
            <a:off x="590550" y="266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06  |  ACTION</a:t>
            </a:r>
          </a:p>
        </p:txBody>
      </p:sp>
      <p:sp>
        <p:nvSpPr>
          <p:cNvPr id="3" name="">
            <a:extLst xmlns:a="http://schemas.openxmlformats.org/drawingml/2006/main">
              <a:ext uri="{FF2B5EF4-FFF2-40B4-BE49-F238E27FC236}">
                <a16:creationId xmlns:a16="http://schemas.microsoft.com/office/drawing/2014/main" id="{5AB92F22-08AA-4D36-A482-113104DD4382}"/>
              </a:ext>
            </a:extLst>
          </p:cNvPr>
          <p:cNvSpPr>
            <a:spLocks xmlns:a="http://schemas.openxmlformats.org/drawingml/2006/main" noGrp="1"/>
          </p:cNvSpPr>
          <p:nvPr/>
        </p:nvSpPr>
        <p:spPr>
          <a:xfrm xmlns:a="http://schemas.openxmlformats.org/drawingml/2006/main">
            <a:off x="590550" y="600075"/>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23B5D"/>
                </a:solidFill>
                <a:latin typeface="Aptos"/>
                <a:ea typeface="Aptos"/>
                <a:cs typeface="Aptos"/>
              </a:defRPr>
            </a:pPr>
            <a:r>
              <a:rPr sz="2550" b="1">
                <a:solidFill>
                  <a:srgbClr val="123B5D"/>
                </a:solidFill>
                <a:latin typeface="Aptos"/>
                <a:ea typeface="Aptos"/>
                <a:cs typeface="Aptos"/>
              </a:rPr>
              <a:t>Business recommendations</a:t>
            </a:r>
          </a:p>
        </p:txBody>
      </p:sp>
      <p:sp>
        <p:nvSpPr>
          <p:cNvPr id="4" name="">
            <a:extLst xmlns:a="http://schemas.openxmlformats.org/drawingml/2006/main">
              <a:ext uri="{FF2B5EF4-FFF2-40B4-BE49-F238E27FC236}">
                <a16:creationId xmlns:a16="http://schemas.microsoft.com/office/drawing/2014/main" id="{8093A140-15C5-4FD2-BC9A-176D89E72B6D}"/>
              </a:ext>
            </a:extLst>
          </p:cNvPr>
          <p:cNvSpPr>
            <a:spLocks xmlns:a="http://schemas.openxmlformats.org/drawingml/2006/main" noGrp="1"/>
          </p:cNvSpPr>
          <p:nvPr/>
        </p:nvSpPr>
        <p:spPr>
          <a:xfrm xmlns:a="http://schemas.openxmlformats.org/drawingml/2006/main">
            <a:off x="590550" y="6419850"/>
            <a:ext cx="10991850" cy="9525"/>
          </a:xfrm>
          <a:prstGeom xmlns:a="http://schemas.openxmlformats.org/drawingml/2006/main" prst="rect">
            <a:avLst/>
          </a:prstGeom>
          <a:solidFill xmlns:a="http://schemas.openxmlformats.org/drawingml/2006/main">
            <a:srgbClr val="DC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9EA5798-CDC2-4276-8A04-4034271FB80F}"/>
              </a:ext>
            </a:extLst>
          </p:cNvPr>
          <p:cNvSpPr>
            <a:spLocks xmlns:a="http://schemas.openxmlformats.org/drawingml/2006/main" noGrp="1"/>
          </p:cNvSpPr>
          <p:nvPr/>
        </p:nvSpPr>
        <p:spPr>
          <a:xfrm xmlns:a="http://schemas.openxmlformats.org/drawingml/2006/main">
            <a:off x="59055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ANUDIP FOUNDATION  •  DATA ANALYTICS PROJECT</a:t>
            </a:r>
          </a:p>
        </p:txBody>
      </p:sp>
      <p:sp>
        <p:nvSpPr>
          <p:cNvPr id="6" name="">
            <a:extLst xmlns:a="http://schemas.openxmlformats.org/drawingml/2006/main">
              <a:ext uri="{FF2B5EF4-FFF2-40B4-BE49-F238E27FC236}">
                <a16:creationId xmlns:a16="http://schemas.microsoft.com/office/drawing/2014/main" id="{BB3BC397-541D-47A5-AEFC-018CE2913F1A}"/>
              </a:ext>
            </a:extLst>
          </p:cNvPr>
          <p:cNvSpPr>
            <a:spLocks xmlns:a="http://schemas.openxmlformats.org/drawingml/2006/main" noGrp="1"/>
          </p:cNvSpPr>
          <p:nvPr/>
        </p:nvSpPr>
        <p:spPr>
          <a:xfrm xmlns:a="http://schemas.openxmlformats.org/drawingml/2006/main">
            <a:off x="112014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1">
                <a:solidFill>
                  <a:srgbClr val="61727E"/>
                </a:solidFill>
                <a:latin typeface="Aptos"/>
                <a:ea typeface="Aptos"/>
                <a:cs typeface="Aptos"/>
              </a:defRPr>
            </a:pPr>
            <a:r>
              <a:rPr sz="900" b="1">
                <a:solidFill>
                  <a:srgbClr val="61727E"/>
                </a:solidFill>
                <a:latin typeface="Aptos"/>
                <a:ea typeface="Aptos"/>
                <a:cs typeface="Aptos"/>
              </a:rPr>
              <a:t>16</a:t>
            </a:r>
          </a:p>
        </p:txBody>
      </p:sp>
      <p:sp>
        <p:nvSpPr>
          <p:cNvPr id="7" name="">
            <a:extLst xmlns:a="http://schemas.openxmlformats.org/drawingml/2006/main">
              <a:ext uri="{FF2B5EF4-FFF2-40B4-BE49-F238E27FC236}">
                <a16:creationId xmlns:a16="http://schemas.microsoft.com/office/drawing/2014/main" id="{ECDFF8AC-CD72-4318-918F-BDB276BB3881}"/>
              </a:ext>
            </a:extLst>
          </p:cNvPr>
          <p:cNvSpPr>
            <a:spLocks xmlns:a="http://schemas.openxmlformats.org/drawingml/2006/main" noGrp="1"/>
          </p:cNvSpPr>
          <p:nvPr/>
        </p:nvSpPr>
        <p:spPr>
          <a:xfrm xmlns:a="http://schemas.openxmlformats.org/drawingml/2006/main">
            <a:off x="723900" y="1685925"/>
            <a:ext cx="323850" cy="32385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C0B11E0-F116-4307-83FD-F787DF28B5FD}"/>
              </a:ext>
            </a:extLst>
          </p:cNvPr>
          <p:cNvSpPr>
            <a:spLocks xmlns:a="http://schemas.openxmlformats.org/drawingml/2006/main" noGrp="1"/>
          </p:cNvSpPr>
          <p:nvPr/>
        </p:nvSpPr>
        <p:spPr>
          <a:xfrm xmlns:a="http://schemas.openxmlformats.org/drawingml/2006/main">
            <a:off x="723900" y="1695450"/>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B0F6BF47-ED5E-4A3F-A4ED-9532AF845EF2}"/>
              </a:ext>
            </a:extLst>
          </p:cNvPr>
          <p:cNvSpPr>
            <a:spLocks xmlns:a="http://schemas.openxmlformats.org/drawingml/2006/main" noGrp="1"/>
          </p:cNvSpPr>
          <p:nvPr/>
        </p:nvSpPr>
        <p:spPr>
          <a:xfrm xmlns:a="http://schemas.openxmlformats.org/drawingml/2006/main">
            <a:off x="1219200" y="16287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defRPr sz="1425" b="1">
                <a:solidFill>
                  <a:srgbClr val="123B5D"/>
                </a:solidFill>
                <a:latin typeface="Aptos"/>
                <a:ea typeface="Aptos"/>
                <a:cs typeface="Aptos"/>
              </a:defRPr>
            </a:pPr>
            <a:r>
              <a:rPr sz="1425" b="1">
                <a:solidFill>
                  <a:srgbClr val="123B5D"/>
                </a:solidFill>
                <a:latin typeface="Aptos"/>
                <a:ea typeface="Aptos"/>
                <a:cs typeface="Aptos"/>
              </a:rPr>
              <a:t>P2P monitoring</a:t>
            </a:r>
          </a:p>
        </p:txBody>
      </p:sp>
      <p:sp>
        <p:nvSpPr>
          <p:cNvPr id="10" name="">
            <a:extLst xmlns:a="http://schemas.openxmlformats.org/drawingml/2006/main">
              <a:ext uri="{FF2B5EF4-FFF2-40B4-BE49-F238E27FC236}">
                <a16:creationId xmlns:a16="http://schemas.microsoft.com/office/drawing/2014/main" id="{3D606F94-571D-47A3-B27C-275BA5F9E0CF}"/>
              </a:ext>
            </a:extLst>
          </p:cNvPr>
          <p:cNvSpPr>
            <a:spLocks xmlns:a="http://schemas.openxmlformats.org/drawingml/2006/main" noGrp="1"/>
          </p:cNvSpPr>
          <p:nvPr/>
        </p:nvSpPr>
        <p:spPr>
          <a:xfrm xmlns:a="http://schemas.openxmlformats.org/drawingml/2006/main">
            <a:off x="3619500" y="1628775"/>
            <a:ext cx="7334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63238"/>
                </a:solidFill>
                <a:latin typeface="Aptos"/>
                <a:ea typeface="Aptos"/>
                <a:cs typeface="Aptos"/>
              </a:defRPr>
            </a:pPr>
            <a:r>
              <a:rPr sz="1350" b="0">
                <a:solidFill>
                  <a:srgbClr val="263238"/>
                </a:solidFill>
                <a:latin typeface="Aptos"/>
                <a:ea typeface="Aptos"/>
                <a:cs typeface="Aptos"/>
              </a:rPr>
              <a:t>Strengthen risk monitoring for P2P flows.</a:t>
            </a:r>
          </a:p>
        </p:txBody>
      </p:sp>
      <p:sp>
        <p:nvSpPr>
          <p:cNvPr id="11" name="">
            <a:extLst xmlns:a="http://schemas.openxmlformats.org/drawingml/2006/main">
              <a:ext uri="{FF2B5EF4-FFF2-40B4-BE49-F238E27FC236}">
                <a16:creationId xmlns:a16="http://schemas.microsoft.com/office/drawing/2014/main" id="{1EEE22C7-2BB3-4551-A6CD-1D3A26616C15}"/>
              </a:ext>
            </a:extLst>
          </p:cNvPr>
          <p:cNvSpPr>
            <a:spLocks xmlns:a="http://schemas.openxmlformats.org/drawingml/2006/main" noGrp="1"/>
          </p:cNvSpPr>
          <p:nvPr/>
        </p:nvSpPr>
        <p:spPr>
          <a:xfrm xmlns:a="http://schemas.openxmlformats.org/drawingml/2006/main">
            <a:off x="723900" y="2505075"/>
            <a:ext cx="323850" cy="32385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40E9016-3DAD-4DB0-969B-1F0642F3A6E9}"/>
              </a:ext>
            </a:extLst>
          </p:cNvPr>
          <p:cNvSpPr>
            <a:spLocks xmlns:a="http://schemas.openxmlformats.org/drawingml/2006/main" noGrp="1"/>
          </p:cNvSpPr>
          <p:nvPr/>
        </p:nvSpPr>
        <p:spPr>
          <a:xfrm xmlns:a="http://schemas.openxmlformats.org/drawingml/2006/main">
            <a:off x="723900" y="2514600"/>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560A5ACD-8049-4ED7-B9B3-470BFC150C8F}"/>
              </a:ext>
            </a:extLst>
          </p:cNvPr>
          <p:cNvSpPr>
            <a:spLocks xmlns:a="http://schemas.openxmlformats.org/drawingml/2006/main" noGrp="1"/>
          </p:cNvSpPr>
          <p:nvPr/>
        </p:nvSpPr>
        <p:spPr>
          <a:xfrm xmlns:a="http://schemas.openxmlformats.org/drawingml/2006/main">
            <a:off x="1219200" y="244792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defRPr sz="1425" b="1">
                <a:solidFill>
                  <a:srgbClr val="123B5D"/>
                </a:solidFill>
                <a:latin typeface="Aptos"/>
                <a:ea typeface="Aptos"/>
                <a:cs typeface="Aptos"/>
              </a:defRPr>
            </a:pPr>
            <a:r>
              <a:rPr sz="1425" b="1">
                <a:solidFill>
                  <a:srgbClr val="123B5D"/>
                </a:solidFill>
                <a:latin typeface="Aptos"/>
                <a:ea typeface="Aptos"/>
                <a:cs typeface="Aptos"/>
              </a:rPr>
              <a:t>P2P + P2M controls</a:t>
            </a:r>
          </a:p>
        </p:txBody>
      </p:sp>
      <p:sp>
        <p:nvSpPr>
          <p:cNvPr id="14" name="">
            <a:extLst xmlns:a="http://schemas.openxmlformats.org/drawingml/2006/main">
              <a:ext uri="{FF2B5EF4-FFF2-40B4-BE49-F238E27FC236}">
                <a16:creationId xmlns:a16="http://schemas.microsoft.com/office/drawing/2014/main" id="{AB3C6835-5B27-4C0E-88CD-056B2EAF9E05}"/>
              </a:ext>
            </a:extLst>
          </p:cNvPr>
          <p:cNvSpPr>
            <a:spLocks xmlns:a="http://schemas.openxmlformats.org/drawingml/2006/main" noGrp="1"/>
          </p:cNvSpPr>
          <p:nvPr/>
        </p:nvSpPr>
        <p:spPr>
          <a:xfrm xmlns:a="http://schemas.openxmlformats.org/drawingml/2006/main">
            <a:off x="3619500" y="2447925"/>
            <a:ext cx="7334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63238"/>
                </a:solidFill>
                <a:latin typeface="Aptos"/>
                <a:ea typeface="Aptos"/>
                <a:cs typeface="Aptos"/>
              </a:defRPr>
            </a:pPr>
            <a:r>
              <a:rPr sz="1350" b="0">
                <a:solidFill>
                  <a:srgbClr val="263238"/>
                </a:solidFill>
                <a:latin typeface="Aptos"/>
                <a:ea typeface="Aptos"/>
                <a:cs typeface="Aptos"/>
              </a:rPr>
              <a:t>Apply additional risk checks to both flows.</a:t>
            </a:r>
          </a:p>
        </p:txBody>
      </p:sp>
      <p:sp>
        <p:nvSpPr>
          <p:cNvPr id="15" name="">
            <a:extLst xmlns:a="http://schemas.openxmlformats.org/drawingml/2006/main">
              <a:ext uri="{FF2B5EF4-FFF2-40B4-BE49-F238E27FC236}">
                <a16:creationId xmlns:a16="http://schemas.microsoft.com/office/drawing/2014/main" id="{733854C7-D19C-4CFB-B841-3019103395FC}"/>
              </a:ext>
            </a:extLst>
          </p:cNvPr>
          <p:cNvSpPr>
            <a:spLocks xmlns:a="http://schemas.openxmlformats.org/drawingml/2006/main" noGrp="1"/>
          </p:cNvSpPr>
          <p:nvPr/>
        </p:nvSpPr>
        <p:spPr>
          <a:xfrm xmlns:a="http://schemas.openxmlformats.org/drawingml/2006/main">
            <a:off x="723900" y="3324225"/>
            <a:ext cx="323850" cy="32385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CF667B8-8316-4D42-ACC5-8AD6505379C1}"/>
              </a:ext>
            </a:extLst>
          </p:cNvPr>
          <p:cNvSpPr>
            <a:spLocks xmlns:a="http://schemas.openxmlformats.org/drawingml/2006/main" noGrp="1"/>
          </p:cNvSpPr>
          <p:nvPr/>
        </p:nvSpPr>
        <p:spPr>
          <a:xfrm xmlns:a="http://schemas.openxmlformats.org/drawingml/2006/main">
            <a:off x="723900" y="3333750"/>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17" name="">
            <a:extLst xmlns:a="http://schemas.openxmlformats.org/drawingml/2006/main">
              <a:ext uri="{FF2B5EF4-FFF2-40B4-BE49-F238E27FC236}">
                <a16:creationId xmlns:a16="http://schemas.microsoft.com/office/drawing/2014/main" id="{F5C56B62-7CA6-4189-A266-E5243ABD8DBA}"/>
              </a:ext>
            </a:extLst>
          </p:cNvPr>
          <p:cNvSpPr>
            <a:spLocks xmlns:a="http://schemas.openxmlformats.org/drawingml/2006/main" noGrp="1"/>
          </p:cNvSpPr>
          <p:nvPr/>
        </p:nvSpPr>
        <p:spPr>
          <a:xfrm xmlns:a="http://schemas.openxmlformats.org/drawingml/2006/main">
            <a:off x="1219200" y="32670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defRPr sz="1425" b="1">
                <a:solidFill>
                  <a:srgbClr val="123B5D"/>
                </a:solidFill>
                <a:latin typeface="Aptos"/>
                <a:ea typeface="Aptos"/>
                <a:cs typeface="Aptos"/>
              </a:defRPr>
            </a:pPr>
            <a:r>
              <a:rPr sz="1425" b="1">
                <a:solidFill>
                  <a:srgbClr val="123B5D"/>
                </a:solidFill>
                <a:latin typeface="Aptos"/>
                <a:ea typeface="Aptos"/>
                <a:cs typeface="Aptos"/>
              </a:rPr>
              <a:t>Merchant focus</a:t>
            </a:r>
          </a:p>
        </p:txBody>
      </p:sp>
      <p:sp>
        <p:nvSpPr>
          <p:cNvPr id="18" name="">
            <a:extLst xmlns:a="http://schemas.openxmlformats.org/drawingml/2006/main">
              <a:ext uri="{FF2B5EF4-FFF2-40B4-BE49-F238E27FC236}">
                <a16:creationId xmlns:a16="http://schemas.microsoft.com/office/drawing/2014/main" id="{9E3C5B19-7946-4DD2-BF25-5FE6E1B031F8}"/>
              </a:ext>
            </a:extLst>
          </p:cNvPr>
          <p:cNvSpPr>
            <a:spLocks xmlns:a="http://schemas.openxmlformats.org/drawingml/2006/main" noGrp="1"/>
          </p:cNvSpPr>
          <p:nvPr/>
        </p:nvSpPr>
        <p:spPr>
          <a:xfrm xmlns:a="http://schemas.openxmlformats.org/drawingml/2006/main">
            <a:off x="3619500" y="3267075"/>
            <a:ext cx="7334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63238"/>
                </a:solidFill>
                <a:latin typeface="Aptos"/>
                <a:ea typeface="Aptos"/>
                <a:cs typeface="Aptos"/>
              </a:defRPr>
            </a:pPr>
            <a:r>
              <a:rPr sz="1350" b="0">
                <a:solidFill>
                  <a:srgbClr val="263238"/>
                </a:solidFill>
                <a:latin typeface="Aptos"/>
                <a:ea typeface="Aptos"/>
                <a:cs typeface="Aptos"/>
              </a:rPr>
              <a:t>Prioritize monitoring questions for Grocery and Food.</a:t>
            </a:r>
          </a:p>
        </p:txBody>
      </p:sp>
      <p:sp>
        <p:nvSpPr>
          <p:cNvPr id="19" name="">
            <a:extLst xmlns:a="http://schemas.openxmlformats.org/drawingml/2006/main">
              <a:ext uri="{FF2B5EF4-FFF2-40B4-BE49-F238E27FC236}">
                <a16:creationId xmlns:a16="http://schemas.microsoft.com/office/drawing/2014/main" id="{3E1199C9-FA64-4984-8E06-B9E416F9C4E5}"/>
              </a:ext>
            </a:extLst>
          </p:cNvPr>
          <p:cNvSpPr>
            <a:spLocks xmlns:a="http://schemas.openxmlformats.org/drawingml/2006/main" noGrp="1"/>
          </p:cNvSpPr>
          <p:nvPr/>
        </p:nvSpPr>
        <p:spPr>
          <a:xfrm xmlns:a="http://schemas.openxmlformats.org/drawingml/2006/main">
            <a:off x="723900" y="4143375"/>
            <a:ext cx="323850" cy="32385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335514D-1894-4FC1-A7D3-60DE7000912B}"/>
              </a:ext>
            </a:extLst>
          </p:cNvPr>
          <p:cNvSpPr>
            <a:spLocks xmlns:a="http://schemas.openxmlformats.org/drawingml/2006/main" noGrp="1"/>
          </p:cNvSpPr>
          <p:nvPr/>
        </p:nvSpPr>
        <p:spPr>
          <a:xfrm xmlns:a="http://schemas.openxmlformats.org/drawingml/2006/main">
            <a:off x="723900" y="4152900"/>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21" name="">
            <a:extLst xmlns:a="http://schemas.openxmlformats.org/drawingml/2006/main">
              <a:ext uri="{FF2B5EF4-FFF2-40B4-BE49-F238E27FC236}">
                <a16:creationId xmlns:a16="http://schemas.microsoft.com/office/drawing/2014/main" id="{297FFC2C-B4B7-4825-A512-AC46311618CF}"/>
              </a:ext>
            </a:extLst>
          </p:cNvPr>
          <p:cNvSpPr>
            <a:spLocks xmlns:a="http://schemas.openxmlformats.org/drawingml/2006/main" noGrp="1"/>
          </p:cNvSpPr>
          <p:nvPr/>
        </p:nvSpPr>
        <p:spPr>
          <a:xfrm xmlns:a="http://schemas.openxmlformats.org/drawingml/2006/main">
            <a:off x="1219200" y="408622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defRPr sz="1425" b="1">
                <a:solidFill>
                  <a:srgbClr val="123B5D"/>
                </a:solidFill>
                <a:latin typeface="Aptos"/>
                <a:ea typeface="Aptos"/>
                <a:cs typeface="Aptos"/>
              </a:defRPr>
            </a:pPr>
            <a:r>
              <a:rPr sz="1425" b="1">
                <a:solidFill>
                  <a:srgbClr val="123B5D"/>
                </a:solidFill>
                <a:latin typeface="Aptos"/>
                <a:ea typeface="Aptos"/>
                <a:cs typeface="Aptos"/>
              </a:rPr>
              <a:t>Device signals</a:t>
            </a:r>
          </a:p>
        </p:txBody>
      </p:sp>
      <p:sp>
        <p:nvSpPr>
          <p:cNvPr id="22" name="">
            <a:extLst xmlns:a="http://schemas.openxmlformats.org/drawingml/2006/main">
              <a:ext uri="{FF2B5EF4-FFF2-40B4-BE49-F238E27FC236}">
                <a16:creationId xmlns:a16="http://schemas.microsoft.com/office/drawing/2014/main" id="{7D3A0A63-B45B-4909-A4FC-324F677B0956}"/>
              </a:ext>
            </a:extLst>
          </p:cNvPr>
          <p:cNvSpPr>
            <a:spLocks xmlns:a="http://schemas.openxmlformats.org/drawingml/2006/main" noGrp="1"/>
          </p:cNvSpPr>
          <p:nvPr/>
        </p:nvSpPr>
        <p:spPr>
          <a:xfrm xmlns:a="http://schemas.openxmlformats.org/drawingml/2006/main">
            <a:off x="3619500" y="4086225"/>
            <a:ext cx="7334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63238"/>
                </a:solidFill>
                <a:latin typeface="Aptos"/>
                <a:ea typeface="Aptos"/>
                <a:cs typeface="Aptos"/>
              </a:defRPr>
            </a:pPr>
            <a:r>
              <a:rPr sz="1350" b="0">
                <a:solidFill>
                  <a:srgbClr val="263238"/>
                </a:solidFill>
                <a:latin typeface="Aptos"/>
                <a:ea typeface="Aptos"/>
                <a:cs typeface="Aptos"/>
              </a:rPr>
              <a:t>Use device information as one input to risk scoring; do not block Android users.</a:t>
            </a:r>
          </a:p>
        </p:txBody>
      </p:sp>
      <p:sp>
        <p:nvSpPr>
          <p:cNvPr id="23" name="">
            <a:extLst xmlns:a="http://schemas.openxmlformats.org/drawingml/2006/main">
              <a:ext uri="{FF2B5EF4-FFF2-40B4-BE49-F238E27FC236}">
                <a16:creationId xmlns:a16="http://schemas.microsoft.com/office/drawing/2014/main" id="{40003849-F7B2-4383-A90A-2AD089645032}"/>
              </a:ext>
            </a:extLst>
          </p:cNvPr>
          <p:cNvSpPr>
            <a:spLocks xmlns:a="http://schemas.openxmlformats.org/drawingml/2006/main" noGrp="1"/>
          </p:cNvSpPr>
          <p:nvPr/>
        </p:nvSpPr>
        <p:spPr>
          <a:xfrm xmlns:a="http://schemas.openxmlformats.org/drawingml/2006/main">
            <a:off x="723900" y="4962525"/>
            <a:ext cx="323850" cy="323850"/>
          </a:xfrm>
          <a:prstGeom xmlns:a="http://schemas.openxmlformats.org/drawingml/2006/main" prst="ellipse">
            <a:avLst/>
          </a:prstGeom>
          <a:solidFill xmlns:a="http://schemas.openxmlformats.org/drawingml/2006/main">
            <a:srgbClr val="00A6A6"/>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CEB0432-DC49-4E30-9141-2A69A6B0F645}"/>
              </a:ext>
            </a:extLst>
          </p:cNvPr>
          <p:cNvSpPr>
            <a:spLocks xmlns:a="http://schemas.openxmlformats.org/drawingml/2006/main" noGrp="1"/>
          </p:cNvSpPr>
          <p:nvPr/>
        </p:nvSpPr>
        <p:spPr>
          <a:xfrm xmlns:a="http://schemas.openxmlformats.org/drawingml/2006/main">
            <a:off x="723900" y="4972050"/>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BE1A3D8A-A686-48FB-815E-228DDF55CE2E}"/>
              </a:ext>
            </a:extLst>
          </p:cNvPr>
          <p:cNvSpPr>
            <a:spLocks xmlns:a="http://schemas.openxmlformats.org/drawingml/2006/main" noGrp="1"/>
          </p:cNvSpPr>
          <p:nvPr/>
        </p:nvSpPr>
        <p:spPr>
          <a:xfrm xmlns:a="http://schemas.openxmlformats.org/drawingml/2006/main">
            <a:off x="1219200" y="49053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defRPr sz="1425" b="1">
                <a:solidFill>
                  <a:srgbClr val="123B5D"/>
                </a:solidFill>
                <a:latin typeface="Aptos"/>
                <a:ea typeface="Aptos"/>
                <a:cs typeface="Aptos"/>
              </a:defRPr>
            </a:pPr>
            <a:r>
              <a:rPr sz="1425" b="1">
                <a:solidFill>
                  <a:srgbClr val="123B5D"/>
                </a:solidFill>
                <a:latin typeface="Aptos"/>
                <a:ea typeface="Aptos"/>
                <a:cs typeface="Aptos"/>
              </a:rPr>
              <a:t>Risk-based review</a:t>
            </a:r>
          </a:p>
        </p:txBody>
      </p:sp>
      <p:sp>
        <p:nvSpPr>
          <p:cNvPr id="26" name="">
            <a:extLst xmlns:a="http://schemas.openxmlformats.org/drawingml/2006/main">
              <a:ext uri="{FF2B5EF4-FFF2-40B4-BE49-F238E27FC236}">
                <a16:creationId xmlns:a16="http://schemas.microsoft.com/office/drawing/2014/main" id="{C4DFD05A-751D-4FC0-8D19-CC4F239B8E88}"/>
              </a:ext>
            </a:extLst>
          </p:cNvPr>
          <p:cNvSpPr>
            <a:spLocks xmlns:a="http://schemas.openxmlformats.org/drawingml/2006/main" noGrp="1"/>
          </p:cNvSpPr>
          <p:nvPr/>
        </p:nvSpPr>
        <p:spPr>
          <a:xfrm xmlns:a="http://schemas.openxmlformats.org/drawingml/2006/main">
            <a:off x="3619500" y="4905375"/>
            <a:ext cx="7334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63238"/>
                </a:solidFill>
                <a:latin typeface="Aptos"/>
                <a:ea typeface="Aptos"/>
                <a:cs typeface="Aptos"/>
              </a:defRPr>
            </a:pPr>
            <a:r>
              <a:rPr sz="1350" b="0">
                <a:solidFill>
                  <a:srgbClr val="263238"/>
                </a:solidFill>
                <a:latin typeface="Aptos"/>
                <a:ea typeface="Aptos"/>
                <a:cs typeface="Aptos"/>
              </a:rPr>
              <a:t>Target monitoring rather than treating every transaction as high risk.</a:t>
            </a:r>
          </a:p>
        </p:txBody>
      </p:sp>
      <p:sp>
        <p:nvSpPr>
          <p:cNvPr id="27" name="">
            <a:extLst xmlns:a="http://schemas.openxmlformats.org/drawingml/2006/main">
              <a:ext uri="{FF2B5EF4-FFF2-40B4-BE49-F238E27FC236}">
                <a16:creationId xmlns:a16="http://schemas.microsoft.com/office/drawing/2014/main" id="{B79E15D3-533A-438B-979C-CF6B231185F8}"/>
              </a:ext>
            </a:extLst>
          </p:cNvPr>
          <p:cNvSpPr>
            <a:spLocks xmlns:a="http://schemas.openxmlformats.org/drawingml/2006/main" noGrp="1"/>
          </p:cNvSpPr>
          <p:nvPr/>
        </p:nvSpPr>
        <p:spPr>
          <a:xfrm xmlns:a="http://schemas.openxmlformats.org/drawingml/2006/main">
            <a:off x="685800" y="5810250"/>
            <a:ext cx="10477500" cy="381000"/>
          </a:xfrm>
          <a:prstGeom xmlns:a="http://schemas.openxmlformats.org/drawingml/2006/main" prst="roundRect">
            <a:avLst>
              <a:gd name="adj" fmla="val 20000"/>
            </a:avLst>
          </a:prstGeom>
          <a:solidFill xmlns:a="http://schemas.openxmlformats.org/drawingml/2006/main">
            <a:srgbClr val="EAF2F6"/>
          </a:solidFill>
          <a:ln xmlns:a="http://schemas.openxmlformats.org/drawingml/2006/main" w="9525">
            <a:solidFill>
              <a:srgbClr val="DCE5EA"/>
            </a:solidFill>
          </a:ln>
        </p:spPr>
      </p:sp>
      <p:sp>
        <p:nvSpPr>
          <p:cNvPr id="28" name="">
            <a:extLst xmlns:a="http://schemas.openxmlformats.org/drawingml/2006/main">
              <a:ext uri="{FF2B5EF4-FFF2-40B4-BE49-F238E27FC236}">
                <a16:creationId xmlns:a16="http://schemas.microsoft.com/office/drawing/2014/main" id="{24626555-7597-48CF-96D9-97D171904BD9}"/>
              </a:ext>
            </a:extLst>
          </p:cNvPr>
          <p:cNvSpPr>
            <a:spLocks xmlns:a="http://schemas.openxmlformats.org/drawingml/2006/main" noGrp="1"/>
          </p:cNvSpPr>
          <p:nvPr/>
        </p:nvSpPr>
        <p:spPr>
          <a:xfrm xmlns:a="http://schemas.openxmlformats.org/drawingml/2006/main">
            <a:off x="876300" y="58388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61727E"/>
                </a:solidFill>
                <a:latin typeface="Aptos"/>
                <a:ea typeface="Aptos"/>
                <a:cs typeface="Aptos"/>
              </a:defRPr>
            </a:pPr>
            <a:r>
              <a:rPr sz="1125" b="0">
                <a:solidFill>
                  <a:srgbClr val="61727E"/>
                </a:solidFill>
                <a:latin typeface="Aptos"/>
                <a:ea typeface="Aptos"/>
                <a:cs typeface="Aptos"/>
              </a:rPr>
              <a:t>Recommendations are hypotheses for review, based on observed dataset concentrations.</a:t>
            </a:r>
          </a:p>
        </p:txBody>
      </p:sp>
    </p:spTree>
    <p:extLst>
      <p:ext uri="{BB962C8B-B14F-4D97-AF65-F5344CB8AC3E}">
        <p14:creationId xmlns:p14="http://schemas.microsoft.com/office/powerpoint/2010/main" val="181800735"/>
      </p:ext>
    </p:extLst>
  </p:cSld>
</p:sld>
</file>

<file path=ppt/slides/slide17.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09221C9-4D84-4B9E-8612-6AB0496617D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7615E6-E555-4A4D-AB5C-80D9C9AF64CF}"/>
              </a:ext>
            </a:extLst>
          </p:cNvPr>
          <p:cNvSpPr>
            <a:spLocks xmlns:a="http://schemas.openxmlformats.org/drawingml/2006/main" noGrp="1"/>
          </p:cNvSpPr>
          <p:nvPr/>
        </p:nvSpPr>
        <p:spPr>
          <a:xfrm xmlns:a="http://schemas.openxmlformats.org/drawingml/2006/main">
            <a:off x="590550" y="266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00A6A6"/>
                </a:solidFill>
                <a:latin typeface="Aptos"/>
                <a:ea typeface="Aptos"/>
                <a:cs typeface="Aptos"/>
              </a:defRPr>
            </a:pPr>
            <a:r>
              <a:rPr sz="975" b="1">
                <a:solidFill>
                  <a:srgbClr val="00A6A6"/>
                </a:solidFill>
                <a:latin typeface="Aptos"/>
                <a:ea typeface="Aptos"/>
                <a:cs typeface="Aptos"/>
              </a:rPr>
              <a:t>06  |  ACTION</a:t>
            </a:r>
          </a:p>
        </p:txBody>
      </p:sp>
      <p:sp>
        <p:nvSpPr>
          <p:cNvPr id="3" name="">
            <a:extLst xmlns:a="http://schemas.openxmlformats.org/drawingml/2006/main">
              <a:ext uri="{FF2B5EF4-FFF2-40B4-BE49-F238E27FC236}">
                <a16:creationId xmlns:a16="http://schemas.microsoft.com/office/drawing/2014/main" id="{520A280E-150C-4DD5-B63A-F9B8FFE99371}"/>
              </a:ext>
            </a:extLst>
          </p:cNvPr>
          <p:cNvSpPr>
            <a:spLocks xmlns:a="http://schemas.openxmlformats.org/drawingml/2006/main" noGrp="1"/>
          </p:cNvSpPr>
          <p:nvPr/>
        </p:nvSpPr>
        <p:spPr>
          <a:xfrm xmlns:a="http://schemas.openxmlformats.org/drawingml/2006/main">
            <a:off x="590550" y="600075"/>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23B5D"/>
                </a:solidFill>
                <a:latin typeface="Aptos"/>
                <a:ea typeface="Aptos"/>
                <a:cs typeface="Aptos"/>
              </a:defRPr>
            </a:pPr>
            <a:r>
              <a:rPr sz="2550" b="1">
                <a:solidFill>
                  <a:srgbClr val="123B5D"/>
                </a:solidFill>
                <a:latin typeface="Aptos"/>
                <a:ea typeface="Aptos"/>
                <a:cs typeface="Aptos"/>
              </a:rPr>
              <a:t>Future enhancements</a:t>
            </a:r>
          </a:p>
        </p:txBody>
      </p:sp>
      <p:sp>
        <p:nvSpPr>
          <p:cNvPr id="4" name="">
            <a:extLst xmlns:a="http://schemas.openxmlformats.org/drawingml/2006/main">
              <a:ext uri="{FF2B5EF4-FFF2-40B4-BE49-F238E27FC236}">
                <a16:creationId xmlns:a16="http://schemas.microsoft.com/office/drawing/2014/main" id="{6E15EE48-D570-455F-A607-81AB4A252484}"/>
              </a:ext>
            </a:extLst>
          </p:cNvPr>
          <p:cNvSpPr>
            <a:spLocks xmlns:a="http://schemas.openxmlformats.org/drawingml/2006/main" noGrp="1"/>
          </p:cNvSpPr>
          <p:nvPr/>
        </p:nvSpPr>
        <p:spPr>
          <a:xfrm xmlns:a="http://schemas.openxmlformats.org/drawingml/2006/main">
            <a:off x="609600" y="11334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1727E"/>
                </a:solidFill>
                <a:latin typeface="Aptos"/>
                <a:ea typeface="Aptos"/>
                <a:cs typeface="Aptos"/>
              </a:defRPr>
            </a:pPr>
            <a:r>
              <a:rPr sz="1275" b="0">
                <a:solidFill>
                  <a:srgbClr val="61727E"/>
                </a:solidFill>
                <a:latin typeface="Aptos"/>
                <a:ea typeface="Aptos"/>
                <a:cs typeface="Aptos"/>
              </a:rPr>
              <a:t>Ideas beyond the current descriptive analysis</a:t>
            </a:r>
          </a:p>
        </p:txBody>
      </p:sp>
      <p:sp>
        <p:nvSpPr>
          <p:cNvPr id="5" name="">
            <a:extLst xmlns:a="http://schemas.openxmlformats.org/drawingml/2006/main">
              <a:ext uri="{FF2B5EF4-FFF2-40B4-BE49-F238E27FC236}">
                <a16:creationId xmlns:a16="http://schemas.microsoft.com/office/drawing/2014/main" id="{E0ECD28A-5CAF-4CE0-8B5D-07C5D68C7F85}"/>
              </a:ext>
            </a:extLst>
          </p:cNvPr>
          <p:cNvSpPr>
            <a:spLocks xmlns:a="http://schemas.openxmlformats.org/drawingml/2006/main" noGrp="1"/>
          </p:cNvSpPr>
          <p:nvPr/>
        </p:nvSpPr>
        <p:spPr>
          <a:xfrm xmlns:a="http://schemas.openxmlformats.org/drawingml/2006/main">
            <a:off x="590550" y="6419850"/>
            <a:ext cx="10991850" cy="9525"/>
          </a:xfrm>
          <a:prstGeom xmlns:a="http://schemas.openxmlformats.org/drawingml/2006/main" prst="rect">
            <a:avLst/>
          </a:prstGeom>
          <a:solidFill xmlns:a="http://schemas.openxmlformats.org/drawingml/2006/main">
            <a:srgbClr val="DCE5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CB82E5E-7722-443D-B7F6-B2006EE1C4E2}"/>
              </a:ext>
            </a:extLst>
          </p:cNvPr>
          <p:cNvSpPr>
            <a:spLocks xmlns:a="http://schemas.openxmlformats.org/drawingml/2006/main" noGrp="1"/>
          </p:cNvSpPr>
          <p:nvPr/>
        </p:nvSpPr>
        <p:spPr>
          <a:xfrm xmlns:a="http://schemas.openxmlformats.org/drawingml/2006/main">
            <a:off x="59055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61727E"/>
                </a:solidFill>
                <a:latin typeface="Aptos"/>
                <a:ea typeface="Aptos"/>
                <a:cs typeface="Aptos"/>
              </a:defRPr>
            </a:pPr>
            <a:r>
              <a:rPr sz="825" b="0">
                <a:solidFill>
                  <a:srgbClr val="61727E"/>
                </a:solidFill>
                <a:latin typeface="Aptos"/>
                <a:ea typeface="Aptos"/>
                <a:cs typeface="Aptos"/>
              </a:rPr>
              <a:t>ANUDIP FOUNDATION  •  DATA ANALYTICS PROJECT</a:t>
            </a:r>
          </a:p>
        </p:txBody>
      </p:sp>
      <p:sp>
        <p:nvSpPr>
          <p:cNvPr id="7" name="">
            <a:extLst xmlns:a="http://schemas.openxmlformats.org/drawingml/2006/main">
              <a:ext uri="{FF2B5EF4-FFF2-40B4-BE49-F238E27FC236}">
                <a16:creationId xmlns:a16="http://schemas.microsoft.com/office/drawing/2014/main" id="{A19D2BE3-3908-46F6-ADFE-756F94E92C43}"/>
              </a:ext>
            </a:extLst>
          </p:cNvPr>
          <p:cNvSpPr>
            <a:spLocks xmlns:a="http://schemas.openxmlformats.org/drawingml/2006/main" noGrp="1"/>
          </p:cNvSpPr>
          <p:nvPr/>
        </p:nvSpPr>
        <p:spPr>
          <a:xfrm xmlns:a="http://schemas.openxmlformats.org/drawingml/2006/main">
            <a:off x="112014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1">
                <a:solidFill>
                  <a:srgbClr val="61727E"/>
                </a:solidFill>
                <a:latin typeface="Aptos"/>
                <a:ea typeface="Aptos"/>
                <a:cs typeface="Aptos"/>
              </a:defRPr>
            </a:pPr>
            <a:r>
              <a:rPr sz="900" b="1">
                <a:solidFill>
                  <a:srgbClr val="61727E"/>
                </a:solidFill>
                <a:latin typeface="Aptos"/>
                <a:ea typeface="Aptos"/>
                <a:cs typeface="Aptos"/>
              </a:rPr>
              <a:t>17</a:t>
            </a:r>
          </a:p>
        </p:txBody>
      </p:sp>
      <p:sp>
        <p:nvSpPr>
          <p:cNvPr id="8" name="">
            <a:extLst xmlns:a="http://schemas.openxmlformats.org/drawingml/2006/main">
              <a:ext uri="{FF2B5EF4-FFF2-40B4-BE49-F238E27FC236}">
                <a16:creationId xmlns:a16="http://schemas.microsoft.com/office/drawing/2014/main" id="{9C3C246B-0BA4-44CD-ACB7-E28CE2A45EDA}"/>
              </a:ext>
            </a:extLst>
          </p:cNvPr>
          <p:cNvSpPr>
            <a:spLocks xmlns:a="http://schemas.openxmlformats.org/drawingml/2006/main" noGrp="1"/>
          </p:cNvSpPr>
          <p:nvPr/>
        </p:nvSpPr>
        <p:spPr>
          <a:xfrm xmlns:a="http://schemas.openxmlformats.org/drawingml/2006/main">
            <a:off x="704850" y="1638300"/>
            <a:ext cx="4953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CE5EA"/>
            </a:solidFill>
          </a:ln>
        </p:spPr>
      </p:sp>
      <p:sp>
        <p:nvSpPr>
          <p:cNvPr id="9" name="">
            <a:extLst xmlns:a="http://schemas.openxmlformats.org/drawingml/2006/main">
              <a:ext uri="{FF2B5EF4-FFF2-40B4-BE49-F238E27FC236}">
                <a16:creationId xmlns:a16="http://schemas.microsoft.com/office/drawing/2014/main" id="{C74AD074-AF59-4389-9B51-37D3F6C1E3E0}"/>
              </a:ext>
            </a:extLst>
          </p:cNvPr>
          <p:cNvSpPr>
            <a:spLocks xmlns:a="http://schemas.openxmlformats.org/drawingml/2006/main" noGrp="1"/>
          </p:cNvSpPr>
          <p:nvPr/>
        </p:nvSpPr>
        <p:spPr>
          <a:xfrm xmlns:a="http://schemas.openxmlformats.org/drawingml/2006/main">
            <a:off x="914400" y="1733550"/>
            <a:ext cx="4533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23B5D"/>
                </a:solidFill>
                <a:latin typeface="Aptos"/>
                <a:ea typeface="Aptos"/>
                <a:cs typeface="Aptos"/>
              </a:defRPr>
            </a:pPr>
            <a:r>
              <a:rPr sz="1350" b="1">
                <a:solidFill>
                  <a:srgbClr val="123B5D"/>
                </a:solidFill>
                <a:latin typeface="Aptos"/>
                <a:ea typeface="Aptos"/>
                <a:cs typeface="Aptos"/>
              </a:rPr>
              <a:t>Real-time transaction monitoring</a:t>
            </a:r>
          </a:p>
        </p:txBody>
      </p:sp>
      <p:sp>
        <p:nvSpPr>
          <p:cNvPr id="10" name="">
            <a:extLst xmlns:a="http://schemas.openxmlformats.org/drawingml/2006/main">
              <a:ext uri="{FF2B5EF4-FFF2-40B4-BE49-F238E27FC236}">
                <a16:creationId xmlns:a16="http://schemas.microsoft.com/office/drawing/2014/main" id="{370AD4F8-7B51-4A3B-9669-8C1C8AB7613B}"/>
              </a:ext>
            </a:extLst>
          </p:cNvPr>
          <p:cNvSpPr>
            <a:spLocks xmlns:a="http://schemas.openxmlformats.org/drawingml/2006/main" noGrp="1"/>
          </p:cNvSpPr>
          <p:nvPr/>
        </p:nvSpPr>
        <p:spPr>
          <a:xfrm xmlns:a="http://schemas.openxmlformats.org/drawingml/2006/main">
            <a:off x="6038850" y="1638300"/>
            <a:ext cx="4953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CE5EA"/>
            </a:solidFill>
          </a:ln>
        </p:spPr>
      </p:sp>
      <p:sp>
        <p:nvSpPr>
          <p:cNvPr id="11" name="">
            <a:extLst xmlns:a="http://schemas.openxmlformats.org/drawingml/2006/main">
              <a:ext uri="{FF2B5EF4-FFF2-40B4-BE49-F238E27FC236}">
                <a16:creationId xmlns:a16="http://schemas.microsoft.com/office/drawing/2014/main" id="{E589D8AE-5F37-4358-A177-20D41FE3DFA3}"/>
              </a:ext>
            </a:extLst>
          </p:cNvPr>
          <p:cNvSpPr>
            <a:spLocks xmlns:a="http://schemas.openxmlformats.org/drawingml/2006/main" noGrp="1"/>
          </p:cNvSpPr>
          <p:nvPr/>
        </p:nvSpPr>
        <p:spPr>
          <a:xfrm xmlns:a="http://schemas.openxmlformats.org/drawingml/2006/main">
            <a:off x="6248400" y="1733550"/>
            <a:ext cx="4533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23B5D"/>
                </a:solidFill>
                <a:latin typeface="Aptos"/>
                <a:ea typeface="Aptos"/>
                <a:cs typeface="Aptos"/>
              </a:defRPr>
            </a:pPr>
            <a:r>
              <a:rPr sz="1350" b="1">
                <a:solidFill>
                  <a:srgbClr val="123B5D"/>
                </a:solidFill>
                <a:latin typeface="Aptos"/>
                <a:ea typeface="Aptos"/>
                <a:cs typeface="Aptos"/>
              </a:rPr>
              <a:t>Automated fraud alerts</a:t>
            </a:r>
          </a:p>
        </p:txBody>
      </p:sp>
      <p:sp>
        <p:nvSpPr>
          <p:cNvPr id="12" name="">
            <a:extLst xmlns:a="http://schemas.openxmlformats.org/drawingml/2006/main">
              <a:ext uri="{FF2B5EF4-FFF2-40B4-BE49-F238E27FC236}">
                <a16:creationId xmlns:a16="http://schemas.microsoft.com/office/drawing/2014/main" id="{CC8EBD60-6ED3-4986-ACCF-9F0E0E096B3C}"/>
              </a:ext>
            </a:extLst>
          </p:cNvPr>
          <p:cNvSpPr>
            <a:spLocks xmlns:a="http://schemas.openxmlformats.org/drawingml/2006/main" noGrp="1"/>
          </p:cNvSpPr>
          <p:nvPr/>
        </p:nvSpPr>
        <p:spPr>
          <a:xfrm xmlns:a="http://schemas.openxmlformats.org/drawingml/2006/main">
            <a:off x="704850" y="2514600"/>
            <a:ext cx="4953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CE5EA"/>
            </a:solidFill>
          </a:ln>
        </p:spPr>
      </p:sp>
      <p:sp>
        <p:nvSpPr>
          <p:cNvPr id="13" name="">
            <a:extLst xmlns:a="http://schemas.openxmlformats.org/drawingml/2006/main">
              <a:ext uri="{FF2B5EF4-FFF2-40B4-BE49-F238E27FC236}">
                <a16:creationId xmlns:a16="http://schemas.microsoft.com/office/drawing/2014/main" id="{0C7C1170-86B4-462B-8161-C5FF74B80136}"/>
              </a:ext>
            </a:extLst>
          </p:cNvPr>
          <p:cNvSpPr>
            <a:spLocks xmlns:a="http://schemas.openxmlformats.org/drawingml/2006/main" noGrp="1"/>
          </p:cNvSpPr>
          <p:nvPr/>
        </p:nvSpPr>
        <p:spPr>
          <a:xfrm xmlns:a="http://schemas.openxmlformats.org/drawingml/2006/main">
            <a:off x="914400" y="2609850"/>
            <a:ext cx="4533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23B5D"/>
                </a:solidFill>
                <a:latin typeface="Aptos"/>
                <a:ea typeface="Aptos"/>
                <a:cs typeface="Aptos"/>
              </a:defRPr>
            </a:pPr>
            <a:r>
              <a:rPr sz="1350" b="1">
                <a:solidFill>
                  <a:srgbClr val="123B5D"/>
                </a:solidFill>
                <a:latin typeface="Aptos"/>
                <a:ea typeface="Aptos"/>
                <a:cs typeface="Aptos"/>
              </a:rPr>
              <a:t>Risk scoring and anomaly detection</a:t>
            </a:r>
          </a:p>
        </p:txBody>
      </p:sp>
      <p:sp>
        <p:nvSpPr>
          <p:cNvPr id="14" name="">
            <a:extLst xmlns:a="http://schemas.openxmlformats.org/drawingml/2006/main">
              <a:ext uri="{FF2B5EF4-FFF2-40B4-BE49-F238E27FC236}">
                <a16:creationId xmlns:a16="http://schemas.microsoft.com/office/drawing/2014/main" id="{A11020F5-0F6E-4136-A124-5E501CEB44DB}"/>
              </a:ext>
            </a:extLst>
          </p:cNvPr>
          <p:cNvSpPr>
            <a:spLocks xmlns:a="http://schemas.openxmlformats.org/drawingml/2006/main" noGrp="1"/>
          </p:cNvSpPr>
          <p:nvPr/>
        </p:nvSpPr>
        <p:spPr>
          <a:xfrm xmlns:a="http://schemas.openxmlformats.org/drawingml/2006/main">
            <a:off x="6038850" y="2514600"/>
            <a:ext cx="4953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CE5EA"/>
            </a:solidFill>
          </a:ln>
        </p:spPr>
      </p:sp>
      <p:sp>
        <p:nvSpPr>
          <p:cNvPr id="15" name="">
            <a:extLst xmlns:a="http://schemas.openxmlformats.org/drawingml/2006/main">
              <a:ext uri="{FF2B5EF4-FFF2-40B4-BE49-F238E27FC236}">
                <a16:creationId xmlns:a16="http://schemas.microsoft.com/office/drawing/2014/main" id="{C62B1BD0-2147-42FB-B700-522772F7B43D}"/>
              </a:ext>
            </a:extLst>
          </p:cNvPr>
          <p:cNvSpPr>
            <a:spLocks xmlns:a="http://schemas.openxmlformats.org/drawingml/2006/main" noGrp="1"/>
          </p:cNvSpPr>
          <p:nvPr/>
        </p:nvSpPr>
        <p:spPr>
          <a:xfrm xmlns:a="http://schemas.openxmlformats.org/drawingml/2006/main">
            <a:off x="6248400" y="2609850"/>
            <a:ext cx="4533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23B5D"/>
                </a:solidFill>
                <a:latin typeface="Aptos"/>
                <a:ea typeface="Aptos"/>
                <a:cs typeface="Aptos"/>
              </a:defRPr>
            </a:pPr>
            <a:r>
              <a:rPr sz="1350" b="1">
                <a:solidFill>
                  <a:srgbClr val="123B5D"/>
                </a:solidFill>
                <a:latin typeface="Aptos"/>
                <a:ea typeface="Aptos"/>
                <a:cs typeface="Aptos"/>
              </a:rPr>
              <a:t>Machine learning fraud prediction</a:t>
            </a:r>
          </a:p>
        </p:txBody>
      </p:sp>
      <p:sp>
        <p:nvSpPr>
          <p:cNvPr id="16" name="">
            <a:extLst xmlns:a="http://schemas.openxmlformats.org/drawingml/2006/main">
              <a:ext uri="{FF2B5EF4-FFF2-40B4-BE49-F238E27FC236}">
                <a16:creationId xmlns:a16="http://schemas.microsoft.com/office/drawing/2014/main" id="{57E8D37D-9188-41A1-87BD-EDADDC7B9AC6}"/>
              </a:ext>
            </a:extLst>
          </p:cNvPr>
          <p:cNvSpPr>
            <a:spLocks xmlns:a="http://schemas.openxmlformats.org/drawingml/2006/main" noGrp="1"/>
          </p:cNvSpPr>
          <p:nvPr/>
        </p:nvSpPr>
        <p:spPr>
          <a:xfrm xmlns:a="http://schemas.openxmlformats.org/drawingml/2006/main">
            <a:off x="704850" y="3390900"/>
            <a:ext cx="4953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CE5EA"/>
            </a:solidFill>
          </a:ln>
        </p:spPr>
      </p:sp>
      <p:sp>
        <p:nvSpPr>
          <p:cNvPr id="17" name="">
            <a:extLst xmlns:a="http://schemas.openxmlformats.org/drawingml/2006/main">
              <a:ext uri="{FF2B5EF4-FFF2-40B4-BE49-F238E27FC236}">
                <a16:creationId xmlns:a16="http://schemas.microsoft.com/office/drawing/2014/main" id="{51990255-11D1-4380-9EE4-44F28E3BAA76}"/>
              </a:ext>
            </a:extLst>
          </p:cNvPr>
          <p:cNvSpPr>
            <a:spLocks xmlns:a="http://schemas.openxmlformats.org/drawingml/2006/main" noGrp="1"/>
          </p:cNvSpPr>
          <p:nvPr/>
        </p:nvSpPr>
        <p:spPr>
          <a:xfrm xmlns:a="http://schemas.openxmlformats.org/drawingml/2006/main">
            <a:off x="914400" y="3486150"/>
            <a:ext cx="4533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23B5D"/>
                </a:solidFill>
                <a:latin typeface="Aptos"/>
                <a:ea typeface="Aptos"/>
                <a:cs typeface="Aptos"/>
              </a:defRPr>
            </a:pPr>
            <a:r>
              <a:rPr sz="1350" b="1">
                <a:solidFill>
                  <a:srgbClr val="123B5D"/>
                </a:solidFill>
                <a:latin typeface="Aptos"/>
                <a:ea typeface="Aptos"/>
                <a:cs typeface="Aptos"/>
              </a:rPr>
              <a:t>More granular time analysis</a:t>
            </a:r>
          </a:p>
        </p:txBody>
      </p:sp>
      <p:sp>
        <p:nvSpPr>
          <p:cNvPr id="18" name="">
            <a:extLst xmlns:a="http://schemas.openxmlformats.org/drawingml/2006/main">
              <a:ext uri="{FF2B5EF4-FFF2-40B4-BE49-F238E27FC236}">
                <a16:creationId xmlns:a16="http://schemas.microsoft.com/office/drawing/2014/main" id="{D3A3A675-F1DF-43F6-984D-9AD7D89A943E}"/>
              </a:ext>
            </a:extLst>
          </p:cNvPr>
          <p:cNvSpPr>
            <a:spLocks xmlns:a="http://schemas.openxmlformats.org/drawingml/2006/main" noGrp="1"/>
          </p:cNvSpPr>
          <p:nvPr/>
        </p:nvSpPr>
        <p:spPr>
          <a:xfrm xmlns:a="http://schemas.openxmlformats.org/drawingml/2006/main">
            <a:off x="6038850" y="3390900"/>
            <a:ext cx="4953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CE5EA"/>
            </a:solidFill>
          </a:ln>
        </p:spPr>
      </p:sp>
      <p:sp>
        <p:nvSpPr>
          <p:cNvPr id="19" name="">
            <a:extLst xmlns:a="http://schemas.openxmlformats.org/drawingml/2006/main">
              <a:ext uri="{FF2B5EF4-FFF2-40B4-BE49-F238E27FC236}">
                <a16:creationId xmlns:a16="http://schemas.microsoft.com/office/drawing/2014/main" id="{C3817FB5-7ED2-48BF-9C18-65C2F9A68B46}"/>
              </a:ext>
            </a:extLst>
          </p:cNvPr>
          <p:cNvSpPr>
            <a:spLocks xmlns:a="http://schemas.openxmlformats.org/drawingml/2006/main" noGrp="1"/>
          </p:cNvSpPr>
          <p:nvPr/>
        </p:nvSpPr>
        <p:spPr>
          <a:xfrm xmlns:a="http://schemas.openxmlformats.org/drawingml/2006/main">
            <a:off x="6248400" y="3486150"/>
            <a:ext cx="4533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23B5D"/>
                </a:solidFill>
                <a:latin typeface="Aptos"/>
                <a:ea typeface="Aptos"/>
                <a:cs typeface="Aptos"/>
              </a:defRPr>
            </a:pPr>
            <a:r>
              <a:rPr sz="1350" b="1">
                <a:solidFill>
                  <a:srgbClr val="123B5D"/>
                </a:solidFill>
                <a:latin typeface="Aptos"/>
                <a:ea typeface="Aptos"/>
                <a:cs typeface="Aptos"/>
              </a:rPr>
              <a:t>Additional behavioral and device signals</a:t>
            </a:r>
          </a:p>
        </p:txBody>
      </p:sp>
      <p:sp>
        <p:nvSpPr>
          <p:cNvPr id="20" name="">
            <a:extLst xmlns:a="http://schemas.openxmlformats.org/drawingml/2006/main">
              <a:ext uri="{FF2B5EF4-FFF2-40B4-BE49-F238E27FC236}">
                <a16:creationId xmlns:a16="http://schemas.microsoft.com/office/drawing/2014/main" id="{DE277243-14F2-48D0-9701-10728330239D}"/>
              </a:ext>
            </a:extLst>
          </p:cNvPr>
          <p:cNvSpPr>
            <a:spLocks xmlns:a="http://schemas.openxmlformats.org/drawingml/2006/main" noGrp="1"/>
          </p:cNvSpPr>
          <p:nvPr/>
        </p:nvSpPr>
        <p:spPr>
          <a:xfrm xmlns:a="http://schemas.openxmlformats.org/drawingml/2006/main">
            <a:off x="704850" y="4267200"/>
            <a:ext cx="4953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CE5EA"/>
            </a:solidFill>
          </a:ln>
        </p:spPr>
      </p:sp>
      <p:sp>
        <p:nvSpPr>
          <p:cNvPr id="21" name="">
            <a:extLst xmlns:a="http://schemas.openxmlformats.org/drawingml/2006/main">
              <a:ext uri="{FF2B5EF4-FFF2-40B4-BE49-F238E27FC236}">
                <a16:creationId xmlns:a16="http://schemas.microsoft.com/office/drawing/2014/main" id="{B53AEA22-14B7-4443-BDE4-054FB6070013}"/>
              </a:ext>
            </a:extLst>
          </p:cNvPr>
          <p:cNvSpPr>
            <a:spLocks xmlns:a="http://schemas.openxmlformats.org/drawingml/2006/main" noGrp="1"/>
          </p:cNvSpPr>
          <p:nvPr/>
        </p:nvSpPr>
        <p:spPr>
          <a:xfrm xmlns:a="http://schemas.openxmlformats.org/drawingml/2006/main">
            <a:off x="914400" y="4362450"/>
            <a:ext cx="4533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23B5D"/>
                </a:solidFill>
                <a:latin typeface="Aptos"/>
                <a:ea typeface="Aptos"/>
                <a:cs typeface="Aptos"/>
              </a:defRPr>
            </a:pPr>
            <a:r>
              <a:rPr sz="1350" b="1">
                <a:solidFill>
                  <a:srgbClr val="123B5D"/>
                </a:solidFill>
                <a:latin typeface="Aptos"/>
                <a:ea typeface="Aptos"/>
                <a:cs typeface="Aptos"/>
              </a:rPr>
              <a:t>Automated Power BI refresh</a:t>
            </a:r>
          </a:p>
        </p:txBody>
      </p:sp>
      <p:sp>
        <p:nvSpPr>
          <p:cNvPr id="22" name="">
            <a:extLst xmlns:a="http://schemas.openxmlformats.org/drawingml/2006/main">
              <a:ext uri="{FF2B5EF4-FFF2-40B4-BE49-F238E27FC236}">
                <a16:creationId xmlns:a16="http://schemas.microsoft.com/office/drawing/2014/main" id="{9133DB95-F092-4F5C-8F7D-EEAD1D99327B}"/>
              </a:ext>
            </a:extLst>
          </p:cNvPr>
          <p:cNvSpPr>
            <a:spLocks xmlns:a="http://schemas.openxmlformats.org/drawingml/2006/main" noGrp="1"/>
          </p:cNvSpPr>
          <p:nvPr/>
        </p:nvSpPr>
        <p:spPr>
          <a:xfrm xmlns:a="http://schemas.openxmlformats.org/drawingml/2006/main">
            <a:off x="704850" y="5095875"/>
            <a:ext cx="10287000" cy="552450"/>
          </a:xfrm>
          <a:prstGeom xmlns:a="http://schemas.openxmlformats.org/drawingml/2006/main" prst="roundRect">
            <a:avLst>
              <a:gd name="adj" fmla="val 13793"/>
            </a:avLst>
          </a:prstGeom>
          <a:solidFill xmlns:a="http://schemas.openxmlformats.org/drawingml/2006/main">
            <a:srgbClr val="FCEEEE"/>
          </a:solidFill>
          <a:ln xmlns:a="http://schemas.openxmlformats.org/drawingml/2006/main" w="9525">
            <a:solidFill>
              <a:srgbClr val="DCE5EA"/>
            </a:solidFill>
          </a:ln>
        </p:spPr>
      </p:sp>
      <p:sp>
        <p:nvSpPr>
          <p:cNvPr id="23" name="">
            <a:extLst xmlns:a="http://schemas.openxmlformats.org/drawingml/2006/main">
              <a:ext uri="{FF2B5EF4-FFF2-40B4-BE49-F238E27FC236}">
                <a16:creationId xmlns:a16="http://schemas.microsoft.com/office/drawing/2014/main" id="{878928E7-2AC5-44C8-B554-AA99F979DDB1}"/>
              </a:ext>
            </a:extLst>
          </p:cNvPr>
          <p:cNvSpPr>
            <a:spLocks xmlns:a="http://schemas.openxmlformats.org/drawingml/2006/main" noGrp="1"/>
          </p:cNvSpPr>
          <p:nvPr/>
        </p:nvSpPr>
        <p:spPr>
          <a:xfrm xmlns:a="http://schemas.openxmlformats.org/drawingml/2006/main">
            <a:off x="876300" y="5162550"/>
            <a:ext cx="994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D64545"/>
                </a:solidFill>
                <a:latin typeface="Aptos"/>
                <a:ea typeface="Aptos"/>
                <a:cs typeface="Aptos"/>
              </a:defRPr>
            </a:pPr>
            <a:r>
              <a:rPr sz="1275" b="1">
                <a:solidFill>
                  <a:srgbClr val="D64545"/>
                </a:solidFill>
                <a:latin typeface="Aptos"/>
                <a:ea typeface="Aptos"/>
                <a:cs typeface="Aptos"/>
              </a:rPr>
              <a:t>These are future enhancements; they are not implemented in the current project.</a:t>
            </a:r>
          </a:p>
        </p:txBody>
      </p:sp>
    </p:spTree>
    <p:extLst>
      <p:ext uri="{BB962C8B-B14F-4D97-AF65-F5344CB8AC3E}">
        <p14:creationId xmlns:p14="http://schemas.microsoft.com/office/powerpoint/2010/main" val="622575005"/>
      </p:ext>
    </p:extLst>
  </p:cSld>
</p:sld>
</file>

<file path=ppt/slides/slide18.xml><?xml version="1.0" encoding="utf-8"?>
<p:sld xmlns:p="http://schemas.openxmlformats.org/presentationml/2006/main">
  <p:cSld>
    <p:bg>
      <p:bgPr>
        <a:solidFill xmlns:a="http://schemas.openxmlformats.org/drawingml/2006/main">
          <a:srgbClr val="123B5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3AF1E6-91EA-4877-BFF7-B7D735AA320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7FE9E1-AC54-48DC-8A76-7C259F00AE04}"/>
              </a:ext>
            </a:extLst>
          </p:cNvPr>
          <p:cNvSpPr>
            <a:spLocks xmlns:a="http://schemas.openxmlformats.org/drawingml/2006/main" noGrp="1"/>
          </p:cNvSpPr>
          <p:nvPr/>
        </p:nvSpPr>
        <p:spPr>
          <a:xfrm xmlns:a="http://schemas.openxmlformats.org/drawingml/2006/main">
            <a:off x="685800" y="6858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A9DCE0"/>
                </a:solidFill>
                <a:latin typeface="Aptos"/>
                <a:ea typeface="Aptos"/>
                <a:cs typeface="Aptos"/>
              </a:defRPr>
            </a:pPr>
            <a:r>
              <a:rPr sz="1200" b="1">
                <a:solidFill>
                  <a:srgbClr val="A9DCE0"/>
                </a:solidFill>
                <a:latin typeface="Aptos"/>
                <a:ea typeface="Aptos"/>
                <a:cs typeface="Aptos"/>
              </a:rPr>
              <a:t>CONCLUSION</a:t>
            </a:r>
          </a:p>
        </p:txBody>
      </p:sp>
      <p:sp>
        <p:nvSpPr>
          <p:cNvPr id="3" name="">
            <a:extLst xmlns:a="http://schemas.openxmlformats.org/drawingml/2006/main">
              <a:ext uri="{FF2B5EF4-FFF2-40B4-BE49-F238E27FC236}">
                <a16:creationId xmlns:a16="http://schemas.microsoft.com/office/drawing/2014/main" id="{BA313494-DFA9-45B7-B37D-2B3B1E834F47}"/>
              </a:ext>
            </a:extLst>
          </p:cNvPr>
          <p:cNvSpPr>
            <a:spLocks xmlns:a="http://schemas.openxmlformats.org/drawingml/2006/main" noGrp="1"/>
          </p:cNvSpPr>
          <p:nvPr/>
        </p:nvSpPr>
        <p:spPr>
          <a:xfrm xmlns:a="http://schemas.openxmlformats.org/drawingml/2006/main">
            <a:off x="685800" y="1428750"/>
            <a:ext cx="10191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Transaction data becomes useful when it is prepared, modeled and explained clearly.</a:t>
            </a:r>
          </a:p>
        </p:txBody>
      </p:sp>
      <p:sp>
        <p:nvSpPr>
          <p:cNvPr id="4" name="">
            <a:extLst xmlns:a="http://schemas.openxmlformats.org/drawingml/2006/main">
              <a:ext uri="{FF2B5EF4-FFF2-40B4-BE49-F238E27FC236}">
                <a16:creationId xmlns:a16="http://schemas.microsoft.com/office/drawing/2014/main" id="{1832CDFF-8EFE-497D-92B8-1B7A377D34CE}"/>
              </a:ext>
            </a:extLst>
          </p:cNvPr>
          <p:cNvSpPr>
            <a:spLocks xmlns:a="http://schemas.openxmlformats.org/drawingml/2006/main" noGrp="1"/>
          </p:cNvSpPr>
          <p:nvPr/>
        </p:nvSpPr>
        <p:spPr>
          <a:xfrm xmlns:a="http://schemas.openxmlformats.org/drawingml/2006/main">
            <a:off x="685800" y="3067050"/>
            <a:ext cx="9715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0">
                <a:solidFill>
                  <a:srgbClr val="D9E7ED"/>
                </a:solidFill>
                <a:latin typeface="Aptos"/>
                <a:ea typeface="Aptos"/>
                <a:cs typeface="Aptos"/>
              </a:defRPr>
            </a:pPr>
            <a:r>
              <a:rPr sz="1725" b="0">
                <a:solidFill>
                  <a:srgbClr val="D9E7ED"/>
                </a:solidFill>
                <a:latin typeface="Aptos"/>
                <a:ea typeface="Aptos"/>
                <a:cs typeface="Aptos"/>
              </a:rPr>
              <a:t>This project transforms transaction-level data through ETL, data modeling, DAX and Power BI into actionable fraud-risk insights.</a:t>
            </a:r>
          </a:p>
        </p:txBody>
      </p:sp>
      <p:sp>
        <p:nvSpPr>
          <p:cNvPr id="5" name="">
            <a:extLst xmlns:a="http://schemas.openxmlformats.org/drawingml/2006/main">
              <a:ext uri="{FF2B5EF4-FFF2-40B4-BE49-F238E27FC236}">
                <a16:creationId xmlns:a16="http://schemas.microsoft.com/office/drawing/2014/main" id="{B09027BA-44D0-4191-843D-2C1622263F24}"/>
              </a:ext>
            </a:extLst>
          </p:cNvPr>
          <p:cNvSpPr>
            <a:spLocks xmlns:a="http://schemas.openxmlformats.org/drawingml/2006/main" noGrp="1"/>
          </p:cNvSpPr>
          <p:nvPr/>
        </p:nvSpPr>
        <p:spPr>
          <a:xfrm xmlns:a="http://schemas.openxmlformats.org/drawingml/2006/main">
            <a:off x="704850" y="4533900"/>
            <a:ext cx="1000125" cy="47625"/>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B801DBF-C185-4CEF-8C77-008E94845183}"/>
              </a:ext>
            </a:extLst>
          </p:cNvPr>
          <p:cNvSpPr>
            <a:spLocks xmlns:a="http://schemas.openxmlformats.org/drawingml/2006/main" noGrp="1"/>
          </p:cNvSpPr>
          <p:nvPr/>
        </p:nvSpPr>
        <p:spPr>
          <a:xfrm xmlns:a="http://schemas.openxmlformats.org/drawingml/2006/main">
            <a:off x="704850" y="49339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FFFFFF"/>
                </a:solidFill>
                <a:latin typeface="Aptos"/>
                <a:ea typeface="Aptos"/>
                <a:cs typeface="Aptos"/>
              </a:defRPr>
            </a:pPr>
            <a:r>
              <a:rPr sz="2550" b="1">
                <a:solidFill>
                  <a:srgbClr val="FFFFFF"/>
                </a:solidFill>
                <a:latin typeface="Aptos"/>
                <a:ea typeface="Aptos"/>
                <a:cs typeface="Aptos"/>
              </a:rPr>
              <a:t>Thank You</a:t>
            </a:r>
          </a:p>
        </p:txBody>
      </p:sp>
      <p:sp>
        <p:nvSpPr>
          <p:cNvPr id="7" name="">
            <a:extLst xmlns:a="http://schemas.openxmlformats.org/drawingml/2006/main">
              <a:ext uri="{FF2B5EF4-FFF2-40B4-BE49-F238E27FC236}">
                <a16:creationId xmlns:a16="http://schemas.microsoft.com/office/drawing/2014/main" id="{CA196844-6440-4140-9471-3448C625A518}"/>
              </a:ext>
            </a:extLst>
          </p:cNvPr>
          <p:cNvSpPr>
            <a:spLocks xmlns:a="http://schemas.openxmlformats.org/drawingml/2006/main" noGrp="1"/>
          </p:cNvSpPr>
          <p:nvPr/>
        </p:nvSpPr>
        <p:spPr>
          <a:xfrm xmlns:a="http://schemas.openxmlformats.org/drawingml/2006/main">
            <a:off x="704850" y="552450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A9DCE0"/>
                </a:solidFill>
                <a:latin typeface="Aptos"/>
                <a:ea typeface="Aptos"/>
                <a:cs typeface="Aptos"/>
              </a:defRPr>
            </a:pPr>
            <a:r>
              <a:rPr sz="1575" b="0">
                <a:solidFill>
                  <a:srgbClr val="A9DCE0"/>
                </a:solidFill>
                <a:latin typeface="Aptos"/>
                <a:ea typeface="Aptos"/>
                <a:cs typeface="Aptos"/>
              </a:rPr>
              <a:t>Questions &amp; Discussion</a:t>
            </a:r>
          </a:p>
        </p:txBody>
      </p:sp>
    </p:spTree>
    <p:extLst>
      <p:ext uri="{BB962C8B-B14F-4D97-AF65-F5344CB8AC3E}">
        <p14:creationId xmlns:p14="http://schemas.microsoft.com/office/powerpoint/2010/main" val="17062578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2026-10-06T17:14:39.9010000Z</dcterms:created>
  <dcterms:modified xsi:type="dcterms:W3CDTF">2026-10-06T17:14:39.9010000Z</dcterms:modified>
</coreProperties>
</file>