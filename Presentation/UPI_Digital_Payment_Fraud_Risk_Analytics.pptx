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11385c7484eaa" /><Relationship Type="http://schemas.openxmlformats.org/officeDocument/2006/relationships/extended-properties" Target="/docProps/app.xml" Id="Rb7441e2795bc4f2b" /><Relationship Type="http://schemas.openxmlformats.org/officeDocument/2006/relationships/officeDocument" Target="/ppt/presentation.xml" Id="R782b3daa6282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d590c7d384af7"/>
  </p:sldMasterIdLst>
  <p:notesMasterIdLst>
    <p:notesMasterId xmlns:r="http://schemas.openxmlformats.org/officeDocument/2006/relationships" r:id="R926e126787824d00"/>
  </p:notesMasterIdLst>
  <p:sldIdLst>
    <p:sldId xmlns:r="http://schemas.openxmlformats.org/officeDocument/2006/relationships" id="256" r:id="Rd67dd569277f48cf"/>
    <p:sldId xmlns:r="http://schemas.openxmlformats.org/officeDocument/2006/relationships" id="257" r:id="R7322550a13de46f4"/>
    <p:sldId xmlns:r="http://schemas.openxmlformats.org/officeDocument/2006/relationships" id="258" r:id="R39362f8631ae49e5"/>
    <p:sldId xmlns:r="http://schemas.openxmlformats.org/officeDocument/2006/relationships" id="259" r:id="R0f12cf8387194891"/>
    <p:sldId xmlns:r="http://schemas.openxmlformats.org/officeDocument/2006/relationships" id="260" r:id="Rdb0e2f2b8b9842fe"/>
    <p:sldId xmlns:r="http://schemas.openxmlformats.org/officeDocument/2006/relationships" id="261" r:id="Rdbc3c6de6a3d4a53"/>
    <p:sldId xmlns:r="http://schemas.openxmlformats.org/officeDocument/2006/relationships" id="262" r:id="R15213068dc7149f6"/>
    <p:sldId xmlns:r="http://schemas.openxmlformats.org/officeDocument/2006/relationships" id="263" r:id="R9bee173f71a14c2c"/>
    <p:sldId xmlns:r="http://schemas.openxmlformats.org/officeDocument/2006/relationships" id="264" r:id="R2d5f34a90ac842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011c0646746aa" /><Relationship Type="http://schemas.openxmlformats.org/officeDocument/2006/relationships/slideMaster" Target="/ppt/slideMasters/slideMaster1.xml" Id="R366d590c7d384af7" /><Relationship Type="http://schemas.openxmlformats.org/officeDocument/2006/relationships/notesMaster" Target="/ppt/notesMasters/notesMaster1.xml" Id="R926e126787824d00" /><Relationship Type="http://schemas.openxmlformats.org/officeDocument/2006/relationships/presProps" Target="/ppt/presProps.xml" Id="Re13acc946b3b4488" /><Relationship Type="http://schemas.openxmlformats.org/officeDocument/2006/relationships/tableStyles" Target="/ppt/tableStyles.xml" Id="R06a1243714e84de1" /><Relationship Type="http://schemas.openxmlformats.org/officeDocument/2006/relationships/slide" Target="/ppt/slides/slide1.xml" Id="Rd67dd569277f48cf" /><Relationship Type="http://schemas.openxmlformats.org/officeDocument/2006/relationships/slide" Target="/ppt/slides/slide2.xml" Id="R7322550a13de46f4" /><Relationship Type="http://schemas.openxmlformats.org/officeDocument/2006/relationships/slide" Target="/ppt/slides/slide3.xml" Id="R39362f8631ae49e5" /><Relationship Type="http://schemas.openxmlformats.org/officeDocument/2006/relationships/slide" Target="/ppt/slides/slide4.xml" Id="R0f12cf8387194891" /><Relationship Type="http://schemas.openxmlformats.org/officeDocument/2006/relationships/slide" Target="/ppt/slides/slide5.xml" Id="Rdb0e2f2b8b9842fe" /><Relationship Type="http://schemas.openxmlformats.org/officeDocument/2006/relationships/slide" Target="/ppt/slides/slide6.xml" Id="Rdbc3c6de6a3d4a53" /><Relationship Type="http://schemas.openxmlformats.org/officeDocument/2006/relationships/slide" Target="/ppt/slides/slide7.xml" Id="R15213068dc7149f6" /><Relationship Type="http://schemas.openxmlformats.org/officeDocument/2006/relationships/slide" Target="/ppt/slides/slide8.xml" Id="R9bee173f71a14c2c" /><Relationship Type="http://schemas.openxmlformats.org/officeDocument/2006/relationships/slide" Target="/ppt/slides/slide9.xml" Id="R2d5f34a90ac8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c516244ed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8f1dfa3ec4775" /><Relationship Type="http://schemas.openxmlformats.org/officeDocument/2006/relationships/notesMaster" Target="/ppt/notesMasters/notesMaster1.xml" Id="Ra44041f45211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41b4c75bf4cf6" /><Relationship Type="http://schemas.openxmlformats.org/officeDocument/2006/relationships/notesMaster" Target="/ppt/notesMasters/notesMaster1.xml" Id="Rf129b3ce847641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7677537c141c0" /><Relationship Type="http://schemas.openxmlformats.org/officeDocument/2006/relationships/notesMaster" Target="/ppt/notesMasters/notesMaster1.xml" Id="Rbe733071e4654d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2b5e88cd94016" /><Relationship Type="http://schemas.openxmlformats.org/officeDocument/2006/relationships/notesMaster" Target="/ppt/notesMasters/notesMaster1.xml" Id="R48fc689f8c63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6fb8ea75c24ce7" /><Relationship Type="http://schemas.openxmlformats.org/officeDocument/2006/relationships/notesMaster" Target="/ppt/notesMasters/notesMaster1.xml" Id="R497e9a46eb71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058fce25b14b9e" /><Relationship Type="http://schemas.openxmlformats.org/officeDocument/2006/relationships/notesMaster" Target="/ppt/notesMasters/notesMaster1.xml" Id="R0050e8c0fb1247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102846baea470c" /><Relationship Type="http://schemas.openxmlformats.org/officeDocument/2006/relationships/notesMaster" Target="/ppt/notesMasters/notesMaster1.xml" Id="R7c447f65545e4c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9821b10aab412a" /><Relationship Type="http://schemas.openxmlformats.org/officeDocument/2006/relationships/notesMaster" Target="/ppt/notesMasters/notesMaster1.xml" Id="Rbd961040c210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686f514a0945f0" /><Relationship Type="http://schemas.openxmlformats.org/officeDocument/2006/relationships/notesMaster" Target="/ppt/notesMasters/notesMaster1.xml" Id="R2e7ed688ae2c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project built from the supplied UPI transaction analytics brief and dashboard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scale: 250,000 transactions. Project objective and workflow are from the user-provided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fields and transaction period are provided in the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preparation, validation outcomes, Calendar table, relationship, Power Query and DAX are stated in the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values supplied in the brief and Page 1 screenshot. Successful and failed transaction counts are shown as rounded values from the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Page1.png supplied by the user. Dashboard screenshot embedded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Page2.png supplied by the user. Dashboard screenshot embedded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findings from the user-provided brief and Page 2 screenshot. Fraud amount rate: 0.219%. Merchant categories: Grocery 94, Food 73, Shopping 62, Other 50, Fuel 48, Transport 43, Entertainment 40, Utilities 33, Healthcare 21, Education 16. Sender state: Maharashtra 71, Karnataka 69, Uttar Pradesh 52, Delhi 50, Rajasthan 46, Gujarat 43, Tamil Nadu 40, Telangana 39, Andhra Pradesh 35, West Bengal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are framed as monitoring priorities based on observed counts, not causal claims. Conclusion reflects the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30176b7d7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6736dfdb74dfe" /><Relationship Type="http://schemas.openxmlformats.org/officeDocument/2006/relationships/slideLayout" Target="/ppt/slideLayouts/slideLayout1.xml" Id="Rea0015d69aa6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015d69aa6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ffea697934aa8" /><Relationship Type="http://schemas.openxmlformats.org/officeDocument/2006/relationships/notesSlide" Target="/ppt/notesSlides/notesSlide1.xml" Id="Rf43b2c00fc88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fd337db114172" /><Relationship Type="http://schemas.openxmlformats.org/officeDocument/2006/relationships/notesSlide" Target="/ppt/notesSlides/notesSlide2.xml" Id="R1940a221d96446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343b2c8b5412b" /><Relationship Type="http://schemas.openxmlformats.org/officeDocument/2006/relationships/notesSlide" Target="/ppt/notesSlides/notesSlide3.xml" Id="R01e129d016b645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a9ea6c40436c" /><Relationship Type="http://schemas.openxmlformats.org/officeDocument/2006/relationships/notesSlide" Target="/ppt/notesSlides/notesSlide4.xml" Id="R8101c714f60948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487b2b43841da" /><Relationship Type="http://schemas.openxmlformats.org/officeDocument/2006/relationships/notesSlide" Target="/ppt/notesSlides/notesSlide5.xml" Id="Rbcd858f3f7c3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847a38d814871" /><Relationship Type="http://schemas.openxmlformats.org/officeDocument/2006/relationships/image" Target="/ppt/media/image.png" Id="Rdc91d9874cae4799" /><Relationship Type="http://schemas.openxmlformats.org/officeDocument/2006/relationships/notesSlide" Target="/ppt/notesSlides/notesSlide6.xml" Id="R85c1219744ad4a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0830e8ed24965" /><Relationship Type="http://schemas.openxmlformats.org/officeDocument/2006/relationships/image" Target="/ppt/media/image2.png" Id="R143995af855349eb" /><Relationship Type="http://schemas.openxmlformats.org/officeDocument/2006/relationships/notesSlide" Target="/ppt/notesSlides/notesSlide7.xml" Id="R3b7a0474c6834c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f41d842bb4526" /><Relationship Type="http://schemas.openxmlformats.org/officeDocument/2006/relationships/chart" Target="/ppt/slides/charts/chart1.xml" Id="R7db260b9514842b9" /><Relationship Type="http://schemas.openxmlformats.org/officeDocument/2006/relationships/chart" Target="/ppt/slides/charts/chart2.xml" Id="R29d292c479aa4311" /><Relationship Type="http://schemas.openxmlformats.org/officeDocument/2006/relationships/chart" Target="/ppt/slides/charts/chart3.xml" Id="R7c366aacd6f1481c" /><Relationship Type="http://schemas.openxmlformats.org/officeDocument/2006/relationships/notesSlide" Target="/ppt/notesSlides/notesSlide8.xml" Id="Reac64929ef7c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3e40365e94d3a" /><Relationship Type="http://schemas.openxmlformats.org/officeDocument/2006/relationships/notesSlide" Target="/ppt/notesSlides/notesSlide9.xml" Id="R85c903c2229c4db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Fraud transactions</c:v>
          </c:tx>
          <c:spPr>
            <a:solidFill xmlns:a="http://schemas.openxmlformats.org/drawingml/2006/main">
              <a:srgbClr val="123B5D"/>
            </a:solidFill>
          </c:spPr>
          <c:cat>
            <c:strLit>
              <c:ptCount val="4"/>
              <c:pt idx="0">
                <c:v>P2P</c:v>
              </c:pt>
              <c:pt idx="1">
                <c:v>P2M</c:v>
              </c:pt>
              <c:pt idx="2">
                <c:v>Bill Pay.</c:v>
              </c:pt>
              <c:pt idx="3">
                <c:v>Recharge</c:v>
              </c:pt>
            </c:strLit>
          </c:cat>
          <c:val>
            <c:numLit>
              <c:formatCode>General</c:formatCode>
              <c:ptCount val="4"/>
              <c:pt idx="0">
                <c:v>206</c:v>
              </c:pt>
              <c:pt idx="1">
                <c:v>167</c:v>
              </c:pt>
              <c:pt idx="2">
                <c:v>77</c:v>
              </c:pt>
              <c:pt idx="3">
                <c:v>30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Fraud transactions</c:v>
          </c:tx>
          <c:spPr>
            <a:solidFill xmlns:a="http://schemas.openxmlformats.org/drawingml/2006/main">
              <a:srgbClr val="123B5D"/>
            </a:solidFill>
          </c:spPr>
          <c:cat>
            <c:strLit>
              <c:ptCount val="3"/>
              <c:pt idx="0">
                <c:v>Android</c:v>
              </c:pt>
              <c:pt idx="1">
                <c:v>iOS</c:v>
              </c:pt>
              <c:pt idx="2">
                <c:v>Web</c:v>
              </c:pt>
            </c:strLit>
          </c:cat>
          <c:val>
            <c:numLit>
              <c:formatCode>General</c:formatCode>
              <c:ptCount val="3"/>
              <c:pt idx="0">
                <c:v>364</c:v>
              </c:pt>
              <c:pt idx="1">
                <c:v>90</c:v>
              </c:pt>
              <c:pt idx="2">
                <c:v>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Fraud transactions</c:v>
          </c:tx>
          <c:spPr>
            <a:solidFill xmlns:a="http://schemas.openxmlformats.org/drawingml/2006/main">
              <a:srgbClr val="123B5D"/>
            </a:solidFill>
          </c:spPr>
          <c:cat>
            <c:strLit>
              <c:ptCount val="4"/>
              <c:pt idx="0">
                <c:v>4G</c:v>
              </c:pt>
              <c:pt idx="1">
                <c:v>5G</c:v>
              </c:pt>
              <c:pt idx="2">
                <c:v>WiFi</c:v>
              </c:pt>
              <c:pt idx="3">
                <c:v>3G</c:v>
              </c:pt>
            </c:strLit>
          </c:cat>
          <c:val>
            <c:numLit>
              <c:formatCode>General</c:formatCode>
              <c:ptCount val="4"/>
              <c:pt idx="0">
                <c:v>282</c:v>
              </c:pt>
              <c:pt idx="1">
                <c:v>115</c:v>
              </c:pt>
              <c:pt idx="2">
                <c:v>59</c:v>
              </c:pt>
              <c:pt idx="3">
                <c:v>24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E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92E21-2BC9-4DBE-BBE7-281B4BCE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9ABA1-5B1D-49EA-9B7B-A715A4D6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F79C1-5DA8-4BF0-B36E-CEBDA96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04900"/>
            <a:ext cx="2209800" cy="2209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718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EB7E-10B1-4B33-A51C-D8C82573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1485900" cy="1485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8AFD1-DE5F-4FEE-BE80-157B6E7E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28775"/>
            <a:ext cx="914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4061C-5FFE-42C0-BB84-F4E57105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384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6E5E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E5E0"/>
                </a:solidFill>
                <a:latin typeface="Aptos"/>
                <a:ea typeface="Aptos"/>
                <a:cs typeface="Aptos"/>
              </a:rPr>
              <a:t>UPI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752BA-3252-4317-B972-2CC3FCF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AABF5-0A62-429E-BDF6-9959318B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268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7C67B-E4DB-438D-8D46-FC0B731B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41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80FB6-10B6-4A37-A236-6280188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83985-9F6E-4780-81DE-17473A5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885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902C8-1800-4469-BD73-FC27CD74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3A0CF-5C7E-4C53-BC4E-ED504AEB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UPI Digital Payment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Fraud Detection &amp;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Transaction Risk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7D112-8A9E-4ADD-8736-AAFA4941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FD9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FD9E5"/>
                </a:solidFill>
                <a:latin typeface="Aptos"/>
                <a:ea typeface="Aptos"/>
                <a:cs typeface="Aptos"/>
              </a:rPr>
              <a:t>Power BI Data Analytics &amp; Business Intelligence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FDCC0-596E-4183-B500-0DCF2BBD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19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21E5D-AB6F-4C7A-A3BC-E856DCF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F0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0F4"/>
                </a:solidFill>
                <a:latin typeface="Aptos"/>
                <a:ea typeface="Aptos"/>
                <a:cs typeface="Aptos"/>
              </a:rPr>
              <a:t>Analyzing transaction patterns, payment performance and fraud risk across 250K UPI transactions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C5947-3F87-46F4-ABE9-BDAB227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0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B8C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B8C9"/>
                </a:solidFill>
                <a:latin typeface="Aptos"/>
                <a:ea typeface="Aptos"/>
                <a:cs typeface="Aptos"/>
              </a:rPr>
              <a:t>2024  •  JAN—DEC</a:t>
            </a:r>
          </a:p>
        </p:txBody>
      </p:sp>
    </p:spTree>
    <p:extLst>
      <p:ext uri="{BB962C8B-B14F-4D97-AF65-F5344CB8AC3E}">
        <p14:creationId xmlns:p14="http://schemas.microsoft.com/office/powerpoint/2010/main" val="1394852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7EC23-0CB8-4541-B45C-D68ABCD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1B7F4-A70C-44FE-AB73-B7417FEB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120D6-D89B-4A44-89EE-C96DBD8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An interactive view of payment performance and observed fraud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CA99E-A95A-4649-8FE8-7B5EE19B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CA31E-D637-44A3-82EE-6C85BA6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UPI data offers a detailed view of how payment behavior changes across time, payment types and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B2879-259C-4EBD-83AE-25FE079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12103-F04B-424D-9534-DAC6A0C8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11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Analyze transaction behavior, payment performance and fraudulent activity.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6EA2B-4E03-427C-AE0D-C6767C4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69D30-B4BD-491E-8A5F-67F7666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011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Transform transaction records into an interactive Power BI dashboard.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0CD49-2463-4D53-8335-670580A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C5F4F-B098-4F5F-BC3D-7C23E80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11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Focus on volume, value, success and failure performance, plus fraud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76C14-5363-46E8-ADFB-00EC0B6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190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BC515-3331-43DD-9784-94E521B3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12D77-0E5A-41C6-BAA2-9931C752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DE5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DE5EA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7013A-0690-4ECA-8803-3A19063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766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Analytics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259D0-E385-4C3F-99F7-1CB3D841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43400"/>
            <a:ext cx="150114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CEB94-43F4-4715-AED6-AB95A027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81500"/>
            <a:ext cx="13487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Raw transaction</a:t>
            </a:r>
          </a:p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953FD-E200-4437-B649-3628ADE9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815" y="447675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4EF2A-18CD-42B7-A72C-0D9C5DA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40" y="4343400"/>
            <a:ext cx="150114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76D40-8261-4BCB-8543-B994C85D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40" y="4381500"/>
            <a:ext cx="13487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Clean &amp;</a:t>
            </a:r>
          </a:p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0EFCD-D13E-440F-B39C-E99C354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605" y="447675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EB23B-A8ED-4FC8-BAC2-0426C18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730" y="4343400"/>
            <a:ext cx="150114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F1305-D8AE-4C88-86C6-07E34FC6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930" y="4381500"/>
            <a:ext cx="13487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Model &amp;</a:t>
            </a:r>
          </a:p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22BBB-40CB-4CF6-9F9E-624059B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395" y="447675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01732-86F1-4CCB-B80E-8758A8AF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4343400"/>
            <a:ext cx="150114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B9C90-0B9C-46D4-A3CB-8E84D75D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4381500"/>
            <a:ext cx="13487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Power BI</a:t>
            </a:r>
          </a:p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2C1D3-6EAA-46E7-B361-46D96EC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185" y="447675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4C824-37A1-4EB5-BC7C-F038D25D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310" y="4343400"/>
            <a:ext cx="150114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003C7-4EF2-4CEE-8C8C-C6C27843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510" y="4381500"/>
            <a:ext cx="13487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865964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82293-F788-4641-98EA-CE20EC36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BBDEB-FBB9-4FA0-814D-3205A44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Dataset &amp; Key Attributes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91FB8-693D-4BE4-90F2-9DC593C3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250,000 transaction records spanning January–December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13E56-9035-4930-BBD6-BAB81DA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71474-0939-4F47-AB40-3C975DD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3390900" cy="400050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7656F-FB28-48AC-BE97-9D0C6F9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3390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314B9-99AB-4644-8B2D-B7E410CC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CA805-D7A5-4B95-B4B6-6CF0335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B078E-4830-42C3-8D4A-5A5A423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F3C10-ECE9-47A3-9F92-419E147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98226-CD12-4A80-94C3-4C0075BB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4FC39-3E6F-4CC3-B771-A687AF1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D6D52-F222-4EA8-AA1C-9A054732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C00D4-1D85-4BD8-B8DE-A4E27790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C2297-D470-41A9-A7D6-60735022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928D9-B71E-4CA3-A1D7-E67A3963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24342-6906-47FD-B49B-8C29769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76625" cy="4000500"/>
          </a:xfrm>
          <a:prstGeom xmlns:a="http://schemas.openxmlformats.org/drawingml/2006/main" prst="roundRect">
            <a:avLst>
              <a:gd name="adj" fmla="val 3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0A487-B115-49CE-AF26-0B7E0B8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81150"/>
            <a:ext cx="34766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9FB1-4CA8-42BB-9ADC-4A2CFF3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FRAUD &amp; CUSTOMER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B9B23-9C4C-478D-A974-95E6D1C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flag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AE404-B7FA-45F4-A999-9CFD689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24BD0-9C56-4C54-BB48-3FED902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Sender age 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AF129-9013-4416-BD7F-E8444C1B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C5132-F9A5-46DC-A421-6D9C19B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Receiver age group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07443-03EE-46E8-BA55-1C637AB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3380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38857-C3B0-422F-82A8-1D7F2C3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57625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Sender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0E1E6-95D4-462D-A0F3-35F3848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581150"/>
            <a:ext cx="3705225" cy="4000500"/>
          </a:xfrm>
          <a:prstGeom xmlns:a="http://schemas.openxmlformats.org/drawingml/2006/main" prst="roundRect">
            <a:avLst>
              <a:gd name="adj" fmla="val 35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17AD6-9744-4FBC-BB81-C621A7AE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581150"/>
            <a:ext cx="3705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21DC8-12DE-4E7C-AC3C-BC43337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95450"/>
            <a:ext cx="3324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BANK &amp; TECHNOLOGY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8CCCE-0170-4E0D-B369-1405778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860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Sender bank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D1A9A-0C2F-4713-825A-81AAA4B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86050"/>
            <a:ext cx="3248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AEBEB-8873-4163-95E9-83ECB0CE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9875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Receiver bank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A5EA1D-15D1-4B30-896D-CC3E135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09925"/>
            <a:ext cx="3248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120488-6582-4ABD-BBE0-D09E845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33375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Device 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6A3750-1DBB-44AA-9C9B-A3F81F9F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33800"/>
            <a:ext cx="3248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42F468-E829-42C8-B157-9404C403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57625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Network type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0D2F94-BC01-4D6D-B8E3-4EC7B667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57675"/>
            <a:ext cx="3248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997E4-6FB5-4161-9EC2-B8139A0C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81500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Day of week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00010E-3398-4227-9D97-0F341B66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781550"/>
            <a:ext cx="3248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A166F-7822-45FA-94E1-938B99D4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905375"/>
            <a:ext cx="3248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Weekend indicator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55A15D-F4F7-4B45-9A1E-D6ACB9B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2428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19E896-7C8B-46D8-83DE-A9D3D9CC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JANUARY—DECEMBER 2024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04C236-19CA-4747-8888-CF3FD749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915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Fields grouped by analytical role</a:t>
            </a:r>
          </a:p>
        </p:txBody>
      </p:sp>
    </p:spTree>
    <p:extLst>
      <p:ext uri="{BB962C8B-B14F-4D97-AF65-F5344CB8AC3E}">
        <p14:creationId xmlns:p14="http://schemas.microsoft.com/office/powerpoint/2010/main" val="987951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646729-8D56-4A16-869E-FDFB96F5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DC0F9-9BA1-4F4A-AA3C-6FFEE3CB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Data Preparation &amp; 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71BB-FAE6-4B31-A284-B83912C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Validation, transformation and measures supporting the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8F482-E9E8-41F3-859B-747FD0D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F7779-9106-49FB-A759-0C16FE0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469DE-CB5C-48CB-B273-F26429F7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CE241-B526-4CE6-856C-513BD95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150" y="17145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AA990-529D-4825-B8C8-F4EA2BA7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75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26A7F-D8D1-4C5A-BEAD-3D97310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Power 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6A1DF-7B50-4267-B02D-3D1B254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17145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638FA-104B-499D-B81C-3AD51C4E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D7FFC-1444-4D52-A8E0-8FE5261E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Clean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861D6-292A-405E-B33B-7079856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94F0E-1D3B-4298-81C9-16539FF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0932B-6FA3-4327-8336-4C5384AB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3D8CE-1F67-45A3-99A2-087B84B3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475" y="17145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F3EF9-D4D5-4F1C-BD8E-BCC1A4A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DFF75-F406-4482-A7CF-840C1E95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DAX measures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4CDAB-0D07-483A-B059-09D462E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250" y="1714500"/>
            <a:ext cx="23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960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0F634-8C56-4D7D-BD52-EC9AA5CB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1581150"/>
            <a:ext cx="16351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30C5D-BFE2-47CE-B458-4B19F16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619250"/>
            <a:ext cx="1482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EDD67-1D01-420D-A5D1-07A35A5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Data quality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7F453-E43F-415D-A907-023C2D5C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13F2C-1D5C-4B26-A0BD-2DD8469F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250,000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580AD-1BB3-4359-B29A-7175A22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2F721-C39B-47BE-897A-2F49E5C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3B239-D84A-4415-A02A-538ADD6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Unique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666DA-4676-43EF-A9B6-70A2D837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433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Transaction ID verified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0413D-8FD3-4203-B26B-BA8C90EE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EA3C9-9B1E-4060-AB2A-431C8A77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2DE59-FB57-499C-80E5-0E5D7807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valid values in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36425-7E40-4390-8813-F19EDD1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2BCBD-9476-42EB-BF13-98B35A14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52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8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8A62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FC1062-852D-424F-87D5-1322EA78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433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errors or empty values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D2DF63-A8A8-4E6E-B1F6-90E16C6F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Preparation 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3467F7-342E-4D0E-9527-3B9F214C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0F64C-AA9A-482F-AA42-BD5D251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Type and timestamp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3E4145-E143-4DA1-A1E3-AD113EE4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591CFC-5DAF-40EE-BF4E-D0ECC601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720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Missing, empty and error checks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D6A932-7AF0-4C9F-9CEF-AA479974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EADB62-5AB7-4FC3-98B3-7AA9D9C0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720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Duplicate ID and category checks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FC2715-5D5D-4391-B810-AF7997E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34CB9B-30E2-4A42-A781-04158683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Calendar table + relationship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7FE566-5CC9-442A-AEAC-B522AA2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72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5BC644-666E-44D5-AAB0-0404977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05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DAX KPIs and fraud measures</a:t>
            </a:r>
          </a:p>
        </p:txBody>
      </p:sp>
    </p:spTree>
    <p:extLst>
      <p:ext uri="{BB962C8B-B14F-4D97-AF65-F5344CB8AC3E}">
        <p14:creationId xmlns:p14="http://schemas.microsoft.com/office/powerpoint/2010/main" val="1078913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AD9D6-0CBE-43C4-B46F-CA29FEC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3E278-5F67-4ADC-BE47-5D852E3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Overall Transaction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9FF8-C428-4F6E-A773-769E51D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Payment volume, value and completion across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6F056-E350-4E96-A055-E5DBD726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B7ABF-3014-4CA2-B0DD-1E31FADD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9F0B5-30C6-4F75-AE09-D5914389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B6CC2-BA2E-4306-B806-831229D4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250,000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71E47-87EF-4235-A43B-3F7EB55B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Total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9F8B2-8278-41C2-8718-734E355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8115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D5F14-8015-4A8E-A2C9-A52BCFA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8115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551F-B036-454B-A8B4-4ACEEE4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₹81.98T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5DE2A-C9B5-4422-8D06-2C5CDC89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Total transaction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CCBFC-421B-4625-B187-D05364C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8115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69F72-5993-418C-B9E8-85EB95D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8115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81597-9BD5-4301-B6F2-F225CFC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1450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₹1,311.76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256B1-E3EC-4A66-9563-F2FE1793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2407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Average transaction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EE2FF-90FD-4527-86DF-534665B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FD018-6ADF-4BDB-9F62-EC10BCFD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3B06C-8F81-4FF1-AAF7-5ECB49B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8A6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62"/>
                </a:solidFill>
                <a:latin typeface="Aptos"/>
                <a:ea typeface="Aptos"/>
                <a:cs typeface="Aptos"/>
              </a:rPr>
              <a:t>238K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408DA-60C0-4B87-ADDB-27FE9A3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Successful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0C90D-708A-4377-A38E-E94A1F4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81124-223A-4A57-B859-9A20C09A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43619-E3DF-4649-92B7-A41A97FC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12K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9C69A-E6DB-4D97-90D5-1698989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Failed transactions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A9B44-3B4C-4783-984A-197FF4CA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338137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CE034-D0D7-48B1-9572-B2E6F72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5715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1BCA9-E37D-41F3-AA45-7E46ABEE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09950"/>
            <a:ext cx="303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8A6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62"/>
                </a:solidFill>
                <a:latin typeface="Aptos"/>
                <a:ea typeface="Aptos"/>
                <a:cs typeface="Aptos"/>
              </a:rPr>
              <a:t>95.0%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45B60-430B-4D24-9E5B-E20F1E50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1952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Success 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062B1-D454-4949-9CF6-94723D7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61A7A-E3D1-4DB0-AC07-6917CF9B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95% of transactions completed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306262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26AF5-7241-41B5-A498-8D2544B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91F7A-8E30-4F42-B91A-C4CB43A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Power BI Dashboard — UPI Transaction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6E918-87CD-4000-AFAB-F1F13AC6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Actual dashboard page supplied as the visual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D3DEB-DCD4-418A-ABAF-B77E285A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1d9874cae4799"/>
          <a:stretch xmlns:a="http://schemas.openxmlformats.org/drawingml/2006/main"/>
        </p:blipFill>
        <p:spPr>
          <a:xfrm xmlns:a="http://schemas.openxmlformats.org/drawingml/2006/main">
            <a:off x="1435785" y="1371600"/>
            <a:ext cx="9320431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2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99714-B7CC-4A4E-BF61-9E16AB9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40C6D-613C-48B9-96D4-8775C03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Power BI Dashboard — Fraud &amp; Risk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2C4EC-33AD-46D4-89F2-023C15FF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Observed fraud volume, value and distribution across transaction dimensions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DC7E8-5916-4564-94AD-1084EEF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995af855349eb"/>
          <a:stretch xmlns:a="http://schemas.openxmlformats.org/drawingml/2006/main"/>
        </p:blipFill>
        <p:spPr>
          <a:xfrm xmlns:a="http://schemas.openxmlformats.org/drawingml/2006/main">
            <a:off x="1448721" y="1371600"/>
            <a:ext cx="9294559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73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F8EDE1-3F14-4110-9831-8750E8A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A788D-4D8F-4D6D-ABE4-48759DE2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Key Business Insights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A8FAB-96CA-4947-9EA6-9B16F46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Observed patterns describe where fraud counts are highest; they do not establish 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1B0EC-27D0-401D-A5D0-C91B40A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F0260-3A32-46BF-9AF3-E0EBBC95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BEB33-AB06-451B-9FC1-E78350E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D8C4C-8071-4DDE-BBD5-80F0E41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480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41C7-B186-40F1-87A3-1520B262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74448-F85A-4B5C-8F20-F7384A9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81125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677AC-C781-4945-BF14-BE59E41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81125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EB2B0-4A5A-4195-92D1-BAB7367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144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0.192%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D3C98-E7E1-4146-B981-4557DEE7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A77D4-3D58-47AF-8F5F-EF3F4A55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81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4381D-2905-41B9-8430-00D41E53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81125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AC4F9-8B24-4AB2-87FE-66CE8DC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1447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₹7.20 lakh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9F9E9-6476-42D9-A976-6EC82CDB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transaction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CCAEE-03C0-4AFC-BBB5-E06F5DC5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81125"/>
            <a:ext cx="2990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01242-0F7A-4077-AECC-E765331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81125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B8AB1-659C-42FE-9CD1-72ED89D7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144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₹1,499.23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65964-1255-43CC-897C-EC6DE9D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3A"/>
                </a:solidFill>
                <a:latin typeface="Aptos"/>
                <a:ea typeface="Aptos"/>
                <a:cs typeface="Aptos"/>
              </a:rPr>
              <a:t>Avg. fraud transaction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CDBE8-5D56-4996-B74F-24B5834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Transaction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EBB5A-3DC0-4DCF-B737-E45A9BC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431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Device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91D4B-BEEC-42E5-AE8C-50F0140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Network type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3333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b260b9514842b9"/>
          </a:graphicData>
        </a:graphic>
      </p:graphicFrame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4333875" y="2876550"/>
          <a:ext xmlns:a="http://schemas.openxmlformats.org/drawingml/2006/main" cx="3333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d292c479aa4311"/>
          </a:graphicData>
        </a:graphic>
      </p:graphicFrame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8096250" y="2876550"/>
          <a:ext xmlns:a="http://schemas.openxmlformats.org/drawingml/2006/main" cx="3333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66aacd6f1481c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EC891-BCCE-495B-9F63-9260FF6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2E9DA-32EB-4F1D-8CE8-CE397FBB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B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B4B"/>
                </a:solidFill>
                <a:latin typeface="Aptos"/>
                <a:ea typeface="Aptos"/>
                <a:cs typeface="Aptos"/>
              </a:rPr>
              <a:t>Fraud amount rate: 0.219%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54A97-78B8-48B0-BC05-C17B81BB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Highest observed merchant counts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6D4B7-C95B-4D2A-AF6C-3E6141E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245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Grocery 94  ·  Food 73  ·  Shopping 62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39A5B-833B-4A71-8138-45503EA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Highest observed state counts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C588FD-93D6-421A-8956-28A2428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769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Maharashtra 71  ·  Karnataka 69  ·  Uttar Pradesh 52</a:t>
            </a:r>
          </a:p>
        </p:txBody>
      </p:sp>
    </p:spTree>
    <p:extLst>
      <p:ext uri="{BB962C8B-B14F-4D97-AF65-F5344CB8AC3E}">
        <p14:creationId xmlns:p14="http://schemas.microsoft.com/office/powerpoint/2010/main" val="1052823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C7D6A-45CC-45D0-86C8-05591DA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6801D-C570-484E-A562-3C6DA51C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Recommendations &amp;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8EACC-14E1-4E4F-B67D-E1BBAF8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75"/>
                </a:solidFill>
                <a:latin typeface="Aptos"/>
                <a:ea typeface="Aptos"/>
                <a:cs typeface="Aptos"/>
              </a:rPr>
              <a:t>Use observed concentrations to guide monitoring priorities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0BC3D-3062-450F-85CA-AC12B6F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BE34-43F8-443A-BE57-07DF3425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2E4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E49"/>
                </a:solidFill>
                <a:latin typeface="Aptos"/>
                <a:ea typeface="Aptos"/>
                <a:cs typeface="Aptos"/>
              </a:rPr>
              <a:t>Monitoring priorities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D0E5F-2F5C-4EE0-B7A3-17D26F75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058B5-5242-4731-AF0C-68019B4A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Review P2P and P2M activity with additional risk checks for suspicious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0D7F0-D0D1-432B-B138-E7415D69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08F5E-5B4F-4780-ABBD-6AD2ADF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Monitor Grocery, Food and Shopping alongside other high-volume categories.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61A74-1C2D-4875-9EDE-D9A74DC6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DC86A-6862-4633-8A1E-0B8D34E1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0040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Strengthen device and network monitoring, especially Android and 4G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C6711-C5CC-4BC6-8F15-E28FDF97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DACCD-4E93-4F9F-95A2-329BD2D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Track states with higher observed counts and review risk patterns periodically.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9AE1A-F890-48FD-B71C-992A57B8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C6D74-274E-428C-B29B-7E3070C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00550"/>
            <a:ext cx="544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Use ongoing dashboard reviews to support fraud investigation and monitoring.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57586-4C9F-42FD-B454-76B2C767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85775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5B3DF-E763-42D1-9429-1678F27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CC55D-A260-4B24-BD2A-FD4F740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0300"/>
            <a:ext cx="405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dashboard brings UPI transaction performance and fraud risk into one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36DA8-B407-4156-B19C-9D4B001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1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237EC-4CD2-41F0-8A14-36EB9F76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76625"/>
            <a:ext cx="4057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8E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8EF"/>
                </a:solidFill>
                <a:latin typeface="Aptos"/>
                <a:ea typeface="Aptos"/>
                <a:cs typeface="Aptos"/>
              </a:rPr>
              <a:t>Power Query, a Calendar model and DAX measures turn transaction records into business intelligence for monitoring and investigation.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40A36-E27A-4107-8604-690E910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From transaction data to actionable risk insights.</a:t>
            </a:r>
          </a:p>
        </p:txBody>
      </p:sp>
    </p:spTree>
    <p:extLst>
      <p:ext uri="{BB962C8B-B14F-4D97-AF65-F5344CB8AC3E}">
        <p14:creationId xmlns:p14="http://schemas.microsoft.com/office/powerpoint/2010/main" val="1339814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2026-10-07T08:06:45.2560000Z</dcterms:created>
  <dcterms:modified xsi:type="dcterms:W3CDTF">2026-10-07T08:06:45.2560000Z</dcterms:modified>
</coreProperties>
</file>